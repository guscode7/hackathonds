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zDagwHw5725SV3qgHJB7wA6YA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178349A-1E27-4C60-9EF7-89A4807CF259}">
  <a:tblStyle styleId="{0178349A-1E27-4C60-9EF7-89A4807CF259}"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 name="Shape 8"/>
        <p:cNvGrpSpPr/>
        <p:nvPr/>
      </p:nvGrpSpPr>
      <p:grpSpPr>
        <a:xfrm>
          <a:off x="0" y="0"/>
          <a:ext cx="0" cy="0"/>
          <a:chOff x="0" y="0"/>
          <a:chExt cx="0" cy="0"/>
        </a:xfrm>
      </p:grpSpPr>
      <p:sp>
        <p:nvSpPr>
          <p:cNvPr id="9" name="Google Shape;9;p1: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 name="Google Shape;10;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lang="en-US" sz="1200"/>
              <a:t>El problema que se busca abordar es la dificultad de estimar las ventas futuras de un negocio antes de invertir en él. Muchas decisiones de apertura de locales o franquicias se toman con información limitada, lo que incrementa el riesgo financiero. El proyecto propone desarrollar un modelo de Machine Learning que permita predecir ventas en función de variables comerciales y contextuales.</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El dataset tiene 20 variables originales porpias del Dataset pero al procesarlas para el modelo se convierten en 30 features debido al encoding de las variables categóricas (Dummies)</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p>
        </p:txBody>
      </p:sp>
      <p:sp>
        <p:nvSpPr>
          <p:cNvPr id="11" name="Google Shape;11;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0:notes"/>
          <p:cNvSpPr/>
          <p:nvPr>
            <p:ph idx="2" type="sldImg"/>
          </p:nvPr>
        </p:nvSpPr>
        <p:spPr>
          <a:xfrm>
            <a:off x="-47625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 name="Google Shape;25;p20: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000">
                <a:solidFill>
                  <a:schemeClr val="dk1"/>
                </a:solidFill>
              </a:rPr>
              <a:t>Las PYMES del sector comercio representan uno de los pilares fundamentales de la economía argentina. Según datos de la Confederación Argentina de la Mediana Empresa (CAME), más del 90% de los establecimientos comerciales del país son PyMEs, y este segmento genera aproximadamente el 70% del empleo privado registrado (CAME, 2023). Sin embargo, la mortalidad empresarial en el sector es alarmante: estimaciones del mercado indican que un porcentaje significativo de los comercios minoristas no logra superar los primeros tres años de actividad.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rPr>
              <a:t>Una de las principales causas de este fracaso radica en la toma de decisiones bajo incertidumbre: los emprendedores y comerciantes suelen abrir locales sin contar con herramientas analíticas que les permitan estimar el potencial de ventas de una ubicación antes de realizar la inversión. La elección del local, el rubro comercial, el nivel socioeconómico de la zona y la inversión en marketing son decisiones que, en la práctica, se toman frecuentemente de forma intuitiva, sin respaldo cuantitativo. El informe anual de CAME sobre la situación del comercio minorista destaca que los comerciantes identifican como principales problemas la caída en las ventas, los altos costos operativos y la dificultad para proyectar ingresos futuros (CAME, 2023). Esta brecha entre la necesidad de planificación y las herramientas disponibles constituye el punto de partida del presente proyecto.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rPr>
              <a:t>En este contexto, el machine learning emerge como una disciplina con capacidad para transformar datos históricos y características observables de los locales comerciales en predicciones cuantitativas de ventas. La disponibilidad de datasets con variables operativas, de ubicación y de contexto socioeconómico permite construir modelos que "aprendan" los patrones que subyacen al éxito comercial y los apliquen a nuevos casos.</a:t>
            </a:r>
            <a:endParaRPr/>
          </a:p>
        </p:txBody>
      </p:sp>
      <p:sp>
        <p:nvSpPr>
          <p:cNvPr id="26" name="Google Shape;26;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4: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 name="Google Shape;61;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La estimación precisa de ventas es clave para:</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Evaluar la rentabilidad potencial de un negocio.</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Reducir riesgo de inversión.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Determinar ubicaciones óptimas para franquicias.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Presentar proyecciones fundamentadas ante entidades financieras.</a:t>
            </a:r>
            <a:endParaRPr sz="1100">
              <a:solidFill>
                <a:schemeClr val="dk1"/>
              </a:solidFill>
            </a:endParaRPr>
          </a:p>
          <a:p>
            <a:pPr indent="0" lvl="0" marL="0" rtl="0" algn="l">
              <a:lnSpc>
                <a:spcPct val="115000"/>
              </a:lnSpc>
              <a:spcBef>
                <a:spcPts val="1200"/>
              </a:spcBef>
              <a:spcAft>
                <a:spcPts val="1200"/>
              </a:spcAft>
              <a:buSzPts val="1100"/>
              <a:buNone/>
            </a:pPr>
            <a:r>
              <a:rPr lang="en-US" sz="1100">
                <a:solidFill>
                  <a:schemeClr val="dk1"/>
                </a:solidFill>
              </a:rPr>
              <a:t>Un modelo predictivo aporta soporte cuantitativo a decisiones estratégicas.</a:t>
            </a:r>
            <a:endParaRPr sz="1200">
              <a:solidFill>
                <a:schemeClr val="dk1"/>
              </a:solidFill>
            </a:endParaRPr>
          </a:p>
        </p:txBody>
      </p:sp>
      <p:sp>
        <p:nvSpPr>
          <p:cNvPr id="62" name="Google Shape;62;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3: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 name="Google Shape;8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000">
                <a:solidFill>
                  <a:schemeClr val="dk1"/>
                </a:solidFill>
              </a:rPr>
              <a:t>La predicción de ventas en el comercio minorista es un campo ampliamente estudiado en la literatura de business analytics. Kotler y Keller (2016) señalan que la estimación de la demanda potencial es una etapa crítica en la planificación comercial, ya que condiciona todas las decisiones operativas y financieras posteriores. Los modelos predictivos permiten superar las limitaciones de los métodos puramente cualitativos, incorporando relaciones multivariadas que el análisis intuitivo no puede capturar.</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rPr>
              <a:t>La teoría de la localización comercial (Reilly, 1931; Huff, 1964) establece que la proximidad a puntos de atracción (tiendas ancla), la densidad poblacional y el poder adquisitivo del área de influencia son determinantes fundamentales del volumen de ventas. Estos fundamentos teóricos respaldan la inclusión de variables como la distancia al ancla, el nivel socioeconómico y el tipo de ubicación en el modelo.</a:t>
            </a:r>
            <a:endParaRPr sz="1000">
              <a:solidFill>
                <a:schemeClr val="dk1"/>
              </a:solidFill>
            </a:endParaRPr>
          </a:p>
          <a:p>
            <a:pPr indent="0" lvl="0" marL="0" marR="0" rtl="0" algn="l">
              <a:lnSpc>
                <a:spcPct val="100000"/>
              </a:lnSpc>
              <a:spcBef>
                <a:spcPts val="0"/>
              </a:spcBef>
              <a:spcAft>
                <a:spcPts val="0"/>
              </a:spcAft>
              <a:buSzPts val="1100"/>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rPr>
              <a:t>El dataset utilizado en este proyecto es sintético, generado específicamente para el contexto de locales comerciales en shopping centers y zonas comerciales de Argentina. El archivo original contiene 5.000 registros y 21 variables, denominado dataset_locales_5000_AMPLIADO.csv. Cada observación representa un local comercial individual con sus características operativas, de ubicación y de contexto sociodemográfico.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000">
                <a:solidFill>
                  <a:schemeClr val="dk1"/>
                </a:solidFill>
              </a:rPr>
              <a:t>Exclusión del rubro Supermercado: </a:t>
            </a:r>
            <a:r>
              <a:rPr lang="en-US" sz="1000">
                <a:solidFill>
                  <a:schemeClr val="dk1"/>
                </a:solidFill>
              </a:rPr>
              <a:t>El rubro Supermercado fue eliminado del conjunto de datos (250 registros) para trabajar con un dataset de 4.750 observaciones. La justificación es sustantiva: los supermercados operan con una lógica de negocio fundamentalmente diferente al comercio especializado. Sus volúmenes de venta son típicamente órdenes de magnitud superiores a los demás rubros —alcanzando cifras que los posicionan como outliers estructurales de la distribución—, sus estructuras de costos son distintas (mayor capital fijo, márgenes más bajos por volumen) y sus mecanismos de atracción de clientes difieren del modelo de local especializado. Incluirlos hubiera introducido un sesgo significativo en el entrenamiento de los modelos, deteriorando la capacidad predictiva para el segmento de interés. Esta decisión metodológica está alineada con las prácticas recomendadas en la literatura de preprocessing para modelos de regresión (Han et al., 2012).</a:t>
            </a:r>
            <a:endParaRPr sz="1000">
              <a:solidFill>
                <a:schemeClr val="dk1"/>
              </a:solidFill>
            </a:endParaRPr>
          </a:p>
          <a:p>
            <a:pPr indent="0" lvl="0" marL="0" marR="0" rtl="0" algn="l">
              <a:lnSpc>
                <a:spcPct val="100000"/>
              </a:lnSpc>
              <a:spcBef>
                <a:spcPts val="0"/>
              </a:spcBef>
              <a:spcAft>
                <a:spcPts val="0"/>
              </a:spcAft>
              <a:buSzPts val="1100"/>
              <a:buNone/>
            </a:pPr>
            <a:r>
              <a:t/>
            </a:r>
            <a:endParaRPr sz="1200">
              <a:solidFill>
                <a:schemeClr val="dk1"/>
              </a:solidFill>
            </a:endParaRPr>
          </a:p>
          <a:p>
            <a:pPr indent="0" lvl="0" marL="0" marR="0" rtl="0" algn="l">
              <a:lnSpc>
                <a:spcPct val="100000"/>
              </a:lnSpc>
              <a:spcBef>
                <a:spcPts val="0"/>
              </a:spcBef>
              <a:spcAft>
                <a:spcPts val="0"/>
              </a:spcAft>
              <a:buSzPts val="1100"/>
              <a:buNone/>
            </a:pPr>
            <a:r>
              <a:rPr lang="en-US" sz="1200">
                <a:solidFill>
                  <a:schemeClr val="dk1"/>
                </a:solidFill>
              </a:rPr>
              <a:t>Variables Excluidas por Data Leakage</a:t>
            </a:r>
            <a:endParaRPr sz="1200">
              <a:solidFill>
                <a:schemeClr val="dk1"/>
              </a:solidFill>
            </a:endParaRPr>
          </a:p>
          <a:p>
            <a:pPr indent="0" lvl="0" marL="0" marR="0" rtl="0" algn="l">
              <a:lnSpc>
                <a:spcPct val="100000"/>
              </a:lnSpc>
              <a:spcBef>
                <a:spcPts val="0"/>
              </a:spcBef>
              <a:spcAft>
                <a:spcPts val="0"/>
              </a:spcAft>
              <a:buSzPts val="1100"/>
              <a:buNone/>
            </a:pPr>
            <a:r>
              <a:rPr lang="en-US" sz="1200">
                <a:solidFill>
                  <a:schemeClr val="dk1"/>
                </a:solidFill>
              </a:rPr>
              <a:t>Tres variables fueron excluidas del conjunto de features por constituir data leakage: información que solo se conoce después de que el local entra en operación, y que por lo tanto no estaría disponible al momento de hacer la predicción:</a:t>
            </a:r>
            <a:endParaRPr sz="1200">
              <a:solidFill>
                <a:schemeClr val="dk1"/>
              </a:solidFill>
            </a:endParaRPr>
          </a:p>
          <a:p>
            <a:pPr indent="0" lvl="0" marL="0" marR="0" rtl="0" algn="l">
              <a:lnSpc>
                <a:spcPct val="100000"/>
              </a:lnSpc>
              <a:spcBef>
                <a:spcPts val="0"/>
              </a:spcBef>
              <a:spcAft>
                <a:spcPts val="0"/>
              </a:spcAft>
              <a:buSzPts val="1100"/>
              <a:buNone/>
            </a:pPr>
            <a:r>
              <a:rPr lang="en-US" sz="1200">
                <a:solidFill>
                  <a:schemeClr val="dk1"/>
                </a:solidFill>
              </a:rPr>
              <a:t>Ticket_Promedio: el ticket promedio surge de las transacciones reales y puede conocerse antes de operar.</a:t>
            </a:r>
            <a:endParaRPr sz="1200">
              <a:solidFill>
                <a:schemeClr val="dk1"/>
              </a:solidFill>
            </a:endParaRPr>
          </a:p>
          <a:p>
            <a:pPr indent="0" lvl="0" marL="0" marR="0" rtl="0" algn="l">
              <a:lnSpc>
                <a:spcPct val="100000"/>
              </a:lnSpc>
              <a:spcBef>
                <a:spcPts val="0"/>
              </a:spcBef>
              <a:spcAft>
                <a:spcPts val="0"/>
              </a:spcAft>
              <a:buSzPts val="1100"/>
              <a:buNone/>
            </a:pPr>
            <a:r>
              <a:rPr lang="en-US" sz="1200">
                <a:solidFill>
                  <a:schemeClr val="dk1"/>
                </a:solidFill>
              </a:rPr>
              <a:t>Venta_Online_Pct: el % de ventas online es un resultado operativo, no una característica previa.</a:t>
            </a:r>
            <a:endParaRPr sz="1200">
              <a:solidFill>
                <a:schemeClr val="dk1"/>
              </a:solidFill>
            </a:endParaRPr>
          </a:p>
          <a:p>
            <a:pPr indent="0" lvl="0" marL="0" marR="0" rtl="0" algn="l">
              <a:lnSpc>
                <a:spcPct val="100000"/>
              </a:lnSpc>
              <a:spcBef>
                <a:spcPts val="0"/>
              </a:spcBef>
              <a:spcAft>
                <a:spcPts val="0"/>
              </a:spcAft>
              <a:buSzPts val="1100"/>
              <a:buNone/>
            </a:pPr>
            <a:r>
              <a:rPr lang="en-US" sz="1200">
                <a:solidFill>
                  <a:schemeClr val="dk1"/>
                </a:solidFill>
              </a:rPr>
              <a:t>EBITDA: el margen operativo es una consecuencia de las ventas y costos, no una variable. </a:t>
            </a:r>
            <a:endParaRPr sz="1200">
              <a:solidFill>
                <a:schemeClr val="dk1"/>
              </a:solidFill>
            </a:endParaRPr>
          </a:p>
          <a:p>
            <a:pPr indent="0" lvl="0" marL="0" marR="0" rtl="0" algn="l">
              <a:lnSpc>
                <a:spcPct val="100000"/>
              </a:lnSpc>
              <a:spcBef>
                <a:spcPts val="0"/>
              </a:spcBef>
              <a:spcAft>
                <a:spcPts val="0"/>
              </a:spcAft>
              <a:buSzPts val="1100"/>
              <a:buNone/>
            </a:pPr>
            <a:r>
              <a:t/>
            </a:r>
            <a:endParaRPr sz="1200">
              <a:solidFill>
                <a:schemeClr val="dk1"/>
              </a:solidFill>
            </a:endParaRPr>
          </a:p>
          <a:p>
            <a:pPr indent="0" lvl="0" marL="0" marR="0" rtl="0" algn="l">
              <a:lnSpc>
                <a:spcPct val="100000"/>
              </a:lnSpc>
              <a:spcBef>
                <a:spcPts val="0"/>
              </a:spcBef>
              <a:spcAft>
                <a:spcPts val="0"/>
              </a:spcAft>
              <a:buSzPts val="1100"/>
              <a:buNone/>
            </a:pPr>
            <a:r>
              <a:rPr lang="en-US" sz="1200">
                <a:solidFill>
                  <a:schemeClr val="dk1"/>
                </a:solidFill>
              </a:rPr>
              <a:t>Esta decisión metodológica es crítica para garantizar que el modelo tenga aplicación práctica real: todas las variables de entrada deben ser observables antes de tomar la decisión de abrir o invertir en un local (Kuhn &amp; Johnson, 2013).</a:t>
            </a:r>
            <a:endParaRPr sz="1200">
              <a:solidFill>
                <a:schemeClr val="dk1"/>
              </a:solidFill>
            </a:endParaRPr>
          </a:p>
          <a:p>
            <a:pPr indent="0" lvl="0" marL="0" marR="0" rtl="0" algn="l">
              <a:lnSpc>
                <a:spcPct val="100000"/>
              </a:lnSpc>
              <a:spcBef>
                <a:spcPts val="0"/>
              </a:spcBef>
              <a:spcAft>
                <a:spcPts val="0"/>
              </a:spcAft>
              <a:buSzPts val="1100"/>
              <a:buNone/>
            </a:pPr>
            <a:r>
              <a:t/>
            </a:r>
            <a:endParaRPr sz="1200">
              <a:solidFill>
                <a:schemeClr val="dk1"/>
              </a:solidFill>
            </a:endParaRPr>
          </a:p>
          <a:p>
            <a:pPr indent="0" lvl="0" marL="0" marR="0" rtl="0" algn="l">
              <a:lnSpc>
                <a:spcPct val="100000"/>
              </a:lnSpc>
              <a:spcBef>
                <a:spcPts val="0"/>
              </a:spcBef>
              <a:spcAft>
                <a:spcPts val="0"/>
              </a:spcAft>
              <a:buSzPts val="1100"/>
              <a:buNone/>
            </a:pPr>
            <a:r>
              <a:t/>
            </a:r>
            <a:endParaRPr sz="1200">
              <a:solidFill>
                <a:schemeClr val="dk1"/>
              </a:solidFill>
            </a:endParaRPr>
          </a:p>
          <a:p>
            <a:pPr indent="0" lvl="0" marL="0" marR="0" rtl="0" algn="l">
              <a:lnSpc>
                <a:spcPct val="100000"/>
              </a:lnSpc>
              <a:spcBef>
                <a:spcPts val="0"/>
              </a:spcBef>
              <a:spcAft>
                <a:spcPts val="0"/>
              </a:spcAft>
              <a:buSzPts val="1100"/>
              <a:buNone/>
            </a:pPr>
            <a:r>
              <a:t/>
            </a:r>
            <a:endParaRPr sz="1200">
              <a:solidFill>
                <a:schemeClr val="dk1"/>
              </a:solidFill>
            </a:endParaRPr>
          </a:p>
          <a:p>
            <a:pPr indent="0" lvl="0" marL="0" marR="0" rtl="0" algn="l">
              <a:lnSpc>
                <a:spcPct val="100000"/>
              </a:lnSpc>
              <a:spcBef>
                <a:spcPts val="0"/>
              </a:spcBef>
              <a:spcAft>
                <a:spcPts val="0"/>
              </a:spcAft>
              <a:buSzPts val="1100"/>
              <a:buNone/>
            </a:pPr>
            <a:r>
              <a:t/>
            </a:r>
            <a:endParaRPr sz="1200">
              <a:solidFill>
                <a:schemeClr val="dk1"/>
              </a:solidFill>
            </a:endParaRPr>
          </a:p>
          <a:p>
            <a:pPr indent="0" lvl="0" marL="0" marR="0" rtl="0" algn="l">
              <a:lnSpc>
                <a:spcPct val="100000"/>
              </a:lnSpc>
              <a:spcBef>
                <a:spcPts val="0"/>
              </a:spcBef>
              <a:spcAft>
                <a:spcPts val="0"/>
              </a:spcAft>
              <a:buSzPts val="1100"/>
              <a:buNone/>
            </a:pPr>
            <a:r>
              <a:t/>
            </a:r>
            <a:endParaRPr sz="1200">
              <a:solidFill>
                <a:schemeClr val="dk1"/>
              </a:solidFill>
            </a:endParaRPr>
          </a:p>
          <a:p>
            <a:pPr indent="0" lvl="0" marL="0" marR="0" rtl="0" algn="l">
              <a:lnSpc>
                <a:spcPct val="100000"/>
              </a:lnSpc>
              <a:spcBef>
                <a:spcPts val="0"/>
              </a:spcBef>
              <a:spcAft>
                <a:spcPts val="0"/>
              </a:spcAft>
              <a:buSzPts val="1100"/>
              <a:buNone/>
            </a:pPr>
            <a:r>
              <a:t/>
            </a:r>
            <a:endParaRPr sz="1200">
              <a:solidFill>
                <a:schemeClr val="dk1"/>
              </a:solidFill>
            </a:endParaRPr>
          </a:p>
          <a:p>
            <a:pPr indent="0" lvl="0" marL="0" marR="0" rtl="0" algn="l">
              <a:lnSpc>
                <a:spcPct val="100000"/>
              </a:lnSpc>
              <a:spcBef>
                <a:spcPts val="0"/>
              </a:spcBef>
              <a:spcAft>
                <a:spcPts val="0"/>
              </a:spcAft>
              <a:buSzPts val="1100"/>
              <a:buNone/>
            </a:pPr>
            <a:r>
              <a:rPr b="0" lang="en-US" sz="1200">
                <a:solidFill>
                  <a:schemeClr val="dk1"/>
                </a:solidFill>
                <a:latin typeface="Arial"/>
                <a:ea typeface="Arial"/>
                <a:cs typeface="Arial"/>
                <a:sym typeface="Arial"/>
              </a:rPr>
              <a:t>Outliers Detectados</a:t>
            </a:r>
            <a:br>
              <a:rPr b="0" lang="en-US"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#Superficie_m2: 31 outliers                   Locales muy grandes o muy pequeños, casos reales válidos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#Inversion_CAPEX_USD: 125 outliers           Locales premium con inversión inicial muy alta</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#Inversion_Marketing_Mensual_USD: 134 outliers Estrategias agresivas de marketing en rubros competitivos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#Alquiler_Mensual_USD: 174 outliers          Locales en ubicaciones premium (shopping ABC1)</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#Distancia_Ancla_Metros: 146 outliers         Locales muy alejados o muy cerca del ancla</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#Venta_Online_Pct: 49 outliers               Rubros con canal digital muy desarrollado (ej: Tecnología)</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#Ticket_Promedio_USD: 806 outliers            Alta variación esperada entre rubros (kiosco vs joyería)</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#Ventas_Anuales_Totales_USD: 98 outliers     Top performers, locales de alto rendimiento reales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#No los eliminaremos - ya que son casos de negocio legítimos (ej: una joyería en shopping ABC1 tendrá ventas muy superiores al promedio).</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85" name="Google Shape;85;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21:notes"/>
          <p:cNvSpPr/>
          <p:nvPr>
            <p:ph idx="2" type="sldImg"/>
          </p:nvPr>
        </p:nvSpPr>
        <p:spPr>
          <a:xfrm>
            <a:off x="-47625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21: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100"/>
              <a:buFont typeface="Arial"/>
              <a:buNone/>
            </a:pPr>
            <a:r>
              <a:t/>
            </a:r>
            <a:endParaRPr/>
          </a:p>
        </p:txBody>
      </p:sp>
      <p:sp>
        <p:nvSpPr>
          <p:cNvPr id="131" name="Google Shape;131;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9554702cd6_0_15: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g39554702cd6_0_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La estimación precisa de ventas es clave para:</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Evaluar la rentabilidad potencial de un negocio.</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Reducir riesgo de inversión.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Determinar ubicaciones óptimas para franquicias.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Presentar proyecciones fundamentadas ante entidades financieras.</a:t>
            </a:r>
            <a:endParaRPr sz="1100">
              <a:solidFill>
                <a:schemeClr val="dk1"/>
              </a:solidFill>
            </a:endParaRPr>
          </a:p>
          <a:p>
            <a:pPr indent="0" lvl="0" marL="0" rtl="0" algn="l">
              <a:lnSpc>
                <a:spcPct val="115000"/>
              </a:lnSpc>
              <a:spcBef>
                <a:spcPts val="1200"/>
              </a:spcBef>
              <a:spcAft>
                <a:spcPts val="1200"/>
              </a:spcAft>
              <a:buSzPts val="1100"/>
              <a:buNone/>
            </a:pPr>
            <a:r>
              <a:rPr lang="en-US" sz="1100">
                <a:solidFill>
                  <a:schemeClr val="dk1"/>
                </a:solidFill>
              </a:rPr>
              <a:t>Un modelo predictivo aporta soporte cuantitativo a decisiones estratégicas.</a:t>
            </a:r>
            <a:endParaRPr sz="1200">
              <a:solidFill>
                <a:schemeClr val="dk1"/>
              </a:solidFill>
            </a:endParaRPr>
          </a:p>
        </p:txBody>
      </p:sp>
      <p:sp>
        <p:nvSpPr>
          <p:cNvPr id="161" name="Google Shape;161;g39554702cd6_0_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ca65b628b7_1_0:notes"/>
          <p:cNvSpPr/>
          <p:nvPr>
            <p:ph idx="2" type="sldImg"/>
          </p:nvPr>
        </p:nvSpPr>
        <p:spPr>
          <a:xfrm>
            <a:off x="-47625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g3ca65b628b7_1_0: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Solo mostrar si cuestionan </a:t>
            </a:r>
            <a:r>
              <a:rPr lang="en-US" sz="1200">
                <a:solidFill>
                  <a:schemeClr val="dk1"/>
                </a:solidFill>
              </a:rPr>
              <a:t>¿Cómo impactan esos outliers en el rendimiento de nuestros modelos, especialmente en el KNN? ya que como el KNN es muy sensible a la escala y a los outliers.</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Conclusión: Los outliers son información valiosa y legítima. Random Forest ya es robusto a ellos (R² original 82.9%). Eliminarlos empobrece el modelo porque pierde capacidad de predecir los casos extremos, que son justamente los de mayor interés comercial.</a:t>
            </a:r>
            <a:endParaRPr sz="1200">
              <a:solidFill>
                <a:schemeClr val="dk1"/>
              </a:solidFill>
            </a:endParaRPr>
          </a:p>
          <a:p>
            <a:pPr indent="0" lvl="0" marL="0" rtl="0" algn="l">
              <a:lnSpc>
                <a:spcPct val="100000"/>
              </a:lnSpc>
              <a:spcBef>
                <a:spcPts val="0"/>
              </a:spcBef>
              <a:spcAft>
                <a:spcPts val="0"/>
              </a:spcAft>
              <a:buSzPts val="1100"/>
              <a:buNone/>
            </a:pPr>
            <a:r>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Decisión: Mantenemos los outliers y aplicamos transformación logarítmica a la variable objetivo para comprimir la escala y mejorar la estabilidad sin perder información. Validamos que el modelo mantiene R² &gt; 80% en todos los segmentos.</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00000"/>
              </a:lnSpc>
              <a:spcBef>
                <a:spcPts val="0"/>
              </a:spcBef>
              <a:spcAft>
                <a:spcPts val="0"/>
              </a:spcAft>
              <a:buSzPts val="1100"/>
              <a:buNone/>
            </a:pPr>
            <a:r>
              <a:t/>
            </a:r>
            <a:endParaRPr sz="1200">
              <a:solidFill>
                <a:schemeClr val="dk1"/>
              </a:solidFill>
            </a:endParaRPr>
          </a:p>
          <a:p>
            <a:pPr indent="0" lvl="0" marL="0" rtl="0" algn="l">
              <a:lnSpc>
                <a:spcPct val="100000"/>
              </a:lnSpc>
              <a:spcBef>
                <a:spcPts val="0"/>
              </a:spcBef>
              <a:spcAft>
                <a:spcPts val="0"/>
              </a:spcAft>
              <a:buSzPts val="1100"/>
              <a:buNone/>
            </a:pPr>
            <a:r>
              <a:t/>
            </a:r>
            <a:endParaRPr sz="120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4: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None/>
            </a:pPr>
            <a:r>
              <a:rPr lang="en-US">
                <a:solidFill>
                  <a:schemeClr val="dk1"/>
                </a:solidFill>
              </a:rPr>
              <a:t>A</a:t>
            </a:r>
            <a:r>
              <a:rPr lang="en-US"/>
              <a:t>ntes de modelar, analizamos cómo se comportan las ventas en términos generales. Esto nos permite entender dispersión y diferencias estructurales entre rubros, La media es ligeramente superior a la mediana, lo que indica una distribución asimétrica positiva: existen algunos locales con ventas muy altas que elevan el promedio, el rango es amplio — desde 115 mil hasta 1.8 millones — lo que confirma alta heterogeneidad en desempeño, La mayoría de los locales se concentra entre 300 mil y 700 mil dólares anuales. Sin embargo, existe una cola derecha que refleja casos de alto desempeño.</a:t>
            </a:r>
            <a:endParaRPr/>
          </a:p>
          <a:p>
            <a:pPr indent="0" lvl="0" marL="0" rtl="0" algn="l">
              <a:lnSpc>
                <a:spcPct val="100000"/>
              </a:lnSpc>
              <a:spcBef>
                <a:spcPts val="0"/>
              </a:spcBef>
              <a:spcAft>
                <a:spcPts val="0"/>
              </a:spcAft>
              <a:buSzPts val="1100"/>
              <a:buNone/>
            </a:pPr>
            <a:r>
              <a:rPr lang="en-US"/>
              <a:t>Observamos diferencias estructurales entre categorías. Tecnología y Farmacia lideran el promedio de ventas, mientras que rubros como Petshop o Librería operan en niveles significativamente menores. Esto te permite decir  El rubro establece un techo estructural de ingresos. No es solo ubicación: el sector condiciona el potencial máximo</a:t>
            </a:r>
            <a:endParaRPr sz="1100">
              <a:solidFill>
                <a:schemeClr val="dk1"/>
              </a:solidFill>
            </a:endParaRPr>
          </a:p>
          <a:p>
            <a:pPr indent="0" lvl="0" marL="0" rtl="0" algn="l">
              <a:lnSpc>
                <a:spcPct val="115000"/>
              </a:lnSpc>
              <a:spcBef>
                <a:spcPts val="1200"/>
              </a:spcBef>
              <a:spcAft>
                <a:spcPts val="0"/>
              </a:spcAft>
              <a:buSzPts val="1100"/>
              <a:buNone/>
            </a:pPr>
            <a:r>
              <a:rPr lang="en-US" sz="1100">
                <a:solidFill>
                  <a:srgbClr val="FF0000"/>
                </a:solidFill>
              </a:rPr>
              <a:t>si pregunta porque no una Red Neuronal!!</a:t>
            </a:r>
            <a:r>
              <a:rPr lang="en-US">
                <a:solidFill>
                  <a:srgbClr val="FF0000"/>
                </a:solidFill>
              </a:rPr>
              <a:t> </a:t>
            </a:r>
            <a:r>
              <a:rPr lang="en-US" sz="1100">
                <a:solidFill>
                  <a:srgbClr val="FF0000"/>
                </a:solidFill>
              </a:rPr>
              <a:t>Las RNN son modelos diseñados para capturar dependencias temporales en datos secuenciales. En este proyecto, el objetivo no es modelar una serie temporal de ventas históricas de un mismo negocio, sino predecir ventas en función de variables estructurales y comerciales comparables entre distintos casos. Por lo tanto, el problema se ajusta mejor a modelos supervisados de regresión para datos tabulares como Random Forest o KNN</a:t>
            </a:r>
            <a:endParaRPr sz="1100">
              <a:solidFill>
                <a:srgbClr val="FF0000"/>
              </a:solidFill>
            </a:endParaRPr>
          </a:p>
        </p:txBody>
      </p:sp>
      <p:sp>
        <p:nvSpPr>
          <p:cNvPr id="179" name="Google Shape;179;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5: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endParaRPr>
          </a:p>
        </p:txBody>
      </p:sp>
      <p:sp>
        <p:nvSpPr>
          <p:cNvPr id="206" name="Google Shape;206;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7: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219" name="Google Shape;219;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6: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rPr>
              <a:t>Grafico 1 : Demuestra que existe una relación positiva consistente entre nivel socioeconómico y ventas promedio. A mayor poder adquisitivo del área de influencia, mayor facturación del local, es decir, que el poder de compra del entorno es un determinante estructural del potencial de ingresos.</a:t>
            </a:r>
            <a:endParaRPr sz="1200">
              <a:solidFill>
                <a:schemeClr val="dk1"/>
              </a:solidFill>
            </a:endParaRPr>
          </a:p>
          <a:p>
            <a:pPr indent="0" lvl="0" marL="0" marR="0" rtl="0" algn="l">
              <a:lnSpc>
                <a:spcPct val="100000"/>
              </a:lnSpc>
              <a:spcBef>
                <a:spcPts val="0"/>
              </a:spcBef>
              <a:spcAft>
                <a:spcPts val="0"/>
              </a:spcAft>
              <a:buSzPts val="1100"/>
              <a:buNone/>
            </a:pPr>
            <a:r>
              <a:t/>
            </a:r>
            <a:endParaRPr sz="1200">
              <a:solidFill>
                <a:schemeClr val="dk1"/>
              </a:solidFill>
            </a:endParaRPr>
          </a:p>
          <a:p>
            <a:pPr indent="0" lvl="0" marL="0" marR="0" rtl="0" algn="l">
              <a:lnSpc>
                <a:spcPct val="100000"/>
              </a:lnSpc>
              <a:spcBef>
                <a:spcPts val="0"/>
              </a:spcBef>
              <a:spcAft>
                <a:spcPts val="0"/>
              </a:spcAft>
              <a:buSzPts val="1100"/>
              <a:buNone/>
            </a:pPr>
            <a:r>
              <a:rPr lang="en-US" sz="1200">
                <a:solidFill>
                  <a:schemeClr val="dk1"/>
                </a:solidFill>
              </a:rPr>
              <a:t>Grafico 2 : Demuestra que tipo de ubicación también muestra diferencias significativas. Los shoppings lideran en ventas promedio, seguidos por centros comerciales, mientras que ubicaciones en barrios residenciales presentan los niveles más bajos Esto refleja el efecto de economías de aglomeración: mayor concentración de oferta y flujo genera mayor potencial de venta</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Los </a:t>
            </a:r>
            <a:r>
              <a:rPr b="1" lang="en-US">
                <a:solidFill>
                  <a:schemeClr val="dk1"/>
                </a:solidFill>
              </a:rPr>
              <a:t>% que aparecen dentro de las barras</a:t>
            </a:r>
            <a:r>
              <a:rPr lang="en-US">
                <a:solidFill>
                  <a:schemeClr val="dk1"/>
                </a:solidFill>
              </a:rPr>
              <a:t> son la </a:t>
            </a:r>
            <a:r>
              <a:rPr b="1" lang="en-US">
                <a:solidFill>
                  <a:schemeClr val="dk1"/>
                </a:solidFill>
              </a:rPr>
              <a:t>proporción de locales que pertenecen a cada categoría</a:t>
            </a:r>
            <a:r>
              <a:rPr lang="en-US">
                <a:solidFill>
                  <a:schemeClr val="dk1"/>
                </a:solidFill>
              </a:rPr>
              <a:t> dentro del dataset.</a:t>
            </a:r>
            <a:endParaRPr>
              <a:solidFill>
                <a:schemeClr val="dk1"/>
              </a:solidFill>
            </a:endParaRPr>
          </a:p>
          <a:p>
            <a:pPr indent="0" lvl="0" marL="0" marR="0" rtl="0" algn="l">
              <a:lnSpc>
                <a:spcPct val="100000"/>
              </a:lnSpc>
              <a:spcBef>
                <a:spcPts val="1200"/>
              </a:spcBef>
              <a:spcAft>
                <a:spcPts val="0"/>
              </a:spcAft>
              <a:buSzPts val="1100"/>
              <a:buNone/>
            </a:pPr>
            <a:r>
              <a:rPr lang="en-US" sz="1200">
                <a:solidFill>
                  <a:schemeClr val="dk1"/>
                </a:solidFill>
              </a:rPr>
              <a:t>Si bien los shoppings presentan el mayor nivel promedio de ventas, representan solo el 13% de la muestra. En cambio, las calles comerciales concentran el 43% de los locales, lo que indica que el formato dominante del mercado es distinto del formato de mayor promedio.</a:t>
            </a:r>
            <a:endParaRPr sz="1200">
              <a:solidFill>
                <a:schemeClr val="dk1"/>
              </a:solidFill>
            </a:endParaRPr>
          </a:p>
          <a:p>
            <a:pPr indent="0" lvl="0" marL="0" marR="0" rtl="0" algn="l">
              <a:lnSpc>
                <a:spcPct val="100000"/>
              </a:lnSpc>
              <a:spcBef>
                <a:spcPts val="0"/>
              </a:spcBef>
              <a:spcAft>
                <a:spcPts val="0"/>
              </a:spcAft>
              <a:buSzPts val="1100"/>
              <a:buNone/>
            </a:pPr>
            <a:r>
              <a:t/>
            </a:r>
            <a:endParaRPr sz="1200">
              <a:solidFill>
                <a:schemeClr val="dk1"/>
              </a:solidFill>
            </a:endParaRPr>
          </a:p>
          <a:p>
            <a:pPr indent="0" lvl="0" marL="0" marR="0" rtl="0" algn="l">
              <a:lnSpc>
                <a:spcPct val="100000"/>
              </a:lnSpc>
              <a:spcBef>
                <a:spcPts val="1200"/>
              </a:spcBef>
              <a:spcAft>
                <a:spcPts val="0"/>
              </a:spcAft>
              <a:buSzPts val="1100"/>
              <a:buNone/>
            </a:pPr>
            <a:r>
              <a:t/>
            </a:r>
            <a:endParaRPr sz="1200">
              <a:solidFill>
                <a:schemeClr val="dk1"/>
              </a:solidFill>
            </a:endParaRPr>
          </a:p>
        </p:txBody>
      </p:sp>
      <p:sp>
        <p:nvSpPr>
          <p:cNvPr id="232" name="Google Shape;23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8: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t>En esta sección analizamos qué variables realmente explican las diferencias de desempeño entre locales.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t>El tránsito (0,123) muestra una correlación positiva, aunque moderada. Esto indica que mayor flujo ayuda, pero no garantiza ventas altas por sí solo. Es una condición necesaria, pero no suficiente</a:t>
            </a:r>
            <a:endParaRPr/>
          </a:p>
          <a:p>
            <a:pPr indent="0" lvl="0" marL="0" marR="0" rtl="0" algn="l">
              <a:lnSpc>
                <a:spcPct val="100000"/>
              </a:lnSpc>
              <a:spcBef>
                <a:spcPts val="0"/>
              </a:spcBef>
              <a:spcAft>
                <a:spcPts val="0"/>
              </a:spcAft>
              <a:buSzPts val="1100"/>
              <a:buNone/>
            </a:pPr>
            <a:r>
              <a:rPr lang="en-US" sz="1200"/>
              <a:t>Distnacia al ancla observamos una relación negativa clara (-0,307) : a mayor distancia del ancla, menores ventas. Esto confirma la importancia de las economías de aglomeración. La cercanía potencia la captación de demanda</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t>La densidad poblacional muestra relación negativa (-0,302). Esto puede parecer contraintuitivo, pero sugiere que en zonas extremadamente densas puede existir mayor competencia o saturación comercial y esta relacionado con nivel de facturación zonas D1 mas venta pero mas humides/ Precarias </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EBITDA </a:t>
            </a:r>
            <a:r>
              <a:rPr lang="en-US" sz="1200"/>
              <a:t>El rubro introduce una diferencia estructural en el techo de rentabilidad. A igual ubicación y tránsito, el margen cambia significativamente según la categoría. “Esto valida que la elección del rubro no es secundaria: condiciona tanto el nivel de ventas como la rentabilidad final.”</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t>Los resultados muestran que el desempeño no depende de un único factor, sino de la interacción entre ubicación estratégica y adecuación del rubro. El modelo captura precisamente esa combinación</a:t>
            </a:r>
            <a:endParaRPr sz="1200">
              <a:solidFill>
                <a:schemeClr val="dk1"/>
              </a:solidFill>
              <a:latin typeface="Arial"/>
              <a:ea typeface="Arial"/>
              <a:cs typeface="Arial"/>
              <a:sym typeface="Arial"/>
            </a:endParaRPr>
          </a:p>
        </p:txBody>
      </p:sp>
      <p:sp>
        <p:nvSpPr>
          <p:cNvPr id="250" name="Google Shape;25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9: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b="1"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200">
                <a:solidFill>
                  <a:schemeClr val="dk1"/>
                </a:solidFill>
              </a:rPr>
              <a:t>Comenzamos con KNN porque queríamos un modelo baseline simple, coherente con la lógica del negocio: negocios similares deberían tener ventas similares. Era un buen punto de partida para validar si nuestras variables capturaban diferencias reales.Sin embargo, el bajo R² nos mostró que el problema tenía relaciones más complejas que la simple proximidad entre casos.Por eso probamos Random Forest, que puede capturar interacciones no lineales entre variables y patrones más sofisticados. El rendimiento mejoró significativamente.No utilizamos redes neuronales porque nuestro problema no es secuencial ni temporal, el dataset no es lo suficientemente grande para deep learning, y además priorizamos interpretabilidad, algo clave en un contexto de evaluación de inversión.</a:t>
            </a:r>
            <a:endParaRPr b="1" sz="12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200">
                <a:solidFill>
                  <a:schemeClr val="dk1"/>
                </a:solidFill>
              </a:rPr>
              <a:t>¿Qué variables influyen más en el nivel de ventas?</a:t>
            </a:r>
            <a:endParaRPr b="1"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200">
                <a:solidFill>
                  <a:schemeClr val="dk1"/>
                </a:solidFill>
              </a:rPr>
              <a:t>¿Existe relación positiva entre antigüedad y ventas</a:t>
            </a:r>
            <a:endParaRPr b="1"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200">
                <a:solidFill>
                  <a:schemeClr val="dk1"/>
                </a:solidFill>
              </a:rPr>
              <a:t>¿Cómo impacta la ubicación en el desempeño comercial?</a:t>
            </a:r>
            <a:endParaRPr b="1"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200">
                <a:solidFill>
                  <a:schemeClr val="dk1"/>
                </a:solidFill>
              </a:rPr>
              <a:t>¿Qué nivel de marketing mejora significativamente las ventas?</a:t>
            </a:r>
            <a:endParaRPr b="1" sz="1200">
              <a:solidFill>
                <a:schemeClr val="dk1"/>
              </a:solidFill>
            </a:endParaRPr>
          </a:p>
          <a:p>
            <a:pPr indent="0" lvl="0" marL="0" rtl="0" algn="l">
              <a:lnSpc>
                <a:spcPct val="100000"/>
              </a:lnSpc>
              <a:spcBef>
                <a:spcPts val="0"/>
              </a:spcBef>
              <a:spcAft>
                <a:spcPts val="0"/>
              </a:spcAft>
              <a:buSzPts val="1100"/>
              <a:buNone/>
            </a:pPr>
            <a:r>
              <a:rPr b="1" lang="en-US" sz="1200">
                <a:solidFill>
                  <a:schemeClr val="dk1"/>
                </a:solidFill>
              </a:rPr>
              <a:t>¿Cuál modelo ofrece mejor capacidad predictiva?</a:t>
            </a:r>
            <a:endParaRPr b="1" sz="1200">
              <a:solidFill>
                <a:schemeClr val="dk1"/>
              </a:solidFill>
            </a:endParaRPr>
          </a:p>
          <a:p>
            <a:pPr indent="0" lvl="0" marL="0" marR="0" rtl="0" algn="l">
              <a:lnSpc>
                <a:spcPct val="100000"/>
              </a:lnSpc>
              <a:spcBef>
                <a:spcPts val="0"/>
              </a:spcBef>
              <a:spcAft>
                <a:spcPts val="0"/>
              </a:spcAft>
              <a:buSzPts val="1100"/>
              <a:buNone/>
            </a:pPr>
            <a:r>
              <a:t/>
            </a:r>
            <a:endParaRPr b="1" sz="1200">
              <a:solidFill>
                <a:schemeClr val="dk1"/>
              </a:solidFill>
            </a:endParaRPr>
          </a:p>
          <a:p>
            <a:pPr indent="0" lvl="0" marL="0" marR="0" rtl="0" algn="l">
              <a:lnSpc>
                <a:spcPct val="100000"/>
              </a:lnSpc>
              <a:spcBef>
                <a:spcPts val="0"/>
              </a:spcBef>
              <a:spcAft>
                <a:spcPts val="0"/>
              </a:spcAft>
              <a:buSzPts val="1100"/>
              <a:buNone/>
            </a:pPr>
            <a:r>
              <a:rPr b="1" lang="en-US" sz="1200">
                <a:solidFill>
                  <a:schemeClr val="dk1"/>
                </a:solidFill>
              </a:rPr>
              <a:t>El</a:t>
            </a:r>
            <a:r>
              <a:rPr b="1" lang="en-US" sz="1200">
                <a:solidFill>
                  <a:schemeClr val="dk1"/>
                </a:solidFill>
                <a:latin typeface="Arial"/>
                <a:ea typeface="Arial"/>
                <a:cs typeface="Arial"/>
                <a:sym typeface="Arial"/>
              </a:rPr>
              <a:t> eje horizontal (Valor de K):</a:t>
            </a:r>
            <a:r>
              <a:rPr lang="en-US" sz="1200">
                <a:solidFill>
                  <a:schemeClr val="dk1"/>
                </a:solidFill>
                <a:latin typeface="Arial"/>
                <a:ea typeface="Arial"/>
                <a:cs typeface="Arial"/>
                <a:sym typeface="Arial"/>
              </a:rPr>
              <a:t> Representa el número de "vecinos" que el modelo consulta para tomar una decisión. Probaste desde $K=1$ hasta $K=30$.</a:t>
            </a:r>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El eje vertical (RMSE):</a:t>
            </a:r>
            <a:r>
              <a:rPr lang="en-US" sz="1200">
                <a:solidFill>
                  <a:schemeClr val="dk1"/>
                </a:solidFill>
                <a:latin typeface="Arial"/>
                <a:ea typeface="Arial"/>
                <a:cs typeface="Arial"/>
                <a:sym typeface="Arial"/>
              </a:rPr>
              <a:t> Es el </a:t>
            </a:r>
            <a:r>
              <a:rPr b="1" lang="en-US" sz="1200">
                <a:solidFill>
                  <a:schemeClr val="dk1"/>
                </a:solidFill>
                <a:latin typeface="Arial"/>
                <a:ea typeface="Arial"/>
                <a:cs typeface="Arial"/>
                <a:sym typeface="Arial"/>
              </a:rPr>
              <a:t>Error Cuadrático Medio</a:t>
            </a:r>
            <a:r>
              <a:rPr lang="en-US" sz="1200">
                <a:solidFill>
                  <a:schemeClr val="dk1"/>
                </a:solidFill>
                <a:latin typeface="Arial"/>
                <a:ea typeface="Arial"/>
                <a:cs typeface="Arial"/>
                <a:sym typeface="Arial"/>
              </a:rPr>
              <a:t> expresado en dólares (USD). En términos simples: </a:t>
            </a:r>
            <a:r>
              <a:rPr b="1" lang="en-US" sz="1200">
                <a:solidFill>
                  <a:schemeClr val="dk1"/>
                </a:solidFill>
                <a:latin typeface="Arial"/>
                <a:ea typeface="Arial"/>
                <a:cs typeface="Arial"/>
                <a:sym typeface="Arial"/>
              </a:rPr>
              <a:t>mientras más baja esté la línea azul, mejor es el modelo</a:t>
            </a:r>
            <a:r>
              <a:rPr lang="en-US" sz="1200">
                <a:solidFill>
                  <a:schemeClr val="dk1"/>
                </a:solidFill>
                <a:latin typeface="Arial"/>
                <a:ea typeface="Arial"/>
                <a:cs typeface="Arial"/>
                <a:sym typeface="Arial"/>
              </a:rPr>
              <a:t>, porque significa que se equivoca por menos dinero.</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264" name="Google Shape;264;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0: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310" name="Google Shape;310;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1: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 name="Google Shape;34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200">
                <a:solidFill>
                  <a:schemeClr val="dk1"/>
                </a:solidFill>
              </a:rPr>
              <a:t>Importancia de las variables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Inversión en marketing es, con diferencia, la variable más importante (64% de la importancia total).</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Rubro_Farmacia es la segunda más importante lo que significa que los locales que son farmacia tienen un patrón de ventas muy diferente al resto.</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Luego vienen distancia al ancla (6.4%)</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Las demás variables tienen importancias mucho más bajas.</a:t>
            </a:r>
            <a:endParaRPr sz="1200">
              <a:solidFill>
                <a:schemeClr val="dk1"/>
              </a:solidFill>
            </a:endParaRPr>
          </a:p>
          <a:p>
            <a:pPr indent="0" lvl="0" marL="0" rtl="0" algn="l">
              <a:lnSpc>
                <a:spcPct val="100000"/>
              </a:lnSpc>
              <a:spcBef>
                <a:spcPts val="0"/>
              </a:spcBef>
              <a:spcAft>
                <a:spcPts val="0"/>
              </a:spcAft>
              <a:buSzPts val="1100"/>
              <a:buNone/>
            </a:pPr>
            <a:r>
              <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Por rubro </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Aunque la correlación lineal entre "ser farmacia" y ventas pueda ser baja (porque hay farmacias de todos los tamaños y ubicaciones), en el contexto de las demás variables, el modelo descubre que saber si un local es farmacia es crucial para ajustar la predicción.</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Por ejemplo: para un mismo nivel de inversión en marketing y misma ubicación, una farmacia puede vender sistemáticamente más (o de forma más predecible) que una librería. </a:t>
            </a:r>
            <a:endParaRPr sz="1200">
              <a:solidFill>
                <a:schemeClr val="dk1"/>
              </a:solidFill>
            </a:endParaRPr>
          </a:p>
          <a:p>
            <a:pPr indent="0" lvl="0" marL="0" rtl="0" algn="l">
              <a:lnSpc>
                <a:spcPct val="100000"/>
              </a:lnSpc>
              <a:spcBef>
                <a:spcPts val="0"/>
              </a:spcBef>
              <a:spcAft>
                <a:spcPts val="0"/>
              </a:spcAft>
              <a:buSzPts val="1100"/>
              <a:buNone/>
            </a:pPr>
            <a:r>
              <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Eso es porque el Modelo detecta que las farmacias tienen un comportamiento de ventas muy diferente al resto:</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Demanda estable y recurrente (salud, medicamentos) vs. otros rubros más estacionales (indumentaria, deportes).</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Menor sensibilidad a crisis económicas (productos de primera necesidad).</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Mayor ticket promedio en muchos casos (farmacias de cadenas, venta de productos de cuidado personal de alto valor).</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Ubicaciones estratégicas (cerca de centros de salud, gran afluencia).</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Esto hace que para el modelo, saber si un local es farmacia sea casi tan importante como cuánto invierte en marketing.</a:t>
            </a:r>
            <a:endParaRPr sz="1200">
              <a:solidFill>
                <a:schemeClr val="dk1"/>
              </a:solidFill>
            </a:endParaRPr>
          </a:p>
          <a:p>
            <a:pPr indent="0" lvl="0" marL="0" rtl="0" algn="l">
              <a:lnSpc>
                <a:spcPct val="100000"/>
              </a:lnSpc>
              <a:spcBef>
                <a:spcPts val="0"/>
              </a:spcBef>
              <a:spcAft>
                <a:spcPts val="0"/>
              </a:spcAft>
              <a:buSzPts val="1100"/>
              <a:buNone/>
            </a:pPr>
            <a:r>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endParaRPr>
          </a:p>
          <a:p>
            <a:pPr indent="0" lvl="0" marL="0" marR="0" rtl="0" algn="l">
              <a:lnSpc>
                <a:spcPct val="100000"/>
              </a:lnSpc>
              <a:spcBef>
                <a:spcPts val="0"/>
              </a:spcBef>
              <a:spcAft>
                <a:spcPts val="0"/>
              </a:spcAft>
              <a:buSzPts val="1100"/>
              <a:buNone/>
            </a:pPr>
            <a:r>
              <a:t/>
            </a:r>
            <a:endParaRPr sz="1200">
              <a:solidFill>
                <a:schemeClr val="dk1"/>
              </a:solidFill>
            </a:endParaRPr>
          </a:p>
        </p:txBody>
      </p:sp>
      <p:sp>
        <p:nvSpPr>
          <p:cNvPr id="346" name="Google Shape;346;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2: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R2 </a:t>
            </a:r>
            <a:r>
              <a:rPr lang="en-US" sz="1200"/>
              <a:t>Mi modelo explica el </a:t>
            </a:r>
            <a:r>
              <a:rPr b="1" lang="en-US" sz="1200"/>
              <a:t>82.8% de la variabilidad de las ventas</a:t>
            </a:r>
            <a:endParaRPr/>
          </a:p>
          <a:p>
            <a:pPr indent="0" lvl="0" marL="0" marR="0" rtl="0" algn="l">
              <a:lnSpc>
                <a:spcPct val="100000"/>
              </a:lnSpc>
              <a:spcBef>
                <a:spcPts val="0"/>
              </a:spcBef>
              <a:spcAft>
                <a:spcPts val="0"/>
              </a:spcAft>
              <a:buSzPts val="1100"/>
              <a:buNone/>
            </a:pPr>
            <a:r>
              <a:rPr b="0" i="0" lang="en-US" sz="1200" u="none" cap="none" strike="noStrike">
                <a:solidFill>
                  <a:schemeClr val="dk1"/>
                </a:solidFill>
                <a:latin typeface="Arial"/>
                <a:ea typeface="Arial"/>
                <a:cs typeface="Arial"/>
                <a:sym typeface="Arial"/>
              </a:rPr>
              <a:t>MAE </a:t>
            </a:r>
            <a:r>
              <a:rPr lang="en-US" sz="1200"/>
              <a:t>Si abrís un local proyectando ventas, deberías esperar un margen de error promedio cercano a $80 mil</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RMSE </a:t>
            </a:r>
            <a:r>
              <a:rPr lang="en-US" sz="1200"/>
              <a:t>Existen algunos casos donde el error es más grande (~100 mil o más). Es decir, hay decisiones donde el modelo puede fallar más fuerte.</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MAPE </a:t>
            </a:r>
            <a:r>
              <a:rPr lang="en-US" sz="1200"/>
              <a:t>En promedio, el modelo se equivoca un 15.8% respecto a la venta real.</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t>La diferencia moderada entre MAE y RMSE indica que el modelo no presenta errores extremos significativos, lo que reduce el riesgo de decisiones estratégicas erróneas de gran magnitud</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377" name="Google Shape;377;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3: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3" name="Google Shape;413;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100">
                <a:solidFill>
                  <a:schemeClr val="dk1"/>
                </a:solidFill>
              </a:rPr>
              <a:t>¿Por qué el R² de KNN es 63.4% y no más alto?</a:t>
            </a:r>
            <a:endParaRPr sz="1100">
              <a:solidFill>
                <a:schemeClr val="dk1"/>
              </a:solidFill>
            </a:endParaRPr>
          </a:p>
          <a:p>
            <a:pPr indent="0" lvl="0" marL="0" marR="0" rtl="0" algn="l">
              <a:lnSpc>
                <a:spcPct val="100000"/>
              </a:lnSpc>
              <a:spcBef>
                <a:spcPts val="0"/>
              </a:spcBef>
              <a:spcAft>
                <a:spcPts val="0"/>
              </a:spcAft>
              <a:buSzPts val="1100"/>
              <a:buNone/>
            </a:pPr>
            <a:r>
              <a:rPr lang="en-US" sz="1100">
                <a:solidFill>
                  <a:schemeClr val="dk1"/>
                </a:solidFill>
              </a:rPr>
              <a:t>No es un error. KNN tiene una limitación real con este dataset: hay una variable dominante (Inversion_Marketing, correlación 0.77) y el resto son débiles. KNN trata todas las distancias por igual y le cuesta capturar esa dominancia. Por eso Random Forest lo supera ampliamente (82.9%) — porque puede ponderar la importancia de cada variable.</a:t>
            </a:r>
            <a:endParaRPr sz="1100"/>
          </a:p>
          <a:p>
            <a:pPr indent="0" lvl="0" marL="0" marR="0" rtl="0" algn="l">
              <a:lnSpc>
                <a:spcPct val="100000"/>
              </a:lnSpc>
              <a:spcBef>
                <a:spcPts val="0"/>
              </a:spcBef>
              <a:spcAft>
                <a:spcPts val="0"/>
              </a:spcAft>
              <a:buSzPts val="1100"/>
              <a:buNone/>
            </a:pPr>
            <a:r>
              <a:t/>
            </a:r>
            <a:endParaRPr sz="1100">
              <a:solidFill>
                <a:schemeClr val="dk1"/>
              </a:solidFill>
            </a:endParaRPr>
          </a:p>
          <a:p>
            <a:pPr indent="0" lvl="0" marL="0" marR="0" rtl="0" algn="l">
              <a:lnSpc>
                <a:spcPct val="100000"/>
              </a:lnSpc>
              <a:spcBef>
                <a:spcPts val="0"/>
              </a:spcBef>
              <a:spcAft>
                <a:spcPts val="0"/>
              </a:spcAft>
              <a:buSzPts val="1100"/>
              <a:buNone/>
            </a:pPr>
            <a:r>
              <a:rPr lang="en-US" sz="1100">
                <a:solidFill>
                  <a:schemeClr val="dk1"/>
                </a:solidFill>
              </a:rPr>
              <a:t> Mientras que el </a:t>
            </a:r>
            <a:r>
              <a:rPr i="1" lang="en-US" sz="1100">
                <a:solidFill>
                  <a:schemeClr val="dk1"/>
                </a:solidFill>
              </a:rPr>
              <a:t>R</a:t>
            </a:r>
            <a:r>
              <a:rPr lang="en-US" sz="1100">
                <a:solidFill>
                  <a:schemeClr val="dk1"/>
                </a:solidFill>
              </a:rPr>
              <a:t>2 te dice qué tan bueno es el modelo en general, estas estadísticas te dicen cuánto y cómo se equivoca en términos de dinero (USD).</a:t>
            </a:r>
            <a:endParaRPr sz="1100"/>
          </a:p>
          <a:p>
            <a:pPr indent="0" lvl="0" marL="0" marR="0" rtl="0" algn="l">
              <a:lnSpc>
                <a:spcPct val="100000"/>
              </a:lnSpc>
              <a:spcBef>
                <a:spcPts val="0"/>
              </a:spcBef>
              <a:spcAft>
                <a:spcPts val="0"/>
              </a:spcAft>
              <a:buSzPts val="1100"/>
              <a:buNone/>
            </a:pPr>
            <a:r>
              <a:rPr lang="en-US" sz="1100">
                <a:solidFill>
                  <a:schemeClr val="dk1"/>
                </a:solidFill>
              </a:rPr>
              <a:t>1. Error Medio (Sesgo)</a:t>
            </a:r>
            <a:endParaRPr sz="1100"/>
          </a:p>
          <a:p>
            <a:pPr indent="0" lvl="0" marL="0" marR="0" rtl="0" algn="l">
              <a:lnSpc>
                <a:spcPct val="100000"/>
              </a:lnSpc>
              <a:spcBef>
                <a:spcPts val="0"/>
              </a:spcBef>
              <a:spcAft>
                <a:spcPts val="0"/>
              </a:spcAft>
              <a:buSzPts val="1100"/>
              <a:buNone/>
            </a:pPr>
            <a:r>
              <a:rPr lang="en-US" sz="1100">
                <a:solidFill>
                  <a:schemeClr val="dk1"/>
                </a:solidFill>
              </a:rPr>
              <a:t>KNN (14,493): En promedio, este modelo tiende a sobreestimar el precio (predice valores más altos de lo que realmente son).</a:t>
            </a:r>
            <a:endParaRPr sz="1100"/>
          </a:p>
          <a:p>
            <a:pPr indent="0" lvl="0" marL="0" marR="0" rtl="0" algn="l">
              <a:lnSpc>
                <a:spcPct val="100000"/>
              </a:lnSpc>
              <a:spcBef>
                <a:spcPts val="0"/>
              </a:spcBef>
              <a:spcAft>
                <a:spcPts val="0"/>
              </a:spcAft>
              <a:buSzPts val="1100"/>
              <a:buNone/>
            </a:pPr>
            <a:r>
              <a:rPr lang="en-US" sz="1100">
                <a:solidFill>
                  <a:schemeClr val="dk1"/>
                </a:solidFill>
              </a:rPr>
              <a:t>Random Forest (−5,323): El error es negativo, lo que significa que tiende a subestimar ligeramente, pero el valor absoluto es mucho menor (-5.3 vs 14.493). Esto indica que Random Forest está más "centrado" en el valor real.</a:t>
            </a:r>
            <a:endParaRPr sz="1100">
              <a:solidFill>
                <a:schemeClr val="dk1"/>
              </a:solidFill>
            </a:endParaRPr>
          </a:p>
          <a:p>
            <a:pPr indent="0" lvl="0" marL="0" marR="0" rtl="0" algn="l">
              <a:lnSpc>
                <a:spcPct val="100000"/>
              </a:lnSpc>
              <a:spcBef>
                <a:spcPts val="0"/>
              </a:spcBef>
              <a:spcAft>
                <a:spcPts val="0"/>
              </a:spcAft>
              <a:buSzPts val="1100"/>
              <a:buNone/>
            </a:pPr>
            <a:r>
              <a:t/>
            </a:r>
            <a:endParaRPr sz="1100">
              <a:solidFill>
                <a:schemeClr val="dk1"/>
              </a:solidFill>
            </a:endParaRPr>
          </a:p>
          <a:p>
            <a:pPr indent="0" lvl="0" marL="0" marR="0" rtl="0" algn="l">
              <a:lnSpc>
                <a:spcPct val="100000"/>
              </a:lnSpc>
              <a:spcBef>
                <a:spcPts val="0"/>
              </a:spcBef>
              <a:spcAft>
                <a:spcPts val="0"/>
              </a:spcAft>
              <a:buSzPts val="1100"/>
              <a:buNone/>
            </a:pPr>
            <a:r>
              <a:rPr lang="en-US" sz="1100">
                <a:solidFill>
                  <a:schemeClr val="dk1"/>
                </a:solidFill>
              </a:rPr>
              <a:t>2. Desviación Estándar (Consistencia)</a:t>
            </a:r>
            <a:endParaRPr sz="1100"/>
          </a:p>
          <a:p>
            <a:pPr indent="0" lvl="0" marL="0" marR="0" rtl="0" algn="l">
              <a:lnSpc>
                <a:spcPct val="100000"/>
              </a:lnSpc>
              <a:spcBef>
                <a:spcPts val="0"/>
              </a:spcBef>
              <a:spcAft>
                <a:spcPts val="0"/>
              </a:spcAft>
              <a:buSzPts val="1100"/>
              <a:buNone/>
            </a:pPr>
            <a:r>
              <a:rPr lang="en-US" sz="1100">
                <a:solidFill>
                  <a:schemeClr val="dk1"/>
                </a:solidFill>
              </a:rPr>
              <a:t>Esta es la métrica más importante de tu tabla:</a:t>
            </a:r>
            <a:endParaRPr sz="1100"/>
          </a:p>
          <a:p>
            <a:pPr indent="0" lvl="0" marL="0" marR="0" rtl="0" algn="l">
              <a:lnSpc>
                <a:spcPct val="100000"/>
              </a:lnSpc>
              <a:spcBef>
                <a:spcPts val="0"/>
              </a:spcBef>
              <a:spcAft>
                <a:spcPts val="0"/>
              </a:spcAft>
              <a:buSzPts val="1100"/>
              <a:buNone/>
            </a:pPr>
            <a:r>
              <a:rPr lang="en-US" sz="1100">
                <a:solidFill>
                  <a:schemeClr val="dk1"/>
                </a:solidFill>
              </a:rPr>
              <a:t>KNN (150,650): Los errores varían muchísimo. A veces acierta y a veces se equivoca por una fortuna.</a:t>
            </a:r>
            <a:endParaRPr sz="1100"/>
          </a:p>
          <a:p>
            <a:pPr indent="0" lvl="0" marL="0" marR="0" rtl="0" algn="l">
              <a:lnSpc>
                <a:spcPct val="100000"/>
              </a:lnSpc>
              <a:spcBef>
                <a:spcPts val="0"/>
              </a:spcBef>
              <a:spcAft>
                <a:spcPts val="0"/>
              </a:spcAft>
              <a:buSzPts val="1100"/>
              <a:buNone/>
            </a:pPr>
            <a:r>
              <a:rPr lang="en-US" sz="1100">
                <a:solidFill>
                  <a:schemeClr val="dk1"/>
                </a:solidFill>
              </a:rPr>
              <a:t>Random Forest (102,537): Como bien anotaste, es más consistente. Sus errores están más agrupados; es decir, es un modelo más "predecible" en su margen de error.</a:t>
            </a:r>
            <a:endParaRPr sz="1100"/>
          </a:p>
          <a:p>
            <a:pPr indent="0" lvl="0" marL="0" marR="0" rtl="0" algn="l">
              <a:lnSpc>
                <a:spcPct val="100000"/>
              </a:lnSpc>
              <a:spcBef>
                <a:spcPts val="0"/>
              </a:spcBef>
              <a:spcAft>
                <a:spcPts val="0"/>
              </a:spcAft>
              <a:buSzPts val="1100"/>
              <a:buNone/>
            </a:pPr>
            <a:r>
              <a:t/>
            </a:r>
            <a:endParaRPr sz="1100">
              <a:solidFill>
                <a:schemeClr val="dk1"/>
              </a:solidFill>
            </a:endParaRPr>
          </a:p>
        </p:txBody>
      </p:sp>
      <p:sp>
        <p:nvSpPr>
          <p:cNvPr id="414" name="Google Shape;414;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22: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7" name="Google Shape;447;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448" name="Google Shape;448;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23: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8" name="Google Shape;478;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lang="en-US" sz="1200"/>
              <a:t>El problema que se busca abordar es la dificultad de estimar las ventas futuras de un negocio antes de invertir en él. Muchas decisiones de apertura de locales o franquicias se toman con información limitada, lo que incrementa el riesgo financiero. El proyecto propone desarrollar un modelo de Machine Learning que permita predecir ventas en función de variables comerciales y contextuales.</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El dataset tiene 20 variables originales porpias del Dataset pero al procesarlas para el modelo se convierten en 30 features debido al encoding de las variables categóricas (Dummies)</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200"/>
          </a:p>
          <a:p>
            <a:pPr indent="0" lvl="0" marL="0" rtl="0" algn="l">
              <a:lnSpc>
                <a:spcPct val="100000"/>
              </a:lnSpc>
              <a:spcBef>
                <a:spcPts val="0"/>
              </a:spcBef>
              <a:spcAft>
                <a:spcPts val="0"/>
              </a:spcAft>
              <a:buClr>
                <a:schemeClr val="dk1"/>
              </a:buClr>
              <a:buSzPts val="1100"/>
              <a:buFont typeface="Arial"/>
              <a:buNone/>
            </a:pPr>
            <a:r>
              <a:rPr lang="en-US" sz="1200"/>
              <a:t>¿Por qué predecir Ventas y no EBITDA?</a:t>
            </a:r>
            <a:endParaRPr/>
          </a:p>
          <a:p>
            <a:pPr indent="0" lvl="0" marL="0" rtl="0" algn="l">
              <a:lnSpc>
                <a:spcPct val="100000"/>
              </a:lnSpc>
              <a:spcBef>
                <a:spcPts val="0"/>
              </a:spcBef>
              <a:spcAft>
                <a:spcPts val="0"/>
              </a:spcAft>
              <a:buClr>
                <a:schemeClr val="dk1"/>
              </a:buClr>
              <a:buSzPts val="1100"/>
              <a:buFont typeface="Arial"/>
              <a:buNone/>
            </a:pPr>
            <a:r>
              <a:rPr lang="en-US" sz="1200"/>
              <a:t>Elegimos ventas porque es el primer eslabón de la cadena de valor  Sin embargo, reconocemos que la rentabilidad es el objetivo final.</a:t>
            </a:r>
            <a:endParaRPr/>
          </a:p>
          <a:p>
            <a:pPr indent="0" lvl="0" marL="0" rtl="0" algn="l">
              <a:lnSpc>
                <a:spcPct val="100000"/>
              </a:lnSpc>
              <a:spcBef>
                <a:spcPts val="0"/>
              </a:spcBef>
              <a:spcAft>
                <a:spcPts val="0"/>
              </a:spcAft>
              <a:buClr>
                <a:schemeClr val="dk1"/>
              </a:buClr>
              <a:buSzPts val="1100"/>
              <a:buFont typeface="Arial"/>
              <a:buNone/>
            </a:pPr>
            <a:r>
              <a:rPr lang="en-US" sz="1200"/>
              <a:t>Solución: Como extensión, desarrollaremos un segundo modelo que estime el margen EBITDA por rubro y ubicación, y lo integraremos para que el usuario pueda calcular su EBITDA proyectado a partir de la predicción de ventas y sus costos estimados. Incluso podríamos ofrecer una calculadora de punto de equilibrio.</a:t>
            </a:r>
            <a:endParaRPr/>
          </a:p>
          <a:p>
            <a:pPr indent="0" lvl="0" marL="0" rtl="0" algn="l">
              <a:lnSpc>
                <a:spcPct val="100000"/>
              </a:lnSpc>
              <a:spcBef>
                <a:spcPts val="0"/>
              </a:spcBef>
              <a:spcAft>
                <a:spcPts val="0"/>
              </a:spcAft>
              <a:buSzPts val="1100"/>
              <a:buNone/>
            </a:pPr>
            <a:r>
              <a:t/>
            </a:r>
            <a:endParaRPr sz="1200">
              <a:solidFill>
                <a:schemeClr val="dk1"/>
              </a:solidFill>
            </a:endParaRPr>
          </a:p>
          <a:p>
            <a:pPr indent="0" lvl="0" marL="0" rtl="0" algn="l">
              <a:lnSpc>
                <a:spcPct val="100000"/>
              </a:lnSpc>
              <a:spcBef>
                <a:spcPts val="0"/>
              </a:spcBef>
              <a:spcAft>
                <a:spcPts val="0"/>
              </a:spcAft>
              <a:buSzPts val="1100"/>
              <a:buNone/>
            </a:pPr>
            <a:r>
              <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 Hipotesis del modelo: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H1: Mayor antigüedad del negocio se asocia con mayores ventas.</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H2: Ubicaciones con mayor flujo de personas generan mayores ventas.</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H3: Un margen adecuado combinado con buen marketing incrementa ventas.</a:t>
            </a:r>
            <a:br>
              <a:rPr lang="en-US" sz="1200">
                <a:solidFill>
                  <a:schemeClr val="dk1"/>
                </a:solidFill>
              </a:rPr>
            </a:br>
            <a:r>
              <a:rPr lang="en-US" sz="1200">
                <a:solidFill>
                  <a:schemeClr val="dk1"/>
                </a:solidFill>
              </a:rPr>
              <a:t>H4: La relación entre variables no es completamente lineal.</a:t>
            </a:r>
            <a:endParaRPr sz="1200">
              <a:solidFill>
                <a:schemeClr val="dk1"/>
              </a:solidFill>
            </a:endParaRPr>
          </a:p>
          <a:p>
            <a:pPr indent="0" lvl="0" marL="0" marR="0" rtl="0" algn="l">
              <a:lnSpc>
                <a:spcPct val="100000"/>
              </a:lnSpc>
              <a:spcBef>
                <a:spcPts val="0"/>
              </a:spcBef>
              <a:spcAft>
                <a:spcPts val="0"/>
              </a:spcAft>
              <a:buSzPts val="1100"/>
              <a:buNone/>
            </a:pPr>
            <a:r>
              <a:t/>
            </a:r>
            <a:endParaRPr sz="1200">
              <a:solidFill>
                <a:schemeClr val="dk1"/>
              </a:solidFill>
            </a:endParaRPr>
          </a:p>
        </p:txBody>
      </p:sp>
      <p:sp>
        <p:nvSpPr>
          <p:cNvPr id="479" name="Google Shape;479;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 name="Shape 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nvSpPr>
        <p:spPr>
          <a:xfrm>
            <a:off x="8467725" y="4973320"/>
            <a:ext cx="633413" cy="106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Calibri"/>
                <a:ea typeface="Calibri"/>
                <a:cs typeface="Calibri"/>
                <a:sym typeface="Calibri"/>
              </a:rPr>
              <a:t>ESSITY INTERNAL</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13.png"/><Relationship Id="rId6"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848"/>
        </a:solidFill>
      </p:bgPr>
    </p:bg>
    <p:spTree>
      <p:nvGrpSpPr>
        <p:cNvPr id="12" name="Shape 12"/>
        <p:cNvGrpSpPr/>
        <p:nvPr/>
      </p:nvGrpSpPr>
      <p:grpSpPr>
        <a:xfrm>
          <a:off x="0" y="0"/>
          <a:ext cx="0" cy="0"/>
          <a:chOff x="0" y="0"/>
          <a:chExt cx="0" cy="0"/>
        </a:xfrm>
      </p:grpSpPr>
      <p:sp>
        <p:nvSpPr>
          <p:cNvPr id="13" name="Google Shape;13;p1"/>
          <p:cNvSpPr/>
          <p:nvPr/>
        </p:nvSpPr>
        <p:spPr>
          <a:xfrm>
            <a:off x="0" y="0"/>
            <a:ext cx="164592" cy="5143500"/>
          </a:xfrm>
          <a:prstGeom prst="rect">
            <a:avLst/>
          </a:prstGeom>
          <a:solidFill>
            <a:srgbClr val="D8D8D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 name="Google Shape;14;p1"/>
          <p:cNvSpPr/>
          <p:nvPr/>
        </p:nvSpPr>
        <p:spPr>
          <a:xfrm>
            <a:off x="7059168" y="-571500"/>
            <a:ext cx="2926080" cy="2926080"/>
          </a:xfrm>
          <a:prstGeom prst="ellipse">
            <a:avLst/>
          </a:prstGeom>
          <a:solidFill>
            <a:srgbClr val="1A2E6E">
              <a:alpha val="7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 name="Google Shape;15;p1"/>
          <p:cNvSpPr/>
          <p:nvPr/>
        </p:nvSpPr>
        <p:spPr>
          <a:xfrm>
            <a:off x="8065008" y="3440431"/>
            <a:ext cx="1828800" cy="1828800"/>
          </a:xfrm>
          <a:prstGeom prst="ellipse">
            <a:avLst/>
          </a:prstGeom>
          <a:solidFill>
            <a:srgbClr val="0D2255">
              <a:alpha val="6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 name="Google Shape;16;p1"/>
          <p:cNvSpPr/>
          <p:nvPr/>
        </p:nvSpPr>
        <p:spPr>
          <a:xfrm>
            <a:off x="457200" y="1937388"/>
            <a:ext cx="7772400" cy="1737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FFFFFF"/>
                </a:solidFill>
                <a:latin typeface="Calibri"/>
                <a:ea typeface="Calibri"/>
                <a:cs typeface="Calibri"/>
                <a:sym typeface="Calibri"/>
              </a:rPr>
              <a:t>Predicción de Ventas</a:t>
            </a:r>
            <a:endParaRPr b="0" i="0" sz="4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4200"/>
              <a:buFont typeface="Calibri"/>
              <a:buNone/>
            </a:pPr>
            <a:r>
              <a:t/>
            </a:r>
            <a:endParaRPr b="0" i="0" sz="4200" u="none" cap="none" strike="noStrike">
              <a:solidFill>
                <a:schemeClr val="dk1"/>
              </a:solidFill>
              <a:latin typeface="Calibri"/>
              <a:ea typeface="Calibri"/>
              <a:cs typeface="Calibri"/>
              <a:sym typeface="Calibri"/>
            </a:endParaRPr>
          </a:p>
        </p:txBody>
      </p:sp>
      <p:sp>
        <p:nvSpPr>
          <p:cNvPr id="17" name="Google Shape;17;p1"/>
          <p:cNvSpPr/>
          <p:nvPr/>
        </p:nvSpPr>
        <p:spPr>
          <a:xfrm>
            <a:off x="457200" y="4892040"/>
            <a:ext cx="822960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7AB5"/>
              </a:buClr>
              <a:buSzPts val="850"/>
              <a:buFont typeface="Calibri"/>
              <a:buNone/>
            </a:pPr>
            <a:r>
              <a:rPr b="0" i="0" lang="en-US" sz="850" u="none" cap="none" strike="noStrike">
                <a:solidFill>
                  <a:srgbClr val="5A7AB5"/>
                </a:solidFill>
                <a:latin typeface="Calibri"/>
                <a:ea typeface="Calibri"/>
                <a:cs typeface="Calibri"/>
                <a:sym typeface="Calibri"/>
              </a:rPr>
              <a:t>Hackaton 2026 • Machine Learning Aplicado al Retail</a:t>
            </a:r>
            <a:endParaRPr b="0" i="0" sz="850" u="none" cap="none" strike="noStrike">
              <a:solidFill>
                <a:schemeClr val="dk1"/>
              </a:solidFill>
              <a:latin typeface="Calibri"/>
              <a:ea typeface="Calibri"/>
              <a:cs typeface="Calibri"/>
              <a:sym typeface="Calibri"/>
            </a:endParaRPr>
          </a:p>
        </p:txBody>
      </p:sp>
      <p:sp>
        <p:nvSpPr>
          <p:cNvPr id="18" name="Google Shape;18;p1"/>
          <p:cNvSpPr/>
          <p:nvPr/>
        </p:nvSpPr>
        <p:spPr>
          <a:xfrm>
            <a:off x="630936" y="2571750"/>
            <a:ext cx="73152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A0B8C8"/>
                </a:solidFill>
                <a:latin typeface="Calibri"/>
                <a:ea typeface="Calibri"/>
                <a:cs typeface="Calibri"/>
                <a:sym typeface="Calibri"/>
              </a:rPr>
              <a:t>Usando Variables Estructurales y Machine Learning</a:t>
            </a:r>
            <a:endParaRPr b="0" i="0" sz="1700" u="none" cap="none" strike="noStrike">
              <a:solidFill>
                <a:srgbClr val="000000"/>
              </a:solidFill>
              <a:latin typeface="Arial"/>
              <a:ea typeface="Arial"/>
              <a:cs typeface="Arial"/>
              <a:sym typeface="Arial"/>
            </a:endParaRPr>
          </a:p>
        </p:txBody>
      </p:sp>
      <p:sp>
        <p:nvSpPr>
          <p:cNvPr id="19" name="Google Shape;19;p1"/>
          <p:cNvSpPr/>
          <p:nvPr/>
        </p:nvSpPr>
        <p:spPr>
          <a:xfrm>
            <a:off x="630936" y="1343024"/>
            <a:ext cx="7315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chemeClr val="lt1"/>
                </a:solidFill>
                <a:latin typeface="Calibri"/>
                <a:ea typeface="Calibri"/>
                <a:cs typeface="Calibri"/>
                <a:sym typeface="Calibri"/>
              </a:rPr>
              <a:t>MODELO PREDICTIVO DE NEGOCIOS</a:t>
            </a:r>
            <a:endParaRPr b="0" i="0" sz="1000" u="none" cap="none" strike="noStrike">
              <a:solidFill>
                <a:schemeClr val="lt1"/>
              </a:solidFill>
              <a:latin typeface="Arial"/>
              <a:ea typeface="Arial"/>
              <a:cs typeface="Arial"/>
              <a:sym typeface="Arial"/>
            </a:endParaRPr>
          </a:p>
        </p:txBody>
      </p:sp>
      <p:sp>
        <p:nvSpPr>
          <p:cNvPr id="20" name="Google Shape;20;p1"/>
          <p:cNvSpPr/>
          <p:nvPr/>
        </p:nvSpPr>
        <p:spPr>
          <a:xfrm>
            <a:off x="457200" y="1097280"/>
            <a:ext cx="54864" cy="2926080"/>
          </a:xfrm>
          <a:prstGeom prst="rect">
            <a:avLst/>
          </a:prstGeom>
          <a:solidFill>
            <a:srgbClr val="BF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1"/>
          <p:cNvSpPr/>
          <p:nvPr/>
        </p:nvSpPr>
        <p:spPr>
          <a:xfrm>
            <a:off x="457200" y="4114800"/>
            <a:ext cx="8229600" cy="13716"/>
          </a:xfrm>
          <a:prstGeom prst="rect">
            <a:avLst/>
          </a:prstGeom>
          <a:solidFill>
            <a:srgbClr val="2A3E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1"/>
          <p:cNvSpPr/>
          <p:nvPr/>
        </p:nvSpPr>
        <p:spPr>
          <a:xfrm>
            <a:off x="484632" y="4128516"/>
            <a:ext cx="8229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5A7A8A"/>
                </a:solidFill>
                <a:latin typeface="Calibri"/>
                <a:ea typeface="Calibri"/>
                <a:cs typeface="Calibri"/>
                <a:sym typeface="Calibri"/>
              </a:rPr>
              <a:t>KNN  ·  Random Forest  ·  20 Variables Clave  ·  4,750 Locales Analizados</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sp>
        <p:nvSpPr>
          <p:cNvPr id="28" name="Google Shape;28;p20"/>
          <p:cNvSpPr/>
          <p:nvPr/>
        </p:nvSpPr>
        <p:spPr>
          <a:xfrm>
            <a:off x="9144" y="-9144"/>
            <a:ext cx="9144000" cy="708660"/>
          </a:xfrm>
          <a:prstGeom prst="rect">
            <a:avLst/>
          </a:prstGeom>
          <a:solidFill>
            <a:srgbClr val="00184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9" name="Google Shape;29;p20"/>
          <p:cNvSpPr/>
          <p:nvPr/>
        </p:nvSpPr>
        <p:spPr>
          <a:xfrm>
            <a:off x="182880" y="-4572"/>
            <a:ext cx="82296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El Problema · La Solución</a:t>
            </a:r>
            <a:endParaRPr b="0" i="0" sz="2600" u="none" cap="none" strike="noStrike">
              <a:solidFill>
                <a:srgbClr val="000000"/>
              </a:solidFill>
              <a:latin typeface="Arial"/>
              <a:ea typeface="Arial"/>
              <a:cs typeface="Arial"/>
              <a:sym typeface="Arial"/>
            </a:endParaRPr>
          </a:p>
        </p:txBody>
      </p:sp>
      <p:sp>
        <p:nvSpPr>
          <p:cNvPr id="30" name="Google Shape;30;p20"/>
          <p:cNvSpPr/>
          <p:nvPr/>
        </p:nvSpPr>
        <p:spPr>
          <a:xfrm>
            <a:off x="4526280" y="1005840"/>
            <a:ext cx="54864" cy="3575304"/>
          </a:xfrm>
          <a:prstGeom prst="rect">
            <a:avLst/>
          </a:prstGeom>
          <a:solidFill>
            <a:srgbClr val="D0DC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0"/>
          <p:cNvSpPr/>
          <p:nvPr/>
        </p:nvSpPr>
        <p:spPr>
          <a:xfrm>
            <a:off x="365760" y="1051560"/>
            <a:ext cx="39319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C0392B"/>
                </a:solidFill>
                <a:latin typeface="Calibri"/>
                <a:ea typeface="Calibri"/>
                <a:cs typeface="Calibri"/>
                <a:sym typeface="Calibri"/>
              </a:rPr>
              <a:t>⚠  El Problema</a:t>
            </a:r>
            <a:endParaRPr b="0" i="0" sz="1500" u="none" cap="none" strike="noStrike">
              <a:solidFill>
                <a:srgbClr val="000000"/>
              </a:solidFill>
              <a:latin typeface="Arial"/>
              <a:ea typeface="Arial"/>
              <a:cs typeface="Arial"/>
              <a:sym typeface="Arial"/>
            </a:endParaRPr>
          </a:p>
        </p:txBody>
      </p:sp>
      <p:sp>
        <p:nvSpPr>
          <p:cNvPr id="32" name="Google Shape;32;p20"/>
          <p:cNvSpPr/>
          <p:nvPr/>
        </p:nvSpPr>
        <p:spPr>
          <a:xfrm>
            <a:off x="365760" y="1554480"/>
            <a:ext cx="3931920" cy="914400"/>
          </a:xfrm>
          <a:prstGeom prst="rect">
            <a:avLst/>
          </a:prstGeom>
          <a:solidFill>
            <a:srgbClr val="FFFFFF"/>
          </a:solidFill>
          <a:ln cap="flat" cmpd="sng" w="9525">
            <a:solidFill>
              <a:srgbClr val="E8EDF2"/>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0"/>
          <p:cNvSpPr/>
          <p:nvPr/>
        </p:nvSpPr>
        <p:spPr>
          <a:xfrm>
            <a:off x="365760" y="1554480"/>
            <a:ext cx="54864" cy="914400"/>
          </a:xfrm>
          <a:prstGeom prst="rect">
            <a:avLst/>
          </a:prstGeom>
          <a:solidFill>
            <a:srgbClr val="C039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0"/>
          <p:cNvSpPr/>
          <p:nvPr/>
        </p:nvSpPr>
        <p:spPr>
          <a:xfrm>
            <a:off x="530352" y="1618488"/>
            <a:ext cx="37490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D1B2A"/>
                </a:solidFill>
                <a:latin typeface="Calibri"/>
                <a:ea typeface="Calibri"/>
                <a:cs typeface="Calibri"/>
                <a:sym typeface="Calibri"/>
              </a:rPr>
              <a:t>Alta tasa de fracaso</a:t>
            </a:r>
            <a:endParaRPr b="0" i="0" sz="1200" u="none" cap="none" strike="noStrike">
              <a:solidFill>
                <a:srgbClr val="000000"/>
              </a:solidFill>
              <a:latin typeface="Arial"/>
              <a:ea typeface="Arial"/>
              <a:cs typeface="Arial"/>
              <a:sym typeface="Arial"/>
            </a:endParaRPr>
          </a:p>
        </p:txBody>
      </p:sp>
      <p:sp>
        <p:nvSpPr>
          <p:cNvPr id="35" name="Google Shape;35;p20"/>
          <p:cNvSpPr/>
          <p:nvPr/>
        </p:nvSpPr>
        <p:spPr>
          <a:xfrm>
            <a:off x="530352" y="1883664"/>
            <a:ext cx="3749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4A6070"/>
                </a:solidFill>
                <a:latin typeface="Calibri"/>
                <a:ea typeface="Calibri"/>
                <a:cs typeface="Calibri"/>
                <a:sym typeface="Calibri"/>
              </a:rPr>
              <a:t>50–70% de los nuevos negocios cierran antes de los 5 años. Rubro y ubicación son factores decisivos.</a:t>
            </a:r>
            <a:endParaRPr b="0" i="0" sz="1050" u="none" cap="none" strike="noStrike">
              <a:solidFill>
                <a:srgbClr val="000000"/>
              </a:solidFill>
              <a:latin typeface="Arial"/>
              <a:ea typeface="Arial"/>
              <a:cs typeface="Arial"/>
              <a:sym typeface="Arial"/>
            </a:endParaRPr>
          </a:p>
        </p:txBody>
      </p:sp>
      <p:sp>
        <p:nvSpPr>
          <p:cNvPr id="36" name="Google Shape;36;p20"/>
          <p:cNvSpPr/>
          <p:nvPr/>
        </p:nvSpPr>
        <p:spPr>
          <a:xfrm>
            <a:off x="365760" y="2578608"/>
            <a:ext cx="3931920" cy="914400"/>
          </a:xfrm>
          <a:prstGeom prst="rect">
            <a:avLst/>
          </a:prstGeom>
          <a:solidFill>
            <a:srgbClr val="FFFFFF"/>
          </a:solidFill>
          <a:ln cap="flat" cmpd="sng" w="9525">
            <a:solidFill>
              <a:srgbClr val="E8EDF2"/>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0"/>
          <p:cNvSpPr/>
          <p:nvPr/>
        </p:nvSpPr>
        <p:spPr>
          <a:xfrm>
            <a:off x="365760" y="2578608"/>
            <a:ext cx="54864" cy="914400"/>
          </a:xfrm>
          <a:prstGeom prst="rect">
            <a:avLst/>
          </a:prstGeom>
          <a:solidFill>
            <a:srgbClr val="C039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0"/>
          <p:cNvSpPr/>
          <p:nvPr/>
        </p:nvSpPr>
        <p:spPr>
          <a:xfrm>
            <a:off x="530352" y="2642616"/>
            <a:ext cx="37490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D1B2A"/>
                </a:solidFill>
                <a:latin typeface="Calibri"/>
                <a:ea typeface="Calibri"/>
                <a:cs typeface="Calibri"/>
                <a:sym typeface="Calibri"/>
              </a:rPr>
              <a:t>Decisiones basadas en intuición</a:t>
            </a:r>
            <a:endParaRPr b="0" i="0" sz="1200" u="none" cap="none" strike="noStrike">
              <a:solidFill>
                <a:srgbClr val="000000"/>
              </a:solidFill>
              <a:latin typeface="Arial"/>
              <a:ea typeface="Arial"/>
              <a:cs typeface="Arial"/>
              <a:sym typeface="Arial"/>
            </a:endParaRPr>
          </a:p>
        </p:txBody>
      </p:sp>
      <p:sp>
        <p:nvSpPr>
          <p:cNvPr id="39" name="Google Shape;39;p20"/>
          <p:cNvSpPr/>
          <p:nvPr/>
        </p:nvSpPr>
        <p:spPr>
          <a:xfrm>
            <a:off x="530352" y="2907792"/>
            <a:ext cx="3749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4A6070"/>
                </a:solidFill>
                <a:latin typeface="Calibri"/>
                <a:ea typeface="Calibri"/>
                <a:cs typeface="Calibri"/>
                <a:sym typeface="Calibri"/>
              </a:rPr>
              <a:t>Los propietarios invierten sin contar con datos objetivos que respalden la decisión.</a:t>
            </a:r>
            <a:endParaRPr b="0" i="0" sz="1050" u="none" cap="none" strike="noStrike">
              <a:solidFill>
                <a:srgbClr val="000000"/>
              </a:solidFill>
              <a:latin typeface="Arial"/>
              <a:ea typeface="Arial"/>
              <a:cs typeface="Arial"/>
              <a:sym typeface="Arial"/>
            </a:endParaRPr>
          </a:p>
        </p:txBody>
      </p:sp>
      <p:sp>
        <p:nvSpPr>
          <p:cNvPr id="40" name="Google Shape;40;p20"/>
          <p:cNvSpPr/>
          <p:nvPr/>
        </p:nvSpPr>
        <p:spPr>
          <a:xfrm>
            <a:off x="365760" y="3602736"/>
            <a:ext cx="3931920" cy="914400"/>
          </a:xfrm>
          <a:prstGeom prst="rect">
            <a:avLst/>
          </a:prstGeom>
          <a:solidFill>
            <a:srgbClr val="FFFFFF"/>
          </a:solidFill>
          <a:ln cap="flat" cmpd="sng" w="9525">
            <a:solidFill>
              <a:srgbClr val="E8EDF2"/>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0"/>
          <p:cNvSpPr/>
          <p:nvPr/>
        </p:nvSpPr>
        <p:spPr>
          <a:xfrm>
            <a:off x="365760" y="3602736"/>
            <a:ext cx="54864" cy="914400"/>
          </a:xfrm>
          <a:prstGeom prst="rect">
            <a:avLst/>
          </a:prstGeom>
          <a:solidFill>
            <a:srgbClr val="C039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0"/>
          <p:cNvSpPr/>
          <p:nvPr/>
        </p:nvSpPr>
        <p:spPr>
          <a:xfrm>
            <a:off x="530352" y="3666744"/>
            <a:ext cx="37490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D1B2A"/>
                </a:solidFill>
                <a:latin typeface="Calibri"/>
                <a:ea typeface="Calibri"/>
                <a:cs typeface="Calibri"/>
                <a:sym typeface="Calibri"/>
              </a:rPr>
              <a:t>Sin herramienta de estimación</a:t>
            </a:r>
            <a:endParaRPr b="0" i="0" sz="1200" u="none" cap="none" strike="noStrike">
              <a:solidFill>
                <a:srgbClr val="000000"/>
              </a:solidFill>
              <a:latin typeface="Arial"/>
              <a:ea typeface="Arial"/>
              <a:cs typeface="Arial"/>
              <a:sym typeface="Arial"/>
            </a:endParaRPr>
          </a:p>
        </p:txBody>
      </p:sp>
      <p:sp>
        <p:nvSpPr>
          <p:cNvPr id="43" name="Google Shape;43;p20"/>
          <p:cNvSpPr/>
          <p:nvPr/>
        </p:nvSpPr>
        <p:spPr>
          <a:xfrm>
            <a:off x="530352" y="3931920"/>
            <a:ext cx="3749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4A6070"/>
                </a:solidFill>
                <a:latin typeface="Calibri"/>
                <a:ea typeface="Calibri"/>
                <a:cs typeface="Calibri"/>
                <a:sym typeface="Calibri"/>
              </a:rPr>
              <a:t>No existe una herramienta que calcule ventas esperadas antes de firmar un contrato de arrendamiento.</a:t>
            </a:r>
            <a:endParaRPr b="0" i="0" sz="1050" u="none" cap="none" strike="noStrike">
              <a:solidFill>
                <a:srgbClr val="000000"/>
              </a:solidFill>
              <a:latin typeface="Arial"/>
              <a:ea typeface="Arial"/>
              <a:cs typeface="Arial"/>
              <a:sym typeface="Arial"/>
            </a:endParaRPr>
          </a:p>
        </p:txBody>
      </p:sp>
      <p:sp>
        <p:nvSpPr>
          <p:cNvPr id="44" name="Google Shape;44;p20"/>
          <p:cNvSpPr/>
          <p:nvPr/>
        </p:nvSpPr>
        <p:spPr>
          <a:xfrm>
            <a:off x="4800600" y="1051560"/>
            <a:ext cx="39776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855A"/>
                </a:solidFill>
                <a:latin typeface="Calibri"/>
                <a:ea typeface="Calibri"/>
                <a:cs typeface="Calibri"/>
                <a:sym typeface="Calibri"/>
              </a:rPr>
              <a:t>✓  La Solución</a:t>
            </a:r>
            <a:endParaRPr b="0" i="0" sz="1500" u="none" cap="none" strike="noStrike">
              <a:solidFill>
                <a:srgbClr val="000000"/>
              </a:solidFill>
              <a:latin typeface="Arial"/>
              <a:ea typeface="Arial"/>
              <a:cs typeface="Arial"/>
              <a:sym typeface="Arial"/>
            </a:endParaRPr>
          </a:p>
        </p:txBody>
      </p:sp>
      <p:sp>
        <p:nvSpPr>
          <p:cNvPr id="45" name="Google Shape;45;p20"/>
          <p:cNvSpPr/>
          <p:nvPr/>
        </p:nvSpPr>
        <p:spPr>
          <a:xfrm>
            <a:off x="4800600" y="1554480"/>
            <a:ext cx="3977640" cy="914400"/>
          </a:xfrm>
          <a:prstGeom prst="rect">
            <a:avLst/>
          </a:prstGeom>
          <a:solidFill>
            <a:srgbClr val="FFFFFF"/>
          </a:solidFill>
          <a:ln cap="flat" cmpd="sng" w="9525">
            <a:solidFill>
              <a:srgbClr val="E8EDF2"/>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0"/>
          <p:cNvSpPr/>
          <p:nvPr/>
        </p:nvSpPr>
        <p:spPr>
          <a:xfrm>
            <a:off x="4800600" y="1554480"/>
            <a:ext cx="54864" cy="914400"/>
          </a:xfrm>
          <a:prstGeom prst="rect">
            <a:avLst/>
          </a:prstGeom>
          <a:solidFill>
            <a:srgbClr val="FFD9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0"/>
          <p:cNvSpPr/>
          <p:nvPr/>
        </p:nvSpPr>
        <p:spPr>
          <a:xfrm>
            <a:off x="4965192" y="1618488"/>
            <a:ext cx="37490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D1B2A"/>
                </a:solidFill>
                <a:latin typeface="Calibri"/>
                <a:ea typeface="Calibri"/>
                <a:cs typeface="Calibri"/>
                <a:sym typeface="Calibri"/>
              </a:rPr>
              <a:t>Algoritmos de ML entrenados</a:t>
            </a:r>
            <a:endParaRPr b="0" i="0" sz="1200" u="none" cap="none" strike="noStrike">
              <a:solidFill>
                <a:srgbClr val="000000"/>
              </a:solidFill>
              <a:latin typeface="Arial"/>
              <a:ea typeface="Arial"/>
              <a:cs typeface="Arial"/>
              <a:sym typeface="Arial"/>
            </a:endParaRPr>
          </a:p>
        </p:txBody>
      </p:sp>
      <p:sp>
        <p:nvSpPr>
          <p:cNvPr id="48" name="Google Shape;48;p20"/>
          <p:cNvSpPr/>
          <p:nvPr/>
        </p:nvSpPr>
        <p:spPr>
          <a:xfrm>
            <a:off x="4965192" y="1883664"/>
            <a:ext cx="3749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4A6070"/>
                </a:solidFill>
                <a:latin typeface="Calibri"/>
                <a:ea typeface="Calibri"/>
                <a:cs typeface="Calibri"/>
                <a:sym typeface="Calibri"/>
              </a:rPr>
              <a:t>KNN y Random Forest entrenados con 4,750 locales para predecir ventas anuales con alta precisión.</a:t>
            </a:r>
            <a:endParaRPr b="0" i="0" sz="1050" u="none" cap="none" strike="noStrike">
              <a:solidFill>
                <a:srgbClr val="000000"/>
              </a:solidFill>
              <a:latin typeface="Arial"/>
              <a:ea typeface="Arial"/>
              <a:cs typeface="Arial"/>
              <a:sym typeface="Arial"/>
            </a:endParaRPr>
          </a:p>
        </p:txBody>
      </p:sp>
      <p:sp>
        <p:nvSpPr>
          <p:cNvPr id="49" name="Google Shape;49;p20"/>
          <p:cNvSpPr/>
          <p:nvPr/>
        </p:nvSpPr>
        <p:spPr>
          <a:xfrm>
            <a:off x="4800600" y="2578608"/>
            <a:ext cx="3977640" cy="914400"/>
          </a:xfrm>
          <a:prstGeom prst="rect">
            <a:avLst/>
          </a:prstGeom>
          <a:solidFill>
            <a:srgbClr val="FFFFFF"/>
          </a:solidFill>
          <a:ln cap="flat" cmpd="sng" w="9525">
            <a:solidFill>
              <a:srgbClr val="E8EDF2"/>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0"/>
          <p:cNvSpPr/>
          <p:nvPr/>
        </p:nvSpPr>
        <p:spPr>
          <a:xfrm>
            <a:off x="4800600" y="2578608"/>
            <a:ext cx="54864" cy="914400"/>
          </a:xfrm>
          <a:prstGeom prst="rect">
            <a:avLst/>
          </a:prstGeom>
          <a:solidFill>
            <a:srgbClr val="FFD9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0"/>
          <p:cNvSpPr/>
          <p:nvPr/>
        </p:nvSpPr>
        <p:spPr>
          <a:xfrm>
            <a:off x="4965192" y="2642616"/>
            <a:ext cx="37490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D1B2A"/>
                </a:solidFill>
                <a:latin typeface="Calibri"/>
                <a:ea typeface="Calibri"/>
                <a:cs typeface="Calibri"/>
                <a:sym typeface="Calibri"/>
              </a:rPr>
              <a:t>20 variables estructurales</a:t>
            </a:r>
            <a:endParaRPr b="0" i="0" sz="1200" u="none" cap="none" strike="noStrike">
              <a:solidFill>
                <a:srgbClr val="000000"/>
              </a:solidFill>
              <a:latin typeface="Arial"/>
              <a:ea typeface="Arial"/>
              <a:cs typeface="Arial"/>
              <a:sym typeface="Arial"/>
            </a:endParaRPr>
          </a:p>
        </p:txBody>
      </p:sp>
      <p:sp>
        <p:nvSpPr>
          <p:cNvPr id="52" name="Google Shape;52;p20"/>
          <p:cNvSpPr/>
          <p:nvPr/>
        </p:nvSpPr>
        <p:spPr>
          <a:xfrm>
            <a:off x="4965192" y="2907792"/>
            <a:ext cx="3749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4A6070"/>
                </a:solidFill>
                <a:latin typeface="Calibri"/>
                <a:ea typeface="Calibri"/>
                <a:cs typeface="Calibri"/>
                <a:sym typeface="Calibri"/>
              </a:rPr>
              <a:t>Ubicación, NSE, rubro, marketing, tránsito peatonal y más — capturan toda la complejidad del negocio.</a:t>
            </a:r>
            <a:endParaRPr b="0" i="0" sz="1050" u="none" cap="none" strike="noStrike">
              <a:solidFill>
                <a:srgbClr val="000000"/>
              </a:solidFill>
              <a:latin typeface="Arial"/>
              <a:ea typeface="Arial"/>
              <a:cs typeface="Arial"/>
              <a:sym typeface="Arial"/>
            </a:endParaRPr>
          </a:p>
        </p:txBody>
      </p:sp>
      <p:sp>
        <p:nvSpPr>
          <p:cNvPr id="53" name="Google Shape;53;p20"/>
          <p:cNvSpPr/>
          <p:nvPr/>
        </p:nvSpPr>
        <p:spPr>
          <a:xfrm>
            <a:off x="4800600" y="3602736"/>
            <a:ext cx="3977640" cy="914400"/>
          </a:xfrm>
          <a:prstGeom prst="rect">
            <a:avLst/>
          </a:prstGeom>
          <a:solidFill>
            <a:srgbClr val="FFFFFF"/>
          </a:solidFill>
          <a:ln cap="flat" cmpd="sng" w="9525">
            <a:solidFill>
              <a:srgbClr val="E8EDF2"/>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0"/>
          <p:cNvSpPr/>
          <p:nvPr/>
        </p:nvSpPr>
        <p:spPr>
          <a:xfrm>
            <a:off x="4800600" y="3602736"/>
            <a:ext cx="54864" cy="914400"/>
          </a:xfrm>
          <a:prstGeom prst="rect">
            <a:avLst/>
          </a:prstGeom>
          <a:solidFill>
            <a:srgbClr val="FFD9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20"/>
          <p:cNvSpPr/>
          <p:nvPr/>
        </p:nvSpPr>
        <p:spPr>
          <a:xfrm>
            <a:off x="4965192" y="3666744"/>
            <a:ext cx="37490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D1B2A"/>
                </a:solidFill>
                <a:latin typeface="Calibri"/>
                <a:ea typeface="Calibri"/>
                <a:cs typeface="Calibri"/>
                <a:sym typeface="Calibri"/>
              </a:rPr>
              <a:t>Estimación en segundos</a:t>
            </a:r>
            <a:endParaRPr b="0" i="0" sz="1200" u="none" cap="none" strike="noStrike">
              <a:solidFill>
                <a:srgbClr val="000000"/>
              </a:solidFill>
              <a:latin typeface="Arial"/>
              <a:ea typeface="Arial"/>
              <a:cs typeface="Arial"/>
              <a:sym typeface="Arial"/>
            </a:endParaRPr>
          </a:p>
        </p:txBody>
      </p:sp>
      <p:sp>
        <p:nvSpPr>
          <p:cNvPr id="56" name="Google Shape;56;p20"/>
          <p:cNvSpPr/>
          <p:nvPr/>
        </p:nvSpPr>
        <p:spPr>
          <a:xfrm>
            <a:off x="4965192" y="3931920"/>
            <a:ext cx="37490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4A6070"/>
                </a:solidFill>
                <a:latin typeface="Calibri"/>
                <a:ea typeface="Calibri"/>
                <a:cs typeface="Calibri"/>
                <a:sym typeface="Calibri"/>
              </a:rPr>
              <a:t>Ingresás los datos del local y obtenés una estimación de ventas antes de comprometerte.</a:t>
            </a:r>
            <a:endParaRPr b="0" i="0" sz="1050" u="none" cap="none" strike="noStrike">
              <a:solidFill>
                <a:srgbClr val="000000"/>
              </a:solidFill>
              <a:latin typeface="Arial"/>
              <a:ea typeface="Arial"/>
              <a:cs typeface="Arial"/>
              <a:sym typeface="Arial"/>
            </a:endParaRPr>
          </a:p>
        </p:txBody>
      </p:sp>
      <p:sp>
        <p:nvSpPr>
          <p:cNvPr id="57" name="Google Shape;57;p20"/>
          <p:cNvSpPr/>
          <p:nvPr/>
        </p:nvSpPr>
        <p:spPr>
          <a:xfrm>
            <a:off x="521208" y="2303928"/>
            <a:ext cx="3886200" cy="183600"/>
          </a:xfrm>
          <a:prstGeom prst="rect">
            <a:avLst/>
          </a:prstGeom>
          <a:solidFill>
            <a:srgbClr val="EEF4FF"/>
          </a:solidFill>
          <a:ln>
            <a:noFill/>
          </a:ln>
        </p:spPr>
        <p:txBody>
          <a:bodyPr anchorCtr="0" anchor="ctr" bIns="30000" lIns="91425" spcFirstLastPara="1" rIns="91425" wrap="square" tIns="30000">
            <a:noAutofit/>
          </a:bodyPr>
          <a:lstStyle/>
          <a:p>
            <a:pPr indent="0" lvl="0" marL="0" marR="0" rtl="0" algn="l">
              <a:lnSpc>
                <a:spcPct val="100000"/>
              </a:lnSpc>
              <a:spcBef>
                <a:spcPts val="0"/>
              </a:spcBef>
              <a:spcAft>
                <a:spcPts val="0"/>
              </a:spcAft>
              <a:buClr>
                <a:srgbClr val="000000"/>
              </a:buClr>
              <a:buSzPts val="600"/>
              <a:buFont typeface="Arial"/>
              <a:buNone/>
            </a:pPr>
            <a:r>
              <a:rPr b="0" i="1" lang="en-US" sz="600" u="none" cap="none" strike="noStrike">
                <a:solidFill>
                  <a:srgbClr val="5070A0"/>
                </a:solidFill>
                <a:latin typeface="Calibri"/>
                <a:ea typeface="Calibri"/>
                <a:cs typeface="Calibri"/>
                <a:sym typeface="Calibri"/>
              </a:rPr>
              <a:t>Fuente: CAME 2025 – Argentina Relevamiento de emprendimientos</a:t>
            </a:r>
            <a:endParaRPr b="0" i="0" sz="1400" u="none" cap="none" strike="noStrike">
              <a:solidFill>
                <a:srgbClr val="000000"/>
              </a:solidFill>
              <a:latin typeface="Arial"/>
              <a:ea typeface="Arial"/>
              <a:cs typeface="Arial"/>
              <a:sym typeface="Arial"/>
            </a:endParaRPr>
          </a:p>
        </p:txBody>
      </p:sp>
      <p:pic>
        <p:nvPicPr>
          <p:cNvPr id="58" name="Google Shape;58;p20"/>
          <p:cNvPicPr preferRelativeResize="0"/>
          <p:nvPr/>
        </p:nvPicPr>
        <p:blipFill rotWithShape="1">
          <a:blip r:embed="rId3">
            <a:alphaModFix/>
          </a:blip>
          <a:srcRect b="0" l="0" r="0" t="0"/>
          <a:stretch/>
        </p:blipFill>
        <p:spPr>
          <a:xfrm>
            <a:off x="8001000" y="4956063"/>
            <a:ext cx="1143000" cy="161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BFF"/>
        </a:solidFill>
      </p:bgPr>
    </p:bg>
    <p:spTree>
      <p:nvGrpSpPr>
        <p:cNvPr id="63" name="Shape 63"/>
        <p:cNvGrpSpPr/>
        <p:nvPr/>
      </p:nvGrpSpPr>
      <p:grpSpPr>
        <a:xfrm>
          <a:off x="0" y="0"/>
          <a:ext cx="0" cy="0"/>
          <a:chOff x="0" y="0"/>
          <a:chExt cx="0" cy="0"/>
        </a:xfrm>
      </p:grpSpPr>
      <p:sp>
        <p:nvSpPr>
          <p:cNvPr id="64" name="Google Shape;64;p14"/>
          <p:cNvSpPr/>
          <p:nvPr/>
        </p:nvSpPr>
        <p:spPr>
          <a:xfrm>
            <a:off x="8320350" y="4903925"/>
            <a:ext cx="779700" cy="171000"/>
          </a:xfrm>
          <a:prstGeom prst="rect">
            <a:avLst/>
          </a:prstGeom>
          <a:solidFill>
            <a:srgbClr val="F8FBFF"/>
          </a:solidFill>
          <a:ln cap="flat" cmpd="sng" w="9525">
            <a:solidFill>
              <a:srgbClr val="F8F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4"/>
          <p:cNvSpPr/>
          <p:nvPr/>
        </p:nvSpPr>
        <p:spPr>
          <a:xfrm>
            <a:off x="0" y="0"/>
            <a:ext cx="9144000" cy="777240"/>
          </a:xfrm>
          <a:prstGeom prst="rect">
            <a:avLst/>
          </a:prstGeom>
          <a:solidFill>
            <a:srgbClr val="0D1B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 name="Google Shape;66;p14"/>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APLICACIÓN PRÁCTICA</a:t>
            </a:r>
            <a:endParaRPr b="0" i="0" sz="2200" u="none" cap="none" strike="noStrike">
              <a:solidFill>
                <a:schemeClr val="dk1"/>
              </a:solidFill>
              <a:latin typeface="Calibri"/>
              <a:ea typeface="Calibri"/>
              <a:cs typeface="Calibri"/>
              <a:sym typeface="Calibri"/>
            </a:endParaRPr>
          </a:p>
        </p:txBody>
      </p:sp>
      <p:sp>
        <p:nvSpPr>
          <p:cNvPr id="67" name="Google Shape;67;p14"/>
          <p:cNvSpPr/>
          <p:nvPr/>
        </p:nvSpPr>
        <p:spPr>
          <a:xfrm>
            <a:off x="0" y="777240"/>
            <a:ext cx="9144000" cy="54864"/>
          </a:xfrm>
          <a:prstGeom prst="rect">
            <a:avLst/>
          </a:prstGeom>
          <a:gradFill>
            <a:gsLst>
              <a:gs pos="0">
                <a:srgbClr val="DBDBDB"/>
              </a:gs>
              <a:gs pos="46000">
                <a:srgbClr val="A8A8A8"/>
              </a:gs>
              <a:gs pos="100000">
                <a:srgbClr val="636363"/>
              </a:gs>
            </a:gsLst>
            <a:path path="circle">
              <a:fillToRect b="50%" l="50%" r="50%" t="50%"/>
            </a:path>
            <a:tileRect/>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 name="Google Shape;68;p14"/>
          <p:cNvSpPr/>
          <p:nvPr/>
        </p:nvSpPr>
        <p:spPr>
          <a:xfrm>
            <a:off x="320040" y="960120"/>
            <a:ext cx="2697480" cy="352044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 name="Google Shape;69;p14"/>
          <p:cNvSpPr/>
          <p:nvPr/>
        </p:nvSpPr>
        <p:spPr>
          <a:xfrm>
            <a:off x="320040" y="960120"/>
            <a:ext cx="2697480" cy="411480"/>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 name="Google Shape;70;p14"/>
          <p:cNvSpPr/>
          <p:nvPr/>
        </p:nvSpPr>
        <p:spPr>
          <a:xfrm>
            <a:off x="411480" y="987552"/>
            <a:ext cx="2514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  Apertura de Locales</a:t>
            </a:r>
            <a:endParaRPr b="0" i="0" sz="1100" u="none" cap="none" strike="noStrike">
              <a:solidFill>
                <a:schemeClr val="dk1"/>
              </a:solidFill>
              <a:latin typeface="Calibri"/>
              <a:ea typeface="Calibri"/>
              <a:cs typeface="Calibri"/>
              <a:sym typeface="Calibri"/>
            </a:endParaRPr>
          </a:p>
        </p:txBody>
      </p:sp>
      <p:sp>
        <p:nvSpPr>
          <p:cNvPr id="71" name="Google Shape;71;p14"/>
          <p:cNvSpPr/>
          <p:nvPr/>
        </p:nvSpPr>
        <p:spPr>
          <a:xfrm>
            <a:off x="429775" y="1417324"/>
            <a:ext cx="2496300" cy="23598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Predecir ventas esperadas antes de firmar contrato de alquiler</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Comparar escenarios: Shopping  vs Calle Comercial C2</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Estimar ROI de la inversión CAPEX inicial</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Decidir el rubro óptimo según zona y nivel socioeconómico</a:t>
            </a:r>
            <a:endParaRPr b="0" i="0" sz="1100" u="none" cap="none" strike="noStrike">
              <a:solidFill>
                <a:schemeClr val="dk1"/>
              </a:solidFill>
              <a:latin typeface="Calibri"/>
              <a:ea typeface="Calibri"/>
              <a:cs typeface="Calibri"/>
              <a:sym typeface="Calibri"/>
            </a:endParaRPr>
          </a:p>
        </p:txBody>
      </p:sp>
      <p:sp>
        <p:nvSpPr>
          <p:cNvPr id="72" name="Google Shape;72;p14"/>
          <p:cNvSpPr/>
          <p:nvPr/>
        </p:nvSpPr>
        <p:spPr>
          <a:xfrm>
            <a:off x="3264408" y="960120"/>
            <a:ext cx="2697480" cy="352044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 name="Google Shape;73;p14"/>
          <p:cNvSpPr/>
          <p:nvPr/>
        </p:nvSpPr>
        <p:spPr>
          <a:xfrm>
            <a:off x="3264408" y="960120"/>
            <a:ext cx="2697480" cy="411480"/>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 name="Google Shape;74;p14"/>
          <p:cNvSpPr/>
          <p:nvPr/>
        </p:nvSpPr>
        <p:spPr>
          <a:xfrm>
            <a:off x="3355848" y="987552"/>
            <a:ext cx="2514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  Optimización Operativa</a:t>
            </a:r>
            <a:endParaRPr b="0" i="0" sz="1100" u="none" cap="none" strike="noStrike">
              <a:solidFill>
                <a:schemeClr val="dk1"/>
              </a:solidFill>
              <a:latin typeface="Calibri"/>
              <a:ea typeface="Calibri"/>
              <a:cs typeface="Calibri"/>
              <a:sym typeface="Calibri"/>
            </a:endParaRPr>
          </a:p>
        </p:txBody>
      </p:sp>
      <p:sp>
        <p:nvSpPr>
          <p:cNvPr id="75" name="Google Shape;75;p14"/>
          <p:cNvSpPr/>
          <p:nvPr/>
        </p:nvSpPr>
        <p:spPr>
          <a:xfrm>
            <a:off x="3374125" y="1417324"/>
            <a:ext cx="2496300" cy="24369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Simular el impacto de aumentar inversión en marketing</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Evaluar si vale la pena mudarse a una ubicación en esquina (+14%)</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Definir el presupuesto de marketing mensual óptimo</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333333"/>
              </a:buClr>
              <a:buSzPts val="1100"/>
              <a:buFont typeface="Calibri"/>
              <a:buChar char="•"/>
            </a:pPr>
            <a:r>
              <a:rPr b="0" i="0" lang="en-US" sz="1100" u="none" cap="none" strike="noStrike">
                <a:solidFill>
                  <a:srgbClr val="333333"/>
                </a:solidFill>
                <a:latin typeface="Calibri"/>
                <a:ea typeface="Calibri"/>
                <a:cs typeface="Calibri"/>
                <a:sym typeface="Calibri"/>
              </a:rPr>
              <a:t>Identificar locales bajo-performance respecto a su predicción</a:t>
            </a:r>
            <a:endParaRPr b="0" i="0" sz="1100" u="none" cap="none" strike="noStrike">
              <a:solidFill>
                <a:schemeClr val="dk1"/>
              </a:solidFill>
              <a:latin typeface="Calibri"/>
              <a:ea typeface="Calibri"/>
              <a:cs typeface="Calibri"/>
              <a:sym typeface="Calibri"/>
            </a:endParaRPr>
          </a:p>
        </p:txBody>
      </p:sp>
      <p:sp>
        <p:nvSpPr>
          <p:cNvPr id="76" name="Google Shape;76;p14"/>
          <p:cNvSpPr/>
          <p:nvPr/>
        </p:nvSpPr>
        <p:spPr>
          <a:xfrm>
            <a:off x="6208776" y="960120"/>
            <a:ext cx="2697480" cy="352044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 name="Google Shape;77;p14"/>
          <p:cNvSpPr/>
          <p:nvPr/>
        </p:nvSpPr>
        <p:spPr>
          <a:xfrm>
            <a:off x="6208776" y="960120"/>
            <a:ext cx="2697480" cy="411480"/>
          </a:xfrm>
          <a:prstGeom prst="rect">
            <a:avLst/>
          </a:prstGeom>
          <a:solidFill>
            <a:srgbClr val="6A1B9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 name="Google Shape;78;p14"/>
          <p:cNvSpPr/>
          <p:nvPr/>
        </p:nvSpPr>
        <p:spPr>
          <a:xfrm>
            <a:off x="6300216" y="987552"/>
            <a:ext cx="2514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  Decisiones Financieras</a:t>
            </a:r>
            <a:endParaRPr b="0" i="0" sz="1100" u="none" cap="none" strike="noStrike">
              <a:solidFill>
                <a:schemeClr val="dk1"/>
              </a:solidFill>
              <a:latin typeface="Calibri"/>
              <a:ea typeface="Calibri"/>
              <a:cs typeface="Calibri"/>
              <a:sym typeface="Calibri"/>
            </a:endParaRPr>
          </a:p>
        </p:txBody>
      </p:sp>
      <p:sp>
        <p:nvSpPr>
          <p:cNvPr id="79" name="Google Shape;79;p14"/>
          <p:cNvSpPr/>
          <p:nvPr/>
        </p:nvSpPr>
        <p:spPr>
          <a:xfrm>
            <a:off x="6318500" y="1417325"/>
            <a:ext cx="2496300" cy="23598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33333"/>
              </a:buClr>
              <a:buSzPts val="1200"/>
              <a:buFont typeface="Calibri"/>
              <a:buChar char="•"/>
            </a:pPr>
            <a:r>
              <a:rPr b="0" i="0" lang="en-US" sz="1200" u="none" cap="none" strike="noStrike">
                <a:solidFill>
                  <a:srgbClr val="333333"/>
                </a:solidFill>
                <a:latin typeface="Calibri"/>
                <a:ea typeface="Calibri"/>
                <a:cs typeface="Calibri"/>
                <a:sym typeface="Calibri"/>
              </a:rPr>
              <a:t>Proyecciones de flujo de caja para inversores</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333333"/>
              </a:buClr>
              <a:buSzPts val="1200"/>
              <a:buFont typeface="Calibri"/>
              <a:buChar char="•"/>
            </a:pPr>
            <a:r>
              <a:rPr b="0" i="0" lang="en-US" sz="1200" u="none" cap="none" strike="noStrike">
                <a:solidFill>
                  <a:srgbClr val="333333"/>
                </a:solidFill>
                <a:latin typeface="Calibri"/>
                <a:ea typeface="Calibri"/>
                <a:cs typeface="Calibri"/>
                <a:sym typeface="Calibri"/>
              </a:rPr>
              <a:t>Valuar el portfolio de locales de una cadena</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333333"/>
              </a:buClr>
              <a:buSzPts val="1200"/>
              <a:buFont typeface="Calibri"/>
              <a:buChar char="•"/>
            </a:pPr>
            <a:r>
              <a:rPr b="0" i="0" lang="en-US" sz="1200" u="none" cap="none" strike="noStrike">
                <a:solidFill>
                  <a:srgbClr val="333333"/>
                </a:solidFill>
                <a:latin typeface="Calibri"/>
                <a:ea typeface="Calibri"/>
                <a:cs typeface="Calibri"/>
                <a:sym typeface="Calibri"/>
              </a:rPr>
              <a:t>Presentar proyecciones fundamentadas ante entidades financieras.</a:t>
            </a:r>
            <a:endParaRPr b="0" i="0" sz="1700" u="none" cap="none" strike="noStrike">
              <a:solidFill>
                <a:srgbClr val="000000"/>
              </a:solidFill>
              <a:latin typeface="Arial"/>
              <a:ea typeface="Arial"/>
              <a:cs typeface="Arial"/>
              <a:sym typeface="Arial"/>
            </a:endParaRPr>
          </a:p>
          <a:p>
            <a:pPr indent="-285750" lvl="0" marL="342900" marR="0" rtl="0" algn="l">
              <a:lnSpc>
                <a:spcPct val="100000"/>
              </a:lnSpc>
              <a:spcBef>
                <a:spcPts val="500"/>
              </a:spcBef>
              <a:spcAft>
                <a:spcPts val="0"/>
              </a:spcAft>
              <a:buClr>
                <a:srgbClr val="333333"/>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80" name="Google Shape;80;p14"/>
          <p:cNvSpPr/>
          <p:nvPr/>
        </p:nvSpPr>
        <p:spPr>
          <a:xfrm>
            <a:off x="320040" y="4572000"/>
            <a:ext cx="8503920" cy="502920"/>
          </a:xfrm>
          <a:prstGeom prst="rect">
            <a:avLst/>
          </a:prstGeom>
          <a:solidFill>
            <a:srgbClr val="FFF8E1"/>
          </a:solidFill>
          <a:ln cap="flat" cmpd="sng" w="12700">
            <a:solidFill>
              <a:srgbClr val="FFB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 name="Google Shape;81;p14"/>
          <p:cNvSpPr/>
          <p:nvPr/>
        </p:nvSpPr>
        <p:spPr>
          <a:xfrm>
            <a:off x="411480" y="4571988"/>
            <a:ext cx="8321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5800"/>
              </a:buClr>
              <a:buSzPts val="1000"/>
              <a:buFont typeface="Calibri"/>
              <a:buNone/>
            </a:pPr>
            <a:r>
              <a:rPr b="0" i="0" lang="en-US" sz="1000" u="none" cap="none" strike="noStrike">
                <a:solidFill>
                  <a:srgbClr val="7B5800"/>
                </a:solidFill>
                <a:latin typeface="Calibri"/>
                <a:ea typeface="Calibri"/>
                <a:cs typeface="Calibri"/>
                <a:sym typeface="Calibri"/>
              </a:rPr>
              <a:t>📌  Ejemplo: Local de Tecnología | Shopping | ABC1 | 150m² | Marketing $5,000/mes → Predicción RF: ~$875,000–$920,000 anuales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BFF"/>
        </a:solidFill>
      </p:bgPr>
    </p:bg>
    <p:spTree>
      <p:nvGrpSpPr>
        <p:cNvPr id="86" name="Shape 86"/>
        <p:cNvGrpSpPr/>
        <p:nvPr/>
      </p:nvGrpSpPr>
      <p:grpSpPr>
        <a:xfrm>
          <a:off x="0" y="0"/>
          <a:ext cx="0" cy="0"/>
          <a:chOff x="0" y="0"/>
          <a:chExt cx="0" cy="0"/>
        </a:xfrm>
      </p:grpSpPr>
      <p:sp>
        <p:nvSpPr>
          <p:cNvPr id="87" name="Google Shape;87;p3"/>
          <p:cNvSpPr/>
          <p:nvPr/>
        </p:nvSpPr>
        <p:spPr>
          <a:xfrm>
            <a:off x="8320350" y="4903925"/>
            <a:ext cx="779700" cy="171000"/>
          </a:xfrm>
          <a:prstGeom prst="rect">
            <a:avLst/>
          </a:prstGeom>
          <a:solidFill>
            <a:srgbClr val="F8FBFF"/>
          </a:solidFill>
          <a:ln cap="flat" cmpd="sng" w="9525">
            <a:solidFill>
              <a:srgbClr val="F8F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3"/>
          <p:cNvSpPr/>
          <p:nvPr/>
        </p:nvSpPr>
        <p:spPr>
          <a:xfrm>
            <a:off x="0" y="0"/>
            <a:ext cx="9144000" cy="777240"/>
          </a:xfrm>
          <a:prstGeom prst="rect">
            <a:avLst/>
          </a:prstGeom>
          <a:solidFill>
            <a:srgbClr val="0D1B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 name="Google Shape;89;p3"/>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DETALLE DEL DATASET</a:t>
            </a:r>
            <a:endParaRPr b="0" i="0" sz="2200" u="none" cap="none" strike="noStrike">
              <a:solidFill>
                <a:schemeClr val="dk1"/>
              </a:solidFill>
              <a:latin typeface="Calibri"/>
              <a:ea typeface="Calibri"/>
              <a:cs typeface="Calibri"/>
              <a:sym typeface="Calibri"/>
            </a:endParaRPr>
          </a:p>
        </p:txBody>
      </p:sp>
      <p:sp>
        <p:nvSpPr>
          <p:cNvPr id="90" name="Google Shape;90;p3"/>
          <p:cNvSpPr/>
          <p:nvPr/>
        </p:nvSpPr>
        <p:spPr>
          <a:xfrm>
            <a:off x="0" y="777240"/>
            <a:ext cx="9144000" cy="54864"/>
          </a:xfrm>
          <a:prstGeom prst="rect">
            <a:avLst/>
          </a:prstGeom>
          <a:gradFill>
            <a:gsLst>
              <a:gs pos="0">
                <a:srgbClr val="DBDBDB"/>
              </a:gs>
              <a:gs pos="46000">
                <a:srgbClr val="A8A8A8"/>
              </a:gs>
              <a:gs pos="100000">
                <a:srgbClr val="636363"/>
              </a:gs>
            </a:gsLst>
            <a:path path="circle">
              <a:fillToRect b="50%" l="50%" r="50%" t="50%"/>
            </a:path>
            <a:tileRect/>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91" name="Google Shape;91;p3"/>
          <p:cNvGrpSpPr/>
          <p:nvPr/>
        </p:nvGrpSpPr>
        <p:grpSpPr>
          <a:xfrm>
            <a:off x="1029947" y="1051560"/>
            <a:ext cx="1920240" cy="1005840"/>
            <a:chOff x="320040" y="1005840"/>
            <a:chExt cx="1920240" cy="1005840"/>
          </a:xfrm>
        </p:grpSpPr>
        <p:grpSp>
          <p:nvGrpSpPr>
            <p:cNvPr id="92" name="Google Shape;92;p3"/>
            <p:cNvGrpSpPr/>
            <p:nvPr/>
          </p:nvGrpSpPr>
          <p:grpSpPr>
            <a:xfrm>
              <a:off x="320040" y="1005840"/>
              <a:ext cx="1920240" cy="1005840"/>
              <a:chOff x="320040" y="1005840"/>
              <a:chExt cx="1920240" cy="1005840"/>
            </a:xfrm>
          </p:grpSpPr>
          <p:sp>
            <p:nvSpPr>
              <p:cNvPr id="93" name="Google Shape;93;p3"/>
              <p:cNvSpPr/>
              <p:nvPr/>
            </p:nvSpPr>
            <p:spPr>
              <a:xfrm>
                <a:off x="320040" y="1005840"/>
                <a:ext cx="1920240" cy="100584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3"/>
              <p:cNvSpPr/>
              <p:nvPr/>
            </p:nvSpPr>
            <p:spPr>
              <a:xfrm>
                <a:off x="320040" y="1115568"/>
                <a:ext cx="19202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65C0"/>
                  </a:buClr>
                  <a:buSzPts val="2800"/>
                  <a:buFont typeface="Calibri"/>
                  <a:buNone/>
                </a:pPr>
                <a:r>
                  <a:rPr b="1" i="0" lang="en-US" sz="2800" u="none" cap="none" strike="noStrike">
                    <a:solidFill>
                      <a:srgbClr val="1565C0"/>
                    </a:solidFill>
                    <a:latin typeface="Calibri"/>
                    <a:ea typeface="Calibri"/>
                    <a:cs typeface="Calibri"/>
                    <a:sym typeface="Calibri"/>
                  </a:rPr>
                  <a:t>4,750</a:t>
                </a:r>
                <a:endParaRPr b="0" i="0" sz="2800" u="none" cap="none" strike="noStrike">
                  <a:solidFill>
                    <a:schemeClr val="dk1"/>
                  </a:solidFill>
                  <a:latin typeface="Calibri"/>
                  <a:ea typeface="Calibri"/>
                  <a:cs typeface="Calibri"/>
                  <a:sym typeface="Calibri"/>
                </a:endParaRPr>
              </a:p>
            </p:txBody>
          </p:sp>
          <p:sp>
            <p:nvSpPr>
              <p:cNvPr id="95" name="Google Shape;95;p3"/>
              <p:cNvSpPr/>
              <p:nvPr/>
            </p:nvSpPr>
            <p:spPr>
              <a:xfrm>
                <a:off x="320040" y="1609344"/>
                <a:ext cx="19202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Registros totales</a:t>
                </a:r>
                <a:endParaRPr b="0" i="0" sz="950" u="none" cap="none" strike="noStrike">
                  <a:solidFill>
                    <a:schemeClr val="dk1"/>
                  </a:solidFill>
                  <a:latin typeface="Calibri"/>
                  <a:ea typeface="Calibri"/>
                  <a:cs typeface="Calibri"/>
                  <a:sym typeface="Calibri"/>
                </a:endParaRPr>
              </a:p>
            </p:txBody>
          </p:sp>
        </p:grpSp>
        <p:sp>
          <p:nvSpPr>
            <p:cNvPr id="96" name="Google Shape;96;p3"/>
            <p:cNvSpPr/>
            <p:nvPr/>
          </p:nvSpPr>
          <p:spPr>
            <a:xfrm>
              <a:off x="320040" y="1005840"/>
              <a:ext cx="1920240" cy="64008"/>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97" name="Google Shape;97;p3"/>
          <p:cNvGrpSpPr/>
          <p:nvPr/>
        </p:nvGrpSpPr>
        <p:grpSpPr>
          <a:xfrm>
            <a:off x="3538729" y="1060704"/>
            <a:ext cx="1920240" cy="1005840"/>
            <a:chOff x="2496312" y="1005840"/>
            <a:chExt cx="1920240" cy="1005840"/>
          </a:xfrm>
        </p:grpSpPr>
        <p:sp>
          <p:nvSpPr>
            <p:cNvPr id="98" name="Google Shape;98;p3"/>
            <p:cNvSpPr/>
            <p:nvPr/>
          </p:nvSpPr>
          <p:spPr>
            <a:xfrm>
              <a:off x="2496312" y="1005840"/>
              <a:ext cx="1920240" cy="100584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 name="Google Shape;99;p3"/>
            <p:cNvSpPr/>
            <p:nvPr/>
          </p:nvSpPr>
          <p:spPr>
            <a:xfrm>
              <a:off x="2496312" y="1005840"/>
              <a:ext cx="1920240" cy="64008"/>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 name="Google Shape;100;p3"/>
            <p:cNvSpPr/>
            <p:nvPr/>
          </p:nvSpPr>
          <p:spPr>
            <a:xfrm>
              <a:off x="2496312" y="1115568"/>
              <a:ext cx="19202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65C0"/>
                </a:buClr>
                <a:buSzPts val="2800"/>
                <a:buFont typeface="Calibri"/>
                <a:buNone/>
              </a:pPr>
              <a:r>
                <a:rPr b="1" i="0" lang="en-US" sz="2800" u="none" cap="none" strike="noStrike">
                  <a:solidFill>
                    <a:srgbClr val="1565C0"/>
                  </a:solidFill>
                  <a:latin typeface="Calibri"/>
                  <a:ea typeface="Calibri"/>
                  <a:cs typeface="Calibri"/>
                  <a:sym typeface="Calibri"/>
                </a:rPr>
                <a:t>20</a:t>
              </a:r>
              <a:endParaRPr b="0" i="0" sz="2800" u="none" cap="none" strike="noStrike">
                <a:solidFill>
                  <a:schemeClr val="dk1"/>
                </a:solidFill>
                <a:latin typeface="Calibri"/>
                <a:ea typeface="Calibri"/>
                <a:cs typeface="Calibri"/>
                <a:sym typeface="Calibri"/>
              </a:endParaRPr>
            </a:p>
          </p:txBody>
        </p:sp>
        <p:sp>
          <p:nvSpPr>
            <p:cNvPr id="101" name="Google Shape;101;p3"/>
            <p:cNvSpPr/>
            <p:nvPr/>
          </p:nvSpPr>
          <p:spPr>
            <a:xfrm>
              <a:off x="2496312" y="1609344"/>
              <a:ext cx="19202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Variables</a:t>
              </a:r>
              <a:endParaRPr b="0" i="0" sz="950" u="none" cap="none" strike="noStrike">
                <a:solidFill>
                  <a:schemeClr val="dk1"/>
                </a:solidFill>
                <a:latin typeface="Calibri"/>
                <a:ea typeface="Calibri"/>
                <a:cs typeface="Calibri"/>
                <a:sym typeface="Calibri"/>
              </a:endParaRPr>
            </a:p>
          </p:txBody>
        </p:sp>
      </p:grpSp>
      <p:grpSp>
        <p:nvGrpSpPr>
          <p:cNvPr id="102" name="Google Shape;102;p3"/>
          <p:cNvGrpSpPr/>
          <p:nvPr/>
        </p:nvGrpSpPr>
        <p:grpSpPr>
          <a:xfrm>
            <a:off x="6118999" y="1037844"/>
            <a:ext cx="1920240" cy="1005840"/>
            <a:chOff x="6193814" y="987552"/>
            <a:chExt cx="1920240" cy="1005840"/>
          </a:xfrm>
        </p:grpSpPr>
        <p:sp>
          <p:nvSpPr>
            <p:cNvPr id="103" name="Google Shape;103;p3"/>
            <p:cNvSpPr/>
            <p:nvPr/>
          </p:nvSpPr>
          <p:spPr>
            <a:xfrm>
              <a:off x="6193814" y="987552"/>
              <a:ext cx="1920240" cy="100584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04" name="Google Shape;104;p3"/>
            <p:cNvGrpSpPr/>
            <p:nvPr/>
          </p:nvGrpSpPr>
          <p:grpSpPr>
            <a:xfrm>
              <a:off x="6193814" y="996696"/>
              <a:ext cx="1920240" cy="859536"/>
              <a:chOff x="4672584" y="1005840"/>
              <a:chExt cx="1920240" cy="859536"/>
            </a:xfrm>
          </p:grpSpPr>
          <p:sp>
            <p:nvSpPr>
              <p:cNvPr id="105" name="Google Shape;105;p3"/>
              <p:cNvSpPr/>
              <p:nvPr/>
            </p:nvSpPr>
            <p:spPr>
              <a:xfrm>
                <a:off x="4672584" y="1005840"/>
                <a:ext cx="1920240" cy="64008"/>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 name="Google Shape;106;p3"/>
              <p:cNvSpPr/>
              <p:nvPr/>
            </p:nvSpPr>
            <p:spPr>
              <a:xfrm>
                <a:off x="4672584" y="1115568"/>
                <a:ext cx="19202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65C0"/>
                  </a:buClr>
                  <a:buSzPts val="2800"/>
                  <a:buFont typeface="Calibri"/>
                  <a:buNone/>
                </a:pPr>
                <a:r>
                  <a:rPr b="1" i="0" lang="en-US" sz="2800" u="none" cap="none" strike="noStrike">
                    <a:solidFill>
                      <a:srgbClr val="1565C0"/>
                    </a:solidFill>
                    <a:latin typeface="Calibri"/>
                    <a:ea typeface="Calibri"/>
                    <a:cs typeface="Calibri"/>
                    <a:sym typeface="Calibri"/>
                  </a:rPr>
                  <a:t>0</a:t>
                </a:r>
                <a:endParaRPr b="0" i="0" sz="2800" u="none" cap="none" strike="noStrike">
                  <a:solidFill>
                    <a:schemeClr val="dk1"/>
                  </a:solidFill>
                  <a:latin typeface="Calibri"/>
                  <a:ea typeface="Calibri"/>
                  <a:cs typeface="Calibri"/>
                  <a:sym typeface="Calibri"/>
                </a:endParaRPr>
              </a:p>
            </p:txBody>
          </p:sp>
          <p:sp>
            <p:nvSpPr>
              <p:cNvPr id="107" name="Google Shape;107;p3"/>
              <p:cNvSpPr/>
              <p:nvPr/>
            </p:nvSpPr>
            <p:spPr>
              <a:xfrm>
                <a:off x="4672584" y="1609344"/>
                <a:ext cx="19202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Valores nulos y Duplicados</a:t>
                </a:r>
                <a:endParaRPr b="0" i="0" sz="950" u="none" cap="none" strike="noStrike">
                  <a:solidFill>
                    <a:schemeClr val="dk1"/>
                  </a:solidFill>
                  <a:latin typeface="Calibri"/>
                  <a:ea typeface="Calibri"/>
                  <a:cs typeface="Calibri"/>
                  <a:sym typeface="Calibri"/>
                </a:endParaRPr>
              </a:p>
            </p:txBody>
          </p:sp>
        </p:grpSp>
      </p:grpSp>
      <p:sp>
        <p:nvSpPr>
          <p:cNvPr id="108" name="Google Shape;108;p3"/>
          <p:cNvSpPr/>
          <p:nvPr/>
        </p:nvSpPr>
        <p:spPr>
          <a:xfrm>
            <a:off x="6848856" y="1115568"/>
            <a:ext cx="19202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p:txBody>
      </p:sp>
      <p:sp>
        <p:nvSpPr>
          <p:cNvPr id="109" name="Google Shape;109;p3"/>
          <p:cNvSpPr/>
          <p:nvPr/>
        </p:nvSpPr>
        <p:spPr>
          <a:xfrm>
            <a:off x="320040" y="2176272"/>
            <a:ext cx="82296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400"/>
              <a:buFont typeface="Calibri"/>
              <a:buNone/>
            </a:pPr>
            <a:r>
              <a:rPr b="1" i="0" lang="en-US" sz="1400" u="none" cap="none" strike="noStrike">
                <a:solidFill>
                  <a:srgbClr val="0D1B4B"/>
                </a:solidFill>
                <a:latin typeface="Calibri"/>
                <a:ea typeface="Calibri"/>
                <a:cs typeface="Calibri"/>
                <a:sym typeface="Calibri"/>
              </a:rPr>
              <a:t>📋  Variables del Dataset</a:t>
            </a:r>
            <a:endParaRPr b="0" i="0" sz="1400" u="none" cap="none" strike="noStrike">
              <a:solidFill>
                <a:schemeClr val="dk1"/>
              </a:solidFill>
              <a:latin typeface="Calibri"/>
              <a:ea typeface="Calibri"/>
              <a:cs typeface="Calibri"/>
              <a:sym typeface="Calibri"/>
            </a:endParaRPr>
          </a:p>
        </p:txBody>
      </p:sp>
      <p:sp>
        <p:nvSpPr>
          <p:cNvPr id="110" name="Google Shape;110;p3"/>
          <p:cNvSpPr/>
          <p:nvPr/>
        </p:nvSpPr>
        <p:spPr>
          <a:xfrm>
            <a:off x="320040" y="2542032"/>
            <a:ext cx="1920240" cy="2331720"/>
          </a:xfrm>
          <a:prstGeom prst="rect">
            <a:avLst/>
          </a:prstGeom>
          <a:solidFill>
            <a:srgbClr val="FFFFFF"/>
          </a:solidFill>
          <a:ln>
            <a:noFill/>
          </a:ln>
          <a:effectLst>
            <a:outerShdw blurRad="762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 name="Google Shape;111;p3"/>
          <p:cNvSpPr/>
          <p:nvPr/>
        </p:nvSpPr>
        <p:spPr>
          <a:xfrm>
            <a:off x="320040" y="2542032"/>
            <a:ext cx="1920240" cy="329184"/>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 name="Google Shape;112;p3"/>
          <p:cNvSpPr/>
          <p:nvPr/>
        </p:nvSpPr>
        <p:spPr>
          <a:xfrm>
            <a:off x="320040" y="2542032"/>
            <a:ext cx="192024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Operativas</a:t>
            </a:r>
            <a:endParaRPr b="0" i="0" sz="950" u="none" cap="none" strike="noStrike">
              <a:solidFill>
                <a:schemeClr val="dk1"/>
              </a:solidFill>
              <a:latin typeface="Calibri"/>
              <a:ea typeface="Calibri"/>
              <a:cs typeface="Calibri"/>
              <a:sym typeface="Calibri"/>
            </a:endParaRPr>
          </a:p>
        </p:txBody>
      </p:sp>
      <p:sp>
        <p:nvSpPr>
          <p:cNvPr id="113" name="Google Shape;113;p3"/>
          <p:cNvSpPr/>
          <p:nvPr/>
        </p:nvSpPr>
        <p:spPr>
          <a:xfrm>
            <a:off x="393192" y="2926080"/>
            <a:ext cx="1783080" cy="18288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Superficie_m2</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Metros_Vidriera</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Antiguedad_Anios</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Inversion_CAPEX_USD</a:t>
            </a:r>
            <a:endParaRPr b="0" i="0" sz="900" u="none" cap="none" strike="noStrike">
              <a:solidFill>
                <a:srgbClr val="333333"/>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Venta_Online_Pct </a:t>
            </a:r>
            <a:r>
              <a:rPr b="0" i="0" lang="en-US" sz="900" u="none" cap="none" strike="noStrike">
                <a:solidFill>
                  <a:srgbClr val="1976D2"/>
                </a:solidFill>
                <a:latin typeface="Calibri"/>
                <a:ea typeface="Calibri"/>
                <a:cs typeface="Calibri"/>
                <a:sym typeface="Calibri"/>
              </a:rPr>
              <a:t>(Data Leakage - excluida)</a:t>
            </a:r>
            <a:endParaRPr b="0" i="0" sz="900" u="none" cap="none" strike="noStrike">
              <a:solidFill>
                <a:srgbClr val="1976D2"/>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900"/>
              <a:buFont typeface="Calibri"/>
              <a:buChar char="•"/>
            </a:pPr>
            <a:r>
              <a:rPr b="0" i="0" lang="en-US" sz="900" u="none" cap="none" strike="noStrike">
                <a:solidFill>
                  <a:schemeClr val="dk1"/>
                </a:solidFill>
                <a:latin typeface="Calibri"/>
                <a:ea typeface="Calibri"/>
                <a:cs typeface="Calibri"/>
                <a:sym typeface="Calibri"/>
              </a:rPr>
              <a:t>Ventas </a:t>
            </a:r>
            <a:r>
              <a:rPr b="1" i="0" lang="en-US" sz="900" u="none" cap="none" strike="noStrike">
                <a:solidFill>
                  <a:srgbClr val="C55A11"/>
                </a:solidFill>
                <a:latin typeface="Calibri"/>
                <a:ea typeface="Calibri"/>
                <a:cs typeface="Calibri"/>
                <a:sym typeface="Calibri"/>
              </a:rPr>
              <a:t>(Var Predictoria)</a:t>
            </a:r>
            <a:endParaRPr b="0" i="0" sz="1400" u="none" cap="none" strike="noStrike">
              <a:solidFill>
                <a:srgbClr val="000000"/>
              </a:solidFill>
              <a:latin typeface="Arial"/>
              <a:ea typeface="Arial"/>
              <a:cs typeface="Arial"/>
              <a:sym typeface="Arial"/>
            </a:endParaRPr>
          </a:p>
        </p:txBody>
      </p:sp>
      <p:sp>
        <p:nvSpPr>
          <p:cNvPr id="114" name="Google Shape;114;p3"/>
          <p:cNvSpPr/>
          <p:nvPr/>
        </p:nvSpPr>
        <p:spPr>
          <a:xfrm>
            <a:off x="2496312" y="2542032"/>
            <a:ext cx="1920240" cy="2331720"/>
          </a:xfrm>
          <a:prstGeom prst="rect">
            <a:avLst/>
          </a:prstGeom>
          <a:solidFill>
            <a:srgbClr val="FFFFFF"/>
          </a:solidFill>
          <a:ln>
            <a:noFill/>
          </a:ln>
          <a:effectLst>
            <a:outerShdw blurRad="762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p:nvPr/>
        </p:nvSpPr>
        <p:spPr>
          <a:xfrm>
            <a:off x="2496312" y="2542032"/>
            <a:ext cx="1920240" cy="329184"/>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 name="Google Shape;116;p3"/>
          <p:cNvSpPr/>
          <p:nvPr/>
        </p:nvSpPr>
        <p:spPr>
          <a:xfrm>
            <a:off x="2496312" y="2542032"/>
            <a:ext cx="192024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Marketing &amp; Financiero</a:t>
            </a:r>
            <a:endParaRPr b="0" i="0" sz="950" u="none" cap="none" strike="noStrike">
              <a:solidFill>
                <a:schemeClr val="dk1"/>
              </a:solidFill>
              <a:latin typeface="Calibri"/>
              <a:ea typeface="Calibri"/>
              <a:cs typeface="Calibri"/>
              <a:sym typeface="Calibri"/>
            </a:endParaRPr>
          </a:p>
        </p:txBody>
      </p:sp>
      <p:sp>
        <p:nvSpPr>
          <p:cNvPr id="117" name="Google Shape;117;p3"/>
          <p:cNvSpPr/>
          <p:nvPr/>
        </p:nvSpPr>
        <p:spPr>
          <a:xfrm>
            <a:off x="2496312" y="2926080"/>
            <a:ext cx="2002537" cy="18288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Inversion_Marketing_Mensual</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Alquiler_Mensual_USD</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Ticket_Promedio_USD</a:t>
            </a:r>
            <a:r>
              <a:rPr b="0" i="0" lang="en-US" sz="900" u="none" cap="none" strike="noStrike">
                <a:solidFill>
                  <a:srgbClr val="1976D2"/>
                </a:solidFill>
                <a:latin typeface="Calibri"/>
                <a:ea typeface="Calibri"/>
                <a:cs typeface="Calibri"/>
                <a:sym typeface="Calibri"/>
              </a:rPr>
              <a:t>(Data Leakage - excluida)</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Margen_EBITDA_Pct </a:t>
            </a:r>
            <a:r>
              <a:rPr b="0" i="0" lang="en-US" sz="900" u="none" cap="none" strike="noStrike">
                <a:solidFill>
                  <a:srgbClr val="1976D2"/>
                </a:solidFill>
                <a:latin typeface="Calibri"/>
                <a:ea typeface="Calibri"/>
                <a:cs typeface="Calibri"/>
                <a:sym typeface="Calibri"/>
              </a:rPr>
              <a:t>(Data Leakage - excluida)</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Posicionamiento</a:t>
            </a:r>
            <a:r>
              <a:rPr b="0" i="0" lang="en-US" sz="700" u="none" cap="none" strike="noStrike">
                <a:solidFill>
                  <a:srgbClr val="BFBFBF"/>
                </a:solidFill>
                <a:latin typeface="Calibri"/>
                <a:ea typeface="Calibri"/>
                <a:cs typeface="Calibri"/>
                <a:sym typeface="Calibri"/>
              </a:rPr>
              <a:t> (CAT)</a:t>
            </a:r>
            <a:endParaRPr b="0" i="0" sz="900" u="none" cap="none" strike="noStrike">
              <a:solidFill>
                <a:srgbClr val="BFBFBF"/>
              </a:solidFill>
              <a:latin typeface="Calibri"/>
              <a:ea typeface="Calibri"/>
              <a:cs typeface="Calibri"/>
              <a:sym typeface="Calibri"/>
            </a:endParaRPr>
          </a:p>
        </p:txBody>
      </p:sp>
      <p:sp>
        <p:nvSpPr>
          <p:cNvPr id="118" name="Google Shape;118;p3"/>
          <p:cNvSpPr/>
          <p:nvPr/>
        </p:nvSpPr>
        <p:spPr>
          <a:xfrm>
            <a:off x="4672584" y="2542032"/>
            <a:ext cx="1920240" cy="2331720"/>
          </a:xfrm>
          <a:prstGeom prst="rect">
            <a:avLst/>
          </a:prstGeom>
          <a:solidFill>
            <a:srgbClr val="FFFFFF"/>
          </a:solidFill>
          <a:ln>
            <a:noFill/>
          </a:ln>
          <a:effectLst>
            <a:outerShdw blurRad="762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 name="Google Shape;119;p3"/>
          <p:cNvSpPr/>
          <p:nvPr/>
        </p:nvSpPr>
        <p:spPr>
          <a:xfrm>
            <a:off x="4672584" y="2542032"/>
            <a:ext cx="1920240" cy="329184"/>
          </a:xfrm>
          <a:prstGeom prst="rect">
            <a:avLst/>
          </a:prstGeom>
          <a:solidFill>
            <a:srgbClr val="E651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 name="Google Shape;120;p3"/>
          <p:cNvSpPr/>
          <p:nvPr/>
        </p:nvSpPr>
        <p:spPr>
          <a:xfrm>
            <a:off x="4672584" y="2542032"/>
            <a:ext cx="192024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Ubicación</a:t>
            </a:r>
            <a:endParaRPr b="0" i="0" sz="950" u="none" cap="none" strike="noStrike">
              <a:solidFill>
                <a:schemeClr val="dk1"/>
              </a:solidFill>
              <a:latin typeface="Calibri"/>
              <a:ea typeface="Calibri"/>
              <a:cs typeface="Calibri"/>
              <a:sym typeface="Calibri"/>
            </a:endParaRPr>
          </a:p>
        </p:txBody>
      </p:sp>
      <p:sp>
        <p:nvSpPr>
          <p:cNvPr id="121" name="Google Shape;121;p3"/>
          <p:cNvSpPr/>
          <p:nvPr/>
        </p:nvSpPr>
        <p:spPr>
          <a:xfrm>
            <a:off x="4745736" y="2926080"/>
            <a:ext cx="1783080" cy="18288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Tipo_Ubicacion </a:t>
            </a:r>
            <a:r>
              <a:rPr b="0" i="0" lang="en-US" sz="800" u="none" cap="none" strike="noStrike">
                <a:solidFill>
                  <a:srgbClr val="BFBFBF"/>
                </a:solidFill>
                <a:latin typeface="Calibri"/>
                <a:ea typeface="Calibri"/>
                <a:cs typeface="Calibri"/>
                <a:sym typeface="Calibri"/>
              </a:rPr>
              <a:t> (CAT)</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Ubicacion_Esquina</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Distancia_Ancla_Metros</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Transito_Peatonal_Pico</a:t>
            </a:r>
            <a:endParaRPr b="0" i="0" sz="900" u="none" cap="none" strike="noStrike">
              <a:solidFill>
                <a:srgbClr val="33333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22" name="Google Shape;122;p3"/>
          <p:cNvSpPr/>
          <p:nvPr/>
        </p:nvSpPr>
        <p:spPr>
          <a:xfrm>
            <a:off x="6840202" y="2697480"/>
            <a:ext cx="1920240" cy="2331720"/>
          </a:xfrm>
          <a:prstGeom prst="rect">
            <a:avLst/>
          </a:prstGeom>
          <a:solidFill>
            <a:srgbClr val="FFFFFF"/>
          </a:solidFill>
          <a:ln>
            <a:noFill/>
          </a:ln>
          <a:effectLst>
            <a:outerShdw blurRad="762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 name="Google Shape;123;p3"/>
          <p:cNvSpPr/>
          <p:nvPr/>
        </p:nvSpPr>
        <p:spPr>
          <a:xfrm>
            <a:off x="6848856" y="2542032"/>
            <a:ext cx="1920240" cy="329184"/>
          </a:xfrm>
          <a:prstGeom prst="rect">
            <a:avLst/>
          </a:prstGeom>
          <a:solidFill>
            <a:srgbClr val="6A1B9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4" name="Google Shape;124;p3"/>
          <p:cNvSpPr/>
          <p:nvPr/>
        </p:nvSpPr>
        <p:spPr>
          <a:xfrm>
            <a:off x="6848856" y="2542032"/>
            <a:ext cx="192024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Contexto</a:t>
            </a:r>
            <a:endParaRPr b="0" i="0" sz="950" u="none" cap="none" strike="noStrike">
              <a:solidFill>
                <a:schemeClr val="dk1"/>
              </a:solidFill>
              <a:latin typeface="Calibri"/>
              <a:ea typeface="Calibri"/>
              <a:cs typeface="Calibri"/>
              <a:sym typeface="Calibri"/>
            </a:endParaRPr>
          </a:p>
        </p:txBody>
      </p:sp>
      <p:sp>
        <p:nvSpPr>
          <p:cNvPr id="125" name="Google Shape;125;p3"/>
          <p:cNvSpPr/>
          <p:nvPr/>
        </p:nvSpPr>
        <p:spPr>
          <a:xfrm>
            <a:off x="6922008" y="2926080"/>
            <a:ext cx="1938528" cy="18288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Nivel_Socioeconomico </a:t>
            </a:r>
            <a:r>
              <a:rPr b="0" i="0" lang="en-US" sz="800" u="none" cap="none" strike="noStrike">
                <a:solidFill>
                  <a:srgbClr val="BFBFBF"/>
                </a:solidFill>
                <a:latin typeface="Calibri"/>
                <a:ea typeface="Calibri"/>
                <a:cs typeface="Calibri"/>
                <a:sym typeface="Calibri"/>
              </a:rPr>
              <a:t>(CAT)</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Densidad_Poblacional</a:t>
            </a:r>
            <a:endParaRPr b="0" i="0" sz="900" u="none" cap="none" strike="noStrike">
              <a:solidFill>
                <a:srgbClr val="333333"/>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Puntos de Interes proximos</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Densidad_Competencia</a:t>
            </a:r>
            <a:endParaRPr b="0" i="0" sz="900" u="none" cap="none" strike="noStrike">
              <a:solidFill>
                <a:srgbClr val="333333"/>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Rubro </a:t>
            </a:r>
            <a:r>
              <a:rPr b="0" i="0" lang="en-US" sz="900" u="none" cap="none" strike="noStrike">
                <a:solidFill>
                  <a:srgbClr val="BFBFBF"/>
                </a:solidFill>
                <a:latin typeface="Calibri"/>
                <a:ea typeface="Calibri"/>
                <a:cs typeface="Calibri"/>
                <a:sym typeface="Calibri"/>
              </a:rPr>
              <a:t>(CAT)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126" name="Google Shape;126;p3"/>
          <p:cNvSpPr/>
          <p:nvPr/>
        </p:nvSpPr>
        <p:spPr>
          <a:xfrm>
            <a:off x="320040" y="4828032"/>
            <a:ext cx="8503920" cy="201168"/>
          </a:xfrm>
          <a:prstGeom prst="rect">
            <a:avLst/>
          </a:prstGeom>
          <a:solidFill>
            <a:srgbClr val="FFF8E1"/>
          </a:solidFill>
          <a:ln cap="flat" cmpd="sng" w="9525">
            <a:solidFill>
              <a:srgbClr val="FFB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 name="Google Shape;127;p3"/>
          <p:cNvSpPr/>
          <p:nvPr/>
        </p:nvSpPr>
        <p:spPr>
          <a:xfrm>
            <a:off x="411480" y="4837176"/>
            <a:ext cx="8321100" cy="173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5800"/>
              </a:buClr>
              <a:buSzPts val="850"/>
              <a:buFont typeface="Calibri"/>
              <a:buNone/>
            </a:pPr>
            <a:r>
              <a:rPr b="0" i="0" lang="en-US" sz="850" u="none" cap="none" strike="noStrike">
                <a:solidFill>
                  <a:srgbClr val="7B5800"/>
                </a:solidFill>
                <a:latin typeface="Calibri"/>
                <a:ea typeface="Calibri"/>
                <a:cs typeface="Calibri"/>
                <a:sym typeface="Calibri"/>
              </a:rPr>
              <a:t>⚠  Outliers detectados en CAPEX (108), Marketing (128), Alquiler (101) y Ventas (66) — conservados por ser casos de negocio legítimos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p:nvPr/>
        </p:nvSpPr>
        <p:spPr>
          <a:xfrm>
            <a:off x="0" y="0"/>
            <a:ext cx="9144000" cy="777240"/>
          </a:xfrm>
          <a:prstGeom prst="rect">
            <a:avLst/>
          </a:prstGeom>
          <a:solidFill>
            <a:srgbClr val="0D1B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 name="Google Shape;134;p21"/>
          <p:cNvSpPr/>
          <p:nvPr/>
        </p:nvSpPr>
        <p:spPr>
          <a:xfrm>
            <a:off x="0" y="777240"/>
            <a:ext cx="9144000" cy="54864"/>
          </a:xfrm>
          <a:prstGeom prst="rect">
            <a:avLst/>
          </a:prstGeom>
          <a:solidFill>
            <a:srgbClr val="88888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 name="Google Shape;135;p21"/>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FFFFFF"/>
                </a:solidFill>
                <a:latin typeface="Calibri"/>
                <a:ea typeface="Calibri"/>
                <a:cs typeface="Calibri"/>
                <a:sym typeface="Calibri"/>
              </a:rPr>
              <a:t>Evidencia Académica de Selección de Variables</a:t>
            </a:r>
            <a:endParaRPr b="0" i="0" sz="1400" u="none" cap="none" strike="noStrike">
              <a:solidFill>
                <a:srgbClr val="000000"/>
              </a:solidFill>
              <a:latin typeface="Arial"/>
              <a:ea typeface="Arial"/>
              <a:cs typeface="Arial"/>
              <a:sym typeface="Arial"/>
            </a:endParaRPr>
          </a:p>
        </p:txBody>
      </p:sp>
      <p:sp>
        <p:nvSpPr>
          <p:cNvPr id="136" name="Google Shape;136;p21"/>
          <p:cNvSpPr/>
          <p:nvPr/>
        </p:nvSpPr>
        <p:spPr>
          <a:xfrm>
            <a:off x="274320" y="900000"/>
            <a:ext cx="3886200" cy="3657600"/>
          </a:xfrm>
          <a:prstGeom prst="rect">
            <a:avLst/>
          </a:prstGeom>
          <a:solidFill>
            <a:srgbClr val="FFFFFF"/>
          </a:solidFill>
          <a:ln cap="flat" cmpd="sng" w="9525">
            <a:solidFill>
              <a:srgbClr val="DDE6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 name="Google Shape;137;p21"/>
          <p:cNvSpPr/>
          <p:nvPr/>
        </p:nvSpPr>
        <p:spPr>
          <a:xfrm>
            <a:off x="274320" y="900000"/>
            <a:ext cx="3886200" cy="60960"/>
          </a:xfrm>
          <a:prstGeom prst="rect">
            <a:avLst/>
          </a:prstGeom>
          <a:solidFill>
            <a:srgbClr val="0D1B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 name="Google Shape;138;p21"/>
          <p:cNvSpPr/>
          <p:nvPr/>
        </p:nvSpPr>
        <p:spPr>
          <a:xfrm>
            <a:off x="365760" y="991440"/>
            <a:ext cx="3657600" cy="33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D1B4B"/>
                </a:solidFill>
                <a:latin typeface="Calibri"/>
                <a:ea typeface="Calibri"/>
                <a:cs typeface="Calibri"/>
                <a:sym typeface="Calibri"/>
              </a:rPr>
              <a:t>📌  Variables Estructurales del Modelo</a:t>
            </a:r>
            <a:endParaRPr b="0" i="0" sz="1400" u="none" cap="none" strike="noStrike">
              <a:solidFill>
                <a:srgbClr val="000000"/>
              </a:solidFill>
              <a:latin typeface="Arial"/>
              <a:ea typeface="Arial"/>
              <a:cs typeface="Arial"/>
              <a:sym typeface="Arial"/>
            </a:endParaRPr>
          </a:p>
        </p:txBody>
      </p:sp>
      <p:sp>
        <p:nvSpPr>
          <p:cNvPr id="139" name="Google Shape;139;p21"/>
          <p:cNvSpPr/>
          <p:nvPr/>
        </p:nvSpPr>
        <p:spPr>
          <a:xfrm>
            <a:off x="365760" y="1382400"/>
            <a:ext cx="182880" cy="228600"/>
          </a:xfrm>
          <a:prstGeom prst="rect">
            <a:avLst/>
          </a:prstGeom>
          <a:solidFill>
            <a:srgbClr val="1976D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 name="Google Shape;140;p21"/>
          <p:cNvSpPr/>
          <p:nvPr/>
        </p:nvSpPr>
        <p:spPr>
          <a:xfrm>
            <a:off x="594360" y="1368600"/>
            <a:ext cx="34290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D1B4B"/>
                </a:solidFill>
                <a:latin typeface="Calibri"/>
                <a:ea typeface="Calibri"/>
                <a:cs typeface="Calibri"/>
                <a:sym typeface="Calibri"/>
              </a:rPr>
              <a:t>Zona / Tipo de Ubicación</a:t>
            </a:r>
            <a:r>
              <a:rPr b="0" i="0" lang="en-US" sz="1000" u="none" cap="none" strike="noStrike">
                <a:solidFill>
                  <a:srgbClr val="6080A0"/>
                </a:solidFill>
                <a:latin typeface="Calibri"/>
                <a:ea typeface="Calibri"/>
                <a:cs typeface="Calibri"/>
                <a:sym typeface="Calibri"/>
              </a:rPr>
              <a:t>  — define el flujo potencial</a:t>
            </a:r>
            <a:endParaRPr b="0" i="0" sz="1400" u="none" cap="none" strike="noStrike">
              <a:solidFill>
                <a:srgbClr val="000000"/>
              </a:solidFill>
              <a:latin typeface="Arial"/>
              <a:ea typeface="Arial"/>
              <a:cs typeface="Arial"/>
              <a:sym typeface="Arial"/>
            </a:endParaRPr>
          </a:p>
        </p:txBody>
      </p:sp>
      <p:sp>
        <p:nvSpPr>
          <p:cNvPr id="141" name="Google Shape;141;p21"/>
          <p:cNvSpPr/>
          <p:nvPr/>
        </p:nvSpPr>
        <p:spPr>
          <a:xfrm>
            <a:off x="365760" y="1749600"/>
            <a:ext cx="182880" cy="228600"/>
          </a:xfrm>
          <a:prstGeom prst="rect">
            <a:avLst/>
          </a:prstGeom>
          <a:solidFill>
            <a:srgbClr val="6A1B9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 name="Google Shape;142;p21"/>
          <p:cNvSpPr/>
          <p:nvPr/>
        </p:nvSpPr>
        <p:spPr>
          <a:xfrm>
            <a:off x="594360" y="1735800"/>
            <a:ext cx="34290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D1B4B"/>
                </a:solidFill>
                <a:latin typeface="Calibri"/>
                <a:ea typeface="Calibri"/>
                <a:cs typeface="Calibri"/>
                <a:sym typeface="Calibri"/>
              </a:rPr>
              <a:t>Nivel Socioeconómico (NSE)</a:t>
            </a:r>
            <a:r>
              <a:rPr b="0" i="0" lang="en-US" sz="1000" u="none" cap="none" strike="noStrike">
                <a:solidFill>
                  <a:srgbClr val="6080A0"/>
                </a:solidFill>
                <a:latin typeface="Calibri"/>
                <a:ea typeface="Calibri"/>
                <a:cs typeface="Calibri"/>
                <a:sym typeface="Calibri"/>
              </a:rPr>
              <a:t>  — poder adquisitivo del entorno</a:t>
            </a:r>
            <a:endParaRPr b="0" i="0" sz="1400" u="none" cap="none" strike="noStrike">
              <a:solidFill>
                <a:srgbClr val="000000"/>
              </a:solidFill>
              <a:latin typeface="Arial"/>
              <a:ea typeface="Arial"/>
              <a:cs typeface="Arial"/>
              <a:sym typeface="Arial"/>
            </a:endParaRPr>
          </a:p>
        </p:txBody>
      </p:sp>
      <p:sp>
        <p:nvSpPr>
          <p:cNvPr id="143" name="Google Shape;143;p21"/>
          <p:cNvSpPr/>
          <p:nvPr/>
        </p:nvSpPr>
        <p:spPr>
          <a:xfrm>
            <a:off x="365760" y="2116800"/>
            <a:ext cx="182880" cy="228600"/>
          </a:xfrm>
          <a:prstGeom prst="rect">
            <a:avLst/>
          </a:prstGeom>
          <a:solidFill>
            <a:srgbClr val="00838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 name="Google Shape;144;p21"/>
          <p:cNvSpPr/>
          <p:nvPr/>
        </p:nvSpPr>
        <p:spPr>
          <a:xfrm>
            <a:off x="594360" y="2103000"/>
            <a:ext cx="34290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D1B4B"/>
                </a:solidFill>
                <a:latin typeface="Calibri"/>
                <a:ea typeface="Calibri"/>
                <a:cs typeface="Calibri"/>
                <a:sym typeface="Calibri"/>
              </a:rPr>
              <a:t>Tipo de ubicación</a:t>
            </a:r>
            <a:r>
              <a:rPr b="0" i="0" lang="en-US" sz="1000" u="none" cap="none" strike="noStrike">
                <a:solidFill>
                  <a:srgbClr val="6080A0"/>
                </a:solidFill>
                <a:latin typeface="Calibri"/>
                <a:ea typeface="Calibri"/>
                <a:cs typeface="Calibri"/>
                <a:sym typeface="Calibri"/>
              </a:rPr>
              <a:t>  — formato del canal</a:t>
            </a:r>
            <a:endParaRPr b="0" i="0" sz="1400" u="none" cap="none" strike="noStrike">
              <a:solidFill>
                <a:srgbClr val="000000"/>
              </a:solidFill>
              <a:latin typeface="Arial"/>
              <a:ea typeface="Arial"/>
              <a:cs typeface="Arial"/>
              <a:sym typeface="Arial"/>
            </a:endParaRPr>
          </a:p>
        </p:txBody>
      </p:sp>
      <p:sp>
        <p:nvSpPr>
          <p:cNvPr id="145" name="Google Shape;145;p21"/>
          <p:cNvSpPr/>
          <p:nvPr/>
        </p:nvSpPr>
        <p:spPr>
          <a:xfrm>
            <a:off x="365760" y="2484000"/>
            <a:ext cx="182880" cy="228600"/>
          </a:xfrm>
          <a:prstGeom prst="rect">
            <a:avLst/>
          </a:prstGeom>
          <a:solidFill>
            <a:srgbClr val="C6282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 name="Google Shape;146;p21"/>
          <p:cNvSpPr/>
          <p:nvPr/>
        </p:nvSpPr>
        <p:spPr>
          <a:xfrm>
            <a:off x="594360" y="2470200"/>
            <a:ext cx="34290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D1B4B"/>
                </a:solidFill>
                <a:latin typeface="Calibri"/>
                <a:ea typeface="Calibri"/>
                <a:cs typeface="Calibri"/>
                <a:sym typeface="Calibri"/>
              </a:rPr>
              <a:t>Rubro del Negocio</a:t>
            </a:r>
            <a:r>
              <a:rPr b="0" i="0" lang="en-US" sz="1000" u="none" cap="none" strike="noStrike">
                <a:solidFill>
                  <a:srgbClr val="6080A0"/>
                </a:solidFill>
                <a:latin typeface="Calibri"/>
                <a:ea typeface="Calibri"/>
                <a:cs typeface="Calibri"/>
                <a:sym typeface="Calibri"/>
              </a:rPr>
              <a:t>  — techo estructural de ingresos</a:t>
            </a:r>
            <a:endParaRPr b="0" i="0" sz="1400" u="none" cap="none" strike="noStrike">
              <a:solidFill>
                <a:srgbClr val="000000"/>
              </a:solidFill>
              <a:latin typeface="Arial"/>
              <a:ea typeface="Arial"/>
              <a:cs typeface="Arial"/>
              <a:sym typeface="Arial"/>
            </a:endParaRPr>
          </a:p>
        </p:txBody>
      </p:sp>
      <p:sp>
        <p:nvSpPr>
          <p:cNvPr id="147" name="Google Shape;147;p21"/>
          <p:cNvSpPr/>
          <p:nvPr/>
        </p:nvSpPr>
        <p:spPr>
          <a:xfrm>
            <a:off x="365760" y="2851200"/>
            <a:ext cx="182880" cy="228600"/>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 name="Google Shape;148;p21"/>
          <p:cNvSpPr/>
          <p:nvPr/>
        </p:nvSpPr>
        <p:spPr>
          <a:xfrm>
            <a:off x="594360" y="2837400"/>
            <a:ext cx="34290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D1B4B"/>
                </a:solidFill>
                <a:latin typeface="Calibri"/>
                <a:ea typeface="Calibri"/>
                <a:cs typeface="Calibri"/>
                <a:sym typeface="Calibri"/>
              </a:rPr>
              <a:t>Tránsito Peatonal y Marketing</a:t>
            </a:r>
            <a:r>
              <a:rPr b="0" i="0" lang="en-US" sz="1000" u="none" cap="none" strike="noStrike">
                <a:solidFill>
                  <a:srgbClr val="6080A0"/>
                </a:solidFill>
                <a:latin typeface="Calibri"/>
                <a:ea typeface="Calibri"/>
                <a:cs typeface="Calibri"/>
                <a:sym typeface="Calibri"/>
              </a:rPr>
              <a:t>  — captación y conversión</a:t>
            </a:r>
            <a:endParaRPr b="0" i="0" sz="1400" u="none" cap="none" strike="noStrike">
              <a:solidFill>
                <a:srgbClr val="000000"/>
              </a:solidFill>
              <a:latin typeface="Arial"/>
              <a:ea typeface="Arial"/>
              <a:cs typeface="Arial"/>
              <a:sym typeface="Arial"/>
            </a:endParaRPr>
          </a:p>
        </p:txBody>
      </p:sp>
      <p:sp>
        <p:nvSpPr>
          <p:cNvPr id="149" name="Google Shape;149;p21"/>
          <p:cNvSpPr/>
          <p:nvPr/>
        </p:nvSpPr>
        <p:spPr>
          <a:xfrm>
            <a:off x="4663200" y="900000"/>
            <a:ext cx="4205520" cy="33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D1B4B"/>
                </a:solidFill>
                <a:latin typeface="Calibri"/>
                <a:ea typeface="Calibri"/>
                <a:cs typeface="Calibri"/>
                <a:sym typeface="Calibri"/>
              </a:rPr>
              <a:t>💬  Respaldo de la Elección de Variables</a:t>
            </a:r>
            <a:endParaRPr b="0" i="0" sz="1400" u="none" cap="none" strike="noStrike">
              <a:solidFill>
                <a:srgbClr val="000000"/>
              </a:solidFill>
              <a:latin typeface="Arial"/>
              <a:ea typeface="Arial"/>
              <a:cs typeface="Arial"/>
              <a:sym typeface="Arial"/>
            </a:endParaRPr>
          </a:p>
        </p:txBody>
      </p:sp>
      <p:sp>
        <p:nvSpPr>
          <p:cNvPr id="150" name="Google Shape;150;p21"/>
          <p:cNvSpPr/>
          <p:nvPr/>
        </p:nvSpPr>
        <p:spPr>
          <a:xfrm>
            <a:off x="4663200" y="1280400"/>
            <a:ext cx="4205520" cy="1295400"/>
          </a:xfrm>
          <a:prstGeom prst="rect">
            <a:avLst/>
          </a:prstGeom>
          <a:solidFill>
            <a:srgbClr val="EEF4FF"/>
          </a:solidFill>
          <a:ln cap="flat" cmpd="sng" w="9525">
            <a:solidFill>
              <a:srgbClr val="C8D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 name="Google Shape;151;p21"/>
          <p:cNvSpPr/>
          <p:nvPr/>
        </p:nvSpPr>
        <p:spPr>
          <a:xfrm>
            <a:off x="4708800" y="1280400"/>
            <a:ext cx="365760" cy="548640"/>
          </a:xfrm>
          <a:prstGeom prst="rect">
            <a:avLst/>
          </a:prstGeom>
          <a:noFill/>
          <a:ln>
            <a:noFill/>
          </a:ln>
        </p:spPr>
        <p:txBody>
          <a:bodyPr anchorCtr="0" anchor="t" bIns="0" lIns="91425" spcFirstLastPara="1" rIns="0"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1976D2"/>
                </a:solidFill>
                <a:latin typeface="Georgia"/>
                <a:ea typeface="Georgia"/>
                <a:cs typeface="Georgia"/>
                <a:sym typeface="Georgia"/>
              </a:rPr>
              <a:t>“</a:t>
            </a:r>
            <a:endParaRPr b="0" i="0" sz="1400" u="none" cap="none" strike="noStrike">
              <a:solidFill>
                <a:srgbClr val="000000"/>
              </a:solidFill>
              <a:latin typeface="Arial"/>
              <a:ea typeface="Arial"/>
              <a:cs typeface="Arial"/>
              <a:sym typeface="Arial"/>
            </a:endParaRPr>
          </a:p>
        </p:txBody>
      </p:sp>
      <p:sp>
        <p:nvSpPr>
          <p:cNvPr id="152" name="Google Shape;152;p21"/>
          <p:cNvSpPr/>
          <p:nvPr/>
        </p:nvSpPr>
        <p:spPr>
          <a:xfrm>
            <a:off x="5120640" y="1350000"/>
            <a:ext cx="3657600" cy="1097280"/>
          </a:xfrm>
          <a:prstGeom prst="rect">
            <a:avLst/>
          </a:prstGeom>
          <a:noFill/>
          <a:ln>
            <a:noFill/>
          </a:ln>
        </p:spPr>
        <p:txBody>
          <a:bodyPr anchorCtr="0" anchor="t" bIns="45700" lIns="0" spcFirstLastPara="1" rIns="91425" wrap="square" tIns="0">
            <a:noAutofit/>
          </a:bodyPr>
          <a:lstStyle/>
          <a:p>
            <a:pPr indent="0" lvl="0" marL="0" marR="0" rtl="0" algn="l">
              <a:lnSpc>
                <a:spcPct val="120000"/>
              </a:lnSpc>
              <a:spcBef>
                <a:spcPts val="0"/>
              </a:spcBef>
              <a:spcAft>
                <a:spcPts val="0"/>
              </a:spcAft>
              <a:buClr>
                <a:srgbClr val="000000"/>
              </a:buClr>
              <a:buSzPts val="1100"/>
              <a:buFont typeface="Arial"/>
              <a:buNone/>
            </a:pPr>
            <a:r>
              <a:rPr b="0" i="1" lang="en-US" sz="1100" u="none" cap="none" strike="noStrike">
                <a:solidFill>
                  <a:srgbClr val="1A3A6E"/>
                </a:solidFill>
                <a:latin typeface="Georgia"/>
                <a:ea typeface="Georgia"/>
                <a:cs typeface="Georgia"/>
                <a:sym typeface="Georgia"/>
              </a:rPr>
              <a:t>El desempeño de una empresa está sistemáticamente determinado por variables estructurales: industria, ubicación y contexto de mercado.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950"/>
              <a:buFont typeface="Arial"/>
              <a:buNone/>
            </a:pPr>
            <a:r>
              <a:rPr b="1" i="0" lang="en-US" sz="950" u="none" cap="none" strike="noStrike">
                <a:solidFill>
                  <a:srgbClr val="1976D2"/>
                </a:solidFill>
                <a:latin typeface="Calibri"/>
                <a:ea typeface="Calibri"/>
                <a:cs typeface="Calibri"/>
                <a:sym typeface="Calibri"/>
              </a:rPr>
              <a:t>— Michael E. Porter</a:t>
            </a:r>
            <a:r>
              <a:rPr b="0" i="0" lang="en-US" sz="950" u="none" cap="none" strike="noStrike">
                <a:solidFill>
                  <a:srgbClr val="7090B0"/>
                </a:solidFill>
                <a:latin typeface="Calibri"/>
                <a:ea typeface="Calibri"/>
                <a:cs typeface="Calibri"/>
                <a:sym typeface="Calibri"/>
              </a:rPr>
              <a:t>  |  Competitive Strategy, Harvard (1980)</a:t>
            </a:r>
            <a:endParaRPr b="0" i="0" sz="1400" u="none" cap="none" strike="noStrike">
              <a:solidFill>
                <a:srgbClr val="000000"/>
              </a:solidFill>
              <a:latin typeface="Arial"/>
              <a:ea typeface="Arial"/>
              <a:cs typeface="Arial"/>
              <a:sym typeface="Arial"/>
            </a:endParaRPr>
          </a:p>
        </p:txBody>
      </p:sp>
      <p:sp>
        <p:nvSpPr>
          <p:cNvPr id="153" name="Google Shape;153;p21"/>
          <p:cNvSpPr/>
          <p:nvPr/>
        </p:nvSpPr>
        <p:spPr>
          <a:xfrm>
            <a:off x="4663200" y="2666400"/>
            <a:ext cx="4205520" cy="1295400"/>
          </a:xfrm>
          <a:prstGeom prst="rect">
            <a:avLst/>
          </a:prstGeom>
          <a:solidFill>
            <a:srgbClr val="F1F8F1"/>
          </a:solidFill>
          <a:ln cap="flat" cmpd="sng" w="9525">
            <a:solidFill>
              <a:srgbClr val="A5D6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 name="Google Shape;154;p21"/>
          <p:cNvSpPr/>
          <p:nvPr/>
        </p:nvSpPr>
        <p:spPr>
          <a:xfrm>
            <a:off x="4708800" y="2666400"/>
            <a:ext cx="365760" cy="548640"/>
          </a:xfrm>
          <a:prstGeom prst="rect">
            <a:avLst/>
          </a:prstGeom>
          <a:noFill/>
          <a:ln>
            <a:noFill/>
          </a:ln>
        </p:spPr>
        <p:txBody>
          <a:bodyPr anchorCtr="0" anchor="t" bIns="0" lIns="91425" spcFirstLastPara="1" rIns="0"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2E7D32"/>
                </a:solidFill>
                <a:latin typeface="Georgia"/>
                <a:ea typeface="Georgia"/>
                <a:cs typeface="Georgia"/>
                <a:sym typeface="Georgia"/>
              </a:rPr>
              <a:t>“</a:t>
            </a:r>
            <a:endParaRPr b="0" i="0" sz="1400" u="none" cap="none" strike="noStrike">
              <a:solidFill>
                <a:srgbClr val="000000"/>
              </a:solidFill>
              <a:latin typeface="Arial"/>
              <a:ea typeface="Arial"/>
              <a:cs typeface="Arial"/>
              <a:sym typeface="Arial"/>
            </a:endParaRPr>
          </a:p>
        </p:txBody>
      </p:sp>
      <p:sp>
        <p:nvSpPr>
          <p:cNvPr id="155" name="Google Shape;155;p21"/>
          <p:cNvSpPr/>
          <p:nvPr/>
        </p:nvSpPr>
        <p:spPr>
          <a:xfrm>
            <a:off x="5120640" y="2736000"/>
            <a:ext cx="3657600" cy="1097280"/>
          </a:xfrm>
          <a:prstGeom prst="rect">
            <a:avLst/>
          </a:prstGeom>
          <a:noFill/>
          <a:ln>
            <a:noFill/>
          </a:ln>
        </p:spPr>
        <p:txBody>
          <a:bodyPr anchorCtr="0" anchor="t" bIns="45700" lIns="0" spcFirstLastPara="1" rIns="91425" wrap="square" tIns="0">
            <a:noAutofit/>
          </a:bodyPr>
          <a:lstStyle/>
          <a:p>
            <a:pPr indent="0" lvl="0" marL="0" marR="0" rtl="0" algn="l">
              <a:lnSpc>
                <a:spcPct val="120000"/>
              </a:lnSpc>
              <a:spcBef>
                <a:spcPts val="0"/>
              </a:spcBef>
              <a:spcAft>
                <a:spcPts val="0"/>
              </a:spcAft>
              <a:buClr>
                <a:srgbClr val="000000"/>
              </a:buClr>
              <a:buSzPts val="1100"/>
              <a:buFont typeface="Arial"/>
              <a:buNone/>
            </a:pPr>
            <a:r>
              <a:rPr b="0" i="1" lang="en-US" sz="1100" u="none" cap="none" strike="noStrike">
                <a:solidFill>
                  <a:srgbClr val="1B5E20"/>
                </a:solidFill>
                <a:latin typeface="Georgia"/>
                <a:ea typeface="Georgia"/>
                <a:cs typeface="Georgia"/>
                <a:sym typeface="Georgia"/>
              </a:rPr>
              <a:t>Las variables estructurales —ubicación, rubro y contexto socioeconómico— son los predictores más robustos del desempeño comercial en etapa temprana.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950"/>
              <a:buFont typeface="Arial"/>
              <a:buNone/>
            </a:pPr>
            <a:r>
              <a:rPr b="1" i="0" lang="en-US" sz="950" u="none" cap="none" strike="noStrike">
                <a:solidFill>
                  <a:srgbClr val="2E7D32"/>
                </a:solidFill>
                <a:latin typeface="Calibri"/>
                <a:ea typeface="Calibri"/>
                <a:cs typeface="Calibri"/>
                <a:sym typeface="Calibri"/>
              </a:rPr>
              <a:t>— Zambrano Farias et al.</a:t>
            </a:r>
            <a:r>
              <a:rPr b="0" i="0" lang="en-US" sz="950" u="none" cap="none" strike="noStrike">
                <a:solidFill>
                  <a:srgbClr val="5A8A5C"/>
                </a:solidFill>
                <a:latin typeface="Calibri"/>
                <a:ea typeface="Calibri"/>
                <a:cs typeface="Calibri"/>
                <a:sym typeface="Calibri"/>
              </a:rPr>
              <a:t>  |  Journal of Business Venturing (2021)</a:t>
            </a:r>
            <a:endParaRPr b="0" i="0" sz="1400" u="none" cap="none" strike="noStrike">
              <a:solidFill>
                <a:srgbClr val="000000"/>
              </a:solidFill>
              <a:latin typeface="Arial"/>
              <a:ea typeface="Arial"/>
              <a:cs typeface="Arial"/>
              <a:sym typeface="Arial"/>
            </a:endParaRPr>
          </a:p>
        </p:txBody>
      </p:sp>
      <p:sp>
        <p:nvSpPr>
          <p:cNvPr id="156" name="Google Shape;156;p21"/>
          <p:cNvSpPr/>
          <p:nvPr/>
        </p:nvSpPr>
        <p:spPr>
          <a:xfrm>
            <a:off x="4663263" y="1169300"/>
            <a:ext cx="4205400" cy="60900"/>
          </a:xfrm>
          <a:prstGeom prst="rect">
            <a:avLst/>
          </a:prstGeom>
          <a:no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8090B0"/>
                </a:solidFill>
                <a:latin typeface="Calibri"/>
                <a:ea typeface="Calibri"/>
                <a:cs typeface="Calibri"/>
                <a:sym typeface="Calibri"/>
              </a:rPr>
              <a:t>ESTRATEGIA COMPETITIVA  •  EVIDENCIA EMPÍRICA</a:t>
            </a:r>
            <a:endParaRPr b="0" i="0" sz="1400" u="none" cap="none" strike="noStrike">
              <a:solidFill>
                <a:srgbClr val="000000"/>
              </a:solidFill>
              <a:latin typeface="Arial"/>
              <a:ea typeface="Arial"/>
              <a:cs typeface="Arial"/>
              <a:sym typeface="Arial"/>
            </a:endParaRPr>
          </a:p>
        </p:txBody>
      </p:sp>
      <p:sp>
        <p:nvSpPr>
          <p:cNvPr id="157" name="Google Shape;157;p21"/>
          <p:cNvSpPr/>
          <p:nvPr/>
        </p:nvSpPr>
        <p:spPr>
          <a:xfrm>
            <a:off x="8313025" y="4930550"/>
            <a:ext cx="779700" cy="17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8FBFF"/>
        </a:solidFill>
      </p:bgPr>
    </p:bg>
    <p:spTree>
      <p:nvGrpSpPr>
        <p:cNvPr id="162" name="Shape 162"/>
        <p:cNvGrpSpPr/>
        <p:nvPr/>
      </p:nvGrpSpPr>
      <p:grpSpPr>
        <a:xfrm>
          <a:off x="0" y="0"/>
          <a:ext cx="0" cy="0"/>
          <a:chOff x="0" y="0"/>
          <a:chExt cx="0" cy="0"/>
        </a:xfrm>
      </p:grpSpPr>
      <p:pic>
        <p:nvPicPr>
          <p:cNvPr id="163" name="Google Shape;163;g39554702cd6_0_15"/>
          <p:cNvPicPr preferRelativeResize="0"/>
          <p:nvPr/>
        </p:nvPicPr>
        <p:blipFill rotWithShape="1">
          <a:blip r:embed="rId3">
            <a:alphaModFix/>
          </a:blip>
          <a:srcRect b="0" l="0" r="0" t="0"/>
          <a:stretch/>
        </p:blipFill>
        <p:spPr>
          <a:xfrm>
            <a:off x="1357461" y="87290"/>
            <a:ext cx="5458118" cy="4816635"/>
          </a:xfrm>
          <a:prstGeom prst="rect">
            <a:avLst/>
          </a:prstGeom>
          <a:noFill/>
          <a:ln>
            <a:noFill/>
          </a:ln>
        </p:spPr>
      </p:pic>
      <p:sp>
        <p:nvSpPr>
          <p:cNvPr id="164" name="Google Shape;164;g39554702cd6_0_15"/>
          <p:cNvSpPr/>
          <p:nvPr/>
        </p:nvSpPr>
        <p:spPr>
          <a:xfrm>
            <a:off x="8320350" y="4903925"/>
            <a:ext cx="779700" cy="171000"/>
          </a:xfrm>
          <a:prstGeom prst="rect">
            <a:avLst/>
          </a:prstGeom>
          <a:solidFill>
            <a:srgbClr val="F8FBFF"/>
          </a:solidFill>
          <a:ln cap="flat" cmpd="sng" w="9525">
            <a:solidFill>
              <a:srgbClr val="F8FB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g3ca65b628b7_1_0"/>
          <p:cNvPicPr preferRelativeResize="0"/>
          <p:nvPr/>
        </p:nvPicPr>
        <p:blipFill rotWithShape="1">
          <a:blip r:embed="rId3">
            <a:alphaModFix/>
          </a:blip>
          <a:srcRect b="0" l="0" r="0" t="0"/>
          <a:stretch/>
        </p:blipFill>
        <p:spPr>
          <a:xfrm>
            <a:off x="7964375" y="4930663"/>
            <a:ext cx="1143000" cy="161925"/>
          </a:xfrm>
          <a:prstGeom prst="rect">
            <a:avLst/>
          </a:prstGeom>
          <a:noFill/>
          <a:ln>
            <a:noFill/>
          </a:ln>
        </p:spPr>
      </p:pic>
      <p:sp>
        <p:nvSpPr>
          <p:cNvPr id="170" name="Google Shape;170;g3ca65b628b7_1_0"/>
          <p:cNvSpPr/>
          <p:nvPr/>
        </p:nvSpPr>
        <p:spPr>
          <a:xfrm>
            <a:off x="0" y="0"/>
            <a:ext cx="9144000" cy="777300"/>
          </a:xfrm>
          <a:prstGeom prst="rect">
            <a:avLst/>
          </a:prstGeom>
          <a:solidFill>
            <a:srgbClr val="0D1B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 name="Google Shape;171;g3ca65b628b7_1_0"/>
          <p:cNvSpPr/>
          <p:nvPr/>
        </p:nvSpPr>
        <p:spPr>
          <a:xfrm>
            <a:off x="365760" y="0"/>
            <a:ext cx="82296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Wo Outliers - Experiment</a:t>
            </a:r>
            <a:endParaRPr b="0" i="0" sz="2200" u="none" cap="none" strike="noStrike">
              <a:solidFill>
                <a:schemeClr val="dk1"/>
              </a:solidFill>
              <a:latin typeface="Calibri"/>
              <a:ea typeface="Calibri"/>
              <a:cs typeface="Calibri"/>
              <a:sym typeface="Calibri"/>
            </a:endParaRPr>
          </a:p>
        </p:txBody>
      </p:sp>
      <p:sp>
        <p:nvSpPr>
          <p:cNvPr id="172" name="Google Shape;172;g3ca65b628b7_1_0"/>
          <p:cNvSpPr/>
          <p:nvPr/>
        </p:nvSpPr>
        <p:spPr>
          <a:xfrm>
            <a:off x="0" y="777240"/>
            <a:ext cx="9144000" cy="54900"/>
          </a:xfrm>
          <a:prstGeom prst="rect">
            <a:avLst/>
          </a:prstGeom>
          <a:gradFill>
            <a:gsLst>
              <a:gs pos="0">
                <a:srgbClr val="DBDBDB"/>
              </a:gs>
              <a:gs pos="46000">
                <a:srgbClr val="A8A8A8"/>
              </a:gs>
              <a:gs pos="100000">
                <a:srgbClr val="636363"/>
              </a:gs>
            </a:gsLst>
            <a:path path="circle">
              <a:fillToRect b="50%" l="50%" r="50%" t="50%"/>
            </a:path>
            <a:tileRect/>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3" name="Google Shape;173;g3ca65b628b7_1_0"/>
          <p:cNvSpPr txBox="1"/>
          <p:nvPr/>
        </p:nvSpPr>
        <p:spPr>
          <a:xfrm>
            <a:off x="113199" y="910899"/>
            <a:ext cx="3923707" cy="1200288"/>
          </a:xfrm>
          <a:prstGeom prst="rect">
            <a:avLst/>
          </a:prstGeom>
          <a:gradFill>
            <a:gsLst>
              <a:gs pos="0">
                <a:srgbClr val="A6B6DE"/>
              </a:gs>
              <a:gs pos="50000">
                <a:srgbClr val="98AAD9"/>
              </a:gs>
              <a:gs pos="100000">
                <a:srgbClr val="859CD7"/>
              </a:gs>
            </a:gsLst>
            <a:lin ang="5400012" scaled="0"/>
          </a:gradFill>
          <a:ln cap="flat" cmpd="sng" w="9525">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100"/>
              <a:buFont typeface="Arial"/>
              <a:buNone/>
            </a:pPr>
            <a:r>
              <a:rPr b="0" i="0" lang="en-US" sz="1200" u="none" cap="none" strike="noStrike">
                <a:solidFill>
                  <a:schemeClr val="dk1"/>
                </a:solidFill>
                <a:latin typeface="Calibri"/>
                <a:ea typeface="Calibri"/>
                <a:cs typeface="Calibri"/>
                <a:sym typeface="Calibri"/>
              </a:rPr>
              <a:t>Configuración del experimento</a:t>
            </a:r>
            <a:endParaRPr b="0" i="0" sz="1200" u="none" cap="none" strike="noStrike">
              <a:solidFill>
                <a:schemeClr val="dk1"/>
              </a:solidFill>
              <a:latin typeface="Calibri"/>
              <a:ea typeface="Calibri"/>
              <a:cs typeface="Calibri"/>
              <a:sym typeface="Calibri"/>
            </a:endParaRPr>
          </a:p>
          <a:p>
            <a:pPr indent="-279400" lvl="0" marL="457200" marR="0" rtl="0" algn="l">
              <a:lnSpc>
                <a:spcPct val="100000"/>
              </a:lnSpc>
              <a:spcBef>
                <a:spcPts val="0"/>
              </a:spcBef>
              <a:spcAft>
                <a:spcPts val="0"/>
              </a:spcAft>
              <a:buClr>
                <a:srgbClr val="1E4E79"/>
              </a:buClr>
              <a:buSzPts val="800"/>
              <a:buFont typeface="Calibri"/>
              <a:buChar char="●"/>
            </a:pPr>
            <a:r>
              <a:rPr b="0" i="0" lang="en-US" sz="800" u="none" cap="none" strike="noStrike">
                <a:solidFill>
                  <a:schemeClr val="dk1"/>
                </a:solidFill>
                <a:latin typeface="Calibri"/>
                <a:ea typeface="Calibri"/>
                <a:cs typeface="Calibri"/>
                <a:sym typeface="Calibri"/>
              </a:rPr>
              <a:t>Dataset original: 4,750 locales.</a:t>
            </a:r>
            <a:endParaRPr b="0" i="0" sz="800" u="none" cap="none" strike="noStrike">
              <a:solidFill>
                <a:schemeClr val="dk1"/>
              </a:solidFill>
              <a:latin typeface="Calibri"/>
              <a:ea typeface="Calibri"/>
              <a:cs typeface="Calibri"/>
              <a:sym typeface="Calibri"/>
            </a:endParaRPr>
          </a:p>
          <a:p>
            <a:pPr indent="-279400" lvl="0" marL="457200" marR="0" rtl="0" algn="l">
              <a:lnSpc>
                <a:spcPct val="100000"/>
              </a:lnSpc>
              <a:spcBef>
                <a:spcPts val="0"/>
              </a:spcBef>
              <a:spcAft>
                <a:spcPts val="0"/>
              </a:spcAft>
              <a:buClr>
                <a:srgbClr val="1E4E79"/>
              </a:buClr>
              <a:buSzPts val="800"/>
              <a:buFont typeface="Calibri"/>
              <a:buChar char="●"/>
            </a:pPr>
            <a:r>
              <a:rPr b="0" i="0" lang="en-US" sz="800" u="none" cap="none" strike="noStrike">
                <a:solidFill>
                  <a:schemeClr val="dk1"/>
                </a:solidFill>
                <a:latin typeface="Calibri"/>
                <a:ea typeface="Calibri"/>
                <a:cs typeface="Calibri"/>
                <a:sym typeface="Calibri"/>
              </a:rPr>
              <a:t>Outliers detectados: 806 registros (17%) en variables clave (inversión CAPEX, marketing, alquiler, ventas).</a:t>
            </a:r>
            <a:endParaRPr b="0" i="0" sz="800" u="none" cap="none" strike="noStrike">
              <a:solidFill>
                <a:schemeClr val="dk1"/>
              </a:solidFill>
              <a:latin typeface="Calibri"/>
              <a:ea typeface="Calibri"/>
              <a:cs typeface="Calibri"/>
              <a:sym typeface="Calibri"/>
            </a:endParaRPr>
          </a:p>
          <a:p>
            <a:pPr indent="-279400" lvl="0" marL="457200" marR="0" rtl="0" algn="l">
              <a:lnSpc>
                <a:spcPct val="100000"/>
              </a:lnSpc>
              <a:spcBef>
                <a:spcPts val="0"/>
              </a:spcBef>
              <a:spcAft>
                <a:spcPts val="0"/>
              </a:spcAft>
              <a:buClr>
                <a:srgbClr val="1E4E79"/>
              </a:buClr>
              <a:buSzPts val="800"/>
              <a:buFont typeface="Calibri"/>
              <a:buChar char="●"/>
            </a:pPr>
            <a:r>
              <a:rPr b="0" i="0" lang="en-US" sz="800" u="none" cap="none" strike="noStrike">
                <a:solidFill>
                  <a:schemeClr val="dk1"/>
                </a:solidFill>
                <a:latin typeface="Calibri"/>
                <a:ea typeface="Calibri"/>
                <a:cs typeface="Calibri"/>
                <a:sym typeface="Calibri"/>
              </a:rPr>
              <a:t>Modelos comparados: KNN (con búsqueda de k óptimo) y Random Forest.</a:t>
            </a:r>
            <a:endParaRPr b="0" i="0" sz="800" u="none" cap="none" strike="noStrike">
              <a:solidFill>
                <a:schemeClr val="dk1"/>
              </a:solidFill>
              <a:latin typeface="Calibri"/>
              <a:ea typeface="Calibri"/>
              <a:cs typeface="Calibri"/>
              <a:sym typeface="Calibri"/>
            </a:endParaRPr>
          </a:p>
          <a:p>
            <a:pPr indent="-279400" lvl="0" marL="457200" marR="0" rtl="0" algn="l">
              <a:lnSpc>
                <a:spcPct val="100000"/>
              </a:lnSpc>
              <a:spcBef>
                <a:spcPts val="0"/>
              </a:spcBef>
              <a:spcAft>
                <a:spcPts val="0"/>
              </a:spcAft>
              <a:buClr>
                <a:srgbClr val="1E4E79"/>
              </a:buClr>
              <a:buSzPts val="800"/>
              <a:buFont typeface="Calibri"/>
              <a:buChar char="●"/>
            </a:pPr>
            <a:r>
              <a:rPr b="0" i="0" lang="en-US" sz="800" u="none" cap="none" strike="noStrike">
                <a:solidFill>
                  <a:schemeClr val="dk1"/>
                </a:solidFill>
                <a:latin typeface="Calibri"/>
                <a:ea typeface="Calibri"/>
                <a:cs typeface="Calibri"/>
                <a:sym typeface="Calibri"/>
              </a:rPr>
              <a:t>Métrica principal: R² (coeficiente de determinación) y MAE (error absoluto medio)</a:t>
            </a:r>
            <a:endParaRPr b="0" i="0" sz="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1E4E79"/>
              </a:solidFill>
              <a:latin typeface="Calibri"/>
              <a:ea typeface="Calibri"/>
              <a:cs typeface="Calibri"/>
              <a:sym typeface="Calibri"/>
            </a:endParaRPr>
          </a:p>
        </p:txBody>
      </p:sp>
      <p:sp>
        <p:nvSpPr>
          <p:cNvPr id="174" name="Google Shape;174;g3ca65b628b7_1_0"/>
          <p:cNvSpPr txBox="1"/>
          <p:nvPr/>
        </p:nvSpPr>
        <p:spPr>
          <a:xfrm>
            <a:off x="4658300" y="910904"/>
            <a:ext cx="4172400" cy="1200600"/>
          </a:xfrm>
          <a:prstGeom prst="rect">
            <a:avLst/>
          </a:prstGeom>
          <a:gradFill>
            <a:gsLst>
              <a:gs pos="0">
                <a:srgbClr val="B4D4A5"/>
              </a:gs>
              <a:gs pos="50000">
                <a:srgbClr val="A8CD97"/>
              </a:gs>
              <a:gs pos="100000">
                <a:srgbClr val="9BC985"/>
              </a:gs>
            </a:gsLst>
            <a:lin ang="5400700" scaled="0"/>
          </a:gradFill>
          <a:ln cap="flat" cmpd="sng" w="9525">
            <a:solidFill>
              <a:srgbClr val="2EC643"/>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100"/>
              <a:buFont typeface="Arial"/>
              <a:buNone/>
            </a:pPr>
            <a:r>
              <a:rPr b="0" i="0" lang="en-US" sz="900" u="none" cap="none" strike="noStrike">
                <a:solidFill>
                  <a:schemeClr val="dk1"/>
                </a:solidFill>
                <a:latin typeface="Calibri"/>
                <a:ea typeface="Calibri"/>
                <a:cs typeface="Calibri"/>
                <a:sym typeface="Calibri"/>
              </a:rPr>
              <a:t>Hallazgos clave</a:t>
            </a:r>
            <a:endParaRPr b="0" i="0" sz="1100" u="none" cap="none" strike="noStrike">
              <a:solidFill>
                <a:schemeClr val="dk1"/>
              </a:solidFill>
              <a:latin typeface="Arial"/>
              <a:ea typeface="Arial"/>
              <a:cs typeface="Arial"/>
              <a:sym typeface="Arial"/>
            </a:endParaRPr>
          </a:p>
          <a:p>
            <a:pPr indent="-285750" lvl="0" marL="457200" marR="0" rtl="0" algn="l">
              <a:lnSpc>
                <a:spcPct val="100000"/>
              </a:lnSpc>
              <a:spcBef>
                <a:spcPts val="0"/>
              </a:spcBef>
              <a:spcAft>
                <a:spcPts val="0"/>
              </a:spcAft>
              <a:buClr>
                <a:srgbClr val="548135"/>
              </a:buClr>
              <a:buSzPts val="900"/>
              <a:buFont typeface="Calibri"/>
              <a:buChar char="●"/>
            </a:pPr>
            <a:r>
              <a:rPr b="0" i="0" lang="en-US" sz="900" u="none" cap="none" strike="noStrike">
                <a:solidFill>
                  <a:schemeClr val="dk1"/>
                </a:solidFill>
                <a:latin typeface="Calibri"/>
                <a:ea typeface="Calibri"/>
                <a:cs typeface="Calibri"/>
                <a:sym typeface="Calibri"/>
              </a:rPr>
              <a:t>Random Forest es robusto a outliers: su rendimiento apenas empeora al eliminarlos (R²: 0.8543 → 0.809 (-4.5%). Esto indica que los casos extremos (locales premium) contienen información valiosa que el modelo aprovecha.</a:t>
            </a:r>
            <a:endParaRPr b="0" i="0" sz="900" u="none" cap="none" strike="noStrike">
              <a:solidFill>
                <a:schemeClr val="dk1"/>
              </a:solidFill>
              <a:latin typeface="Calibri"/>
              <a:ea typeface="Calibri"/>
              <a:cs typeface="Calibri"/>
              <a:sym typeface="Calibri"/>
            </a:endParaRPr>
          </a:p>
          <a:p>
            <a:pPr indent="-285750" lvl="0" marL="457200" marR="0" rtl="0" algn="l">
              <a:lnSpc>
                <a:spcPct val="100000"/>
              </a:lnSpc>
              <a:spcBef>
                <a:spcPts val="0"/>
              </a:spcBef>
              <a:spcAft>
                <a:spcPts val="0"/>
              </a:spcAft>
              <a:buClr>
                <a:srgbClr val="548135"/>
              </a:buClr>
              <a:buSzPts val="900"/>
              <a:buFont typeface="Calibri"/>
              <a:buChar char="●"/>
            </a:pPr>
            <a:r>
              <a:rPr b="0" i="0" lang="en-US" sz="900" u="none" cap="none" strike="noStrike">
                <a:solidFill>
                  <a:schemeClr val="dk1"/>
                </a:solidFill>
                <a:latin typeface="Calibri"/>
                <a:ea typeface="Calibri"/>
                <a:cs typeface="Calibri"/>
                <a:sym typeface="Calibri"/>
              </a:rPr>
              <a:t>KNN es más sensible: R²: 0.7272→ 0.704 (-2.3%) y su error aumenta proporcionalmente.</a:t>
            </a:r>
            <a:endParaRPr b="0" i="0" sz="900" u="none" cap="none" strike="noStrike">
              <a:solidFill>
                <a:schemeClr val="dk1"/>
              </a:solidFill>
              <a:latin typeface="Calibri"/>
              <a:ea typeface="Calibri"/>
              <a:cs typeface="Calibri"/>
              <a:sym typeface="Calibri"/>
            </a:endParaRPr>
          </a:p>
          <a:p>
            <a:pPr indent="-285750" lvl="0" marL="457200" marR="0" rtl="0" algn="l">
              <a:lnSpc>
                <a:spcPct val="100000"/>
              </a:lnSpc>
              <a:spcBef>
                <a:spcPts val="0"/>
              </a:spcBef>
              <a:spcAft>
                <a:spcPts val="0"/>
              </a:spcAft>
              <a:buClr>
                <a:srgbClr val="548135"/>
              </a:buClr>
              <a:buSzPts val="900"/>
              <a:buFont typeface="Calibri"/>
              <a:buChar char="●"/>
            </a:pPr>
            <a:r>
              <a:rPr b="0" i="0" lang="en-US" sz="900" u="none" cap="none" strike="noStrike">
                <a:solidFill>
                  <a:schemeClr val="dk1"/>
                </a:solidFill>
                <a:latin typeface="Calibri"/>
                <a:ea typeface="Calibri"/>
                <a:cs typeface="Calibri"/>
                <a:sym typeface="Calibri"/>
              </a:rPr>
              <a:t>El mejor modelo sigue siendo Random Forest con outliers: R² = 0.8543 (85.4% de precisión)</a:t>
            </a:r>
            <a:endParaRPr b="0" i="0" sz="900" u="none" cap="none" strike="noStrike">
              <a:solidFill>
                <a:schemeClr val="dk1"/>
              </a:solidFill>
              <a:latin typeface="Calibri"/>
              <a:ea typeface="Calibri"/>
              <a:cs typeface="Calibri"/>
              <a:sym typeface="Calibri"/>
            </a:endParaRPr>
          </a:p>
        </p:txBody>
      </p:sp>
      <p:pic>
        <p:nvPicPr>
          <p:cNvPr id="175" name="Google Shape;175;g3ca65b628b7_1_0"/>
          <p:cNvPicPr preferRelativeResize="0"/>
          <p:nvPr/>
        </p:nvPicPr>
        <p:blipFill rotWithShape="1">
          <a:blip r:embed="rId4">
            <a:alphaModFix/>
          </a:blip>
          <a:srcRect b="0" l="0" r="0" t="0"/>
          <a:stretch/>
        </p:blipFill>
        <p:spPr>
          <a:xfrm>
            <a:off x="95552" y="2189946"/>
            <a:ext cx="8735148" cy="289544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BFF"/>
        </a:solidFill>
      </p:bgPr>
    </p:bg>
    <p:spTree>
      <p:nvGrpSpPr>
        <p:cNvPr id="180" name="Shape 180"/>
        <p:cNvGrpSpPr/>
        <p:nvPr/>
      </p:nvGrpSpPr>
      <p:grpSpPr>
        <a:xfrm>
          <a:off x="0" y="0"/>
          <a:ext cx="0" cy="0"/>
          <a:chOff x="0" y="0"/>
          <a:chExt cx="0" cy="0"/>
        </a:xfrm>
      </p:grpSpPr>
      <p:sp>
        <p:nvSpPr>
          <p:cNvPr id="181" name="Google Shape;181;p4"/>
          <p:cNvSpPr/>
          <p:nvPr/>
        </p:nvSpPr>
        <p:spPr>
          <a:xfrm>
            <a:off x="8305725" y="4923225"/>
            <a:ext cx="779700" cy="17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4"/>
          <p:cNvSpPr/>
          <p:nvPr/>
        </p:nvSpPr>
        <p:spPr>
          <a:xfrm>
            <a:off x="0" y="0"/>
            <a:ext cx="9144000" cy="777240"/>
          </a:xfrm>
          <a:prstGeom prst="rect">
            <a:avLst/>
          </a:prstGeom>
          <a:solidFill>
            <a:srgbClr val="0D1B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3" name="Google Shape;183;p4"/>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ANÁLISIS EXPLORATORIO DE DATOS</a:t>
            </a:r>
            <a:endParaRPr b="0" i="0" sz="2200" u="none" cap="none" strike="noStrike">
              <a:solidFill>
                <a:schemeClr val="dk1"/>
              </a:solidFill>
              <a:latin typeface="Calibri"/>
              <a:ea typeface="Calibri"/>
              <a:cs typeface="Calibri"/>
              <a:sym typeface="Calibri"/>
            </a:endParaRPr>
          </a:p>
        </p:txBody>
      </p:sp>
      <p:sp>
        <p:nvSpPr>
          <p:cNvPr id="184" name="Google Shape;184;p4"/>
          <p:cNvSpPr/>
          <p:nvPr/>
        </p:nvSpPr>
        <p:spPr>
          <a:xfrm>
            <a:off x="0" y="777240"/>
            <a:ext cx="9144000" cy="54864"/>
          </a:xfrm>
          <a:prstGeom prst="rect">
            <a:avLst/>
          </a:prstGeom>
          <a:gradFill>
            <a:gsLst>
              <a:gs pos="0">
                <a:srgbClr val="929292"/>
              </a:gs>
              <a:gs pos="23000">
                <a:srgbClr val="929292"/>
              </a:gs>
              <a:gs pos="69000">
                <a:srgbClr val="7B7B7B"/>
              </a:gs>
              <a:gs pos="97000">
                <a:srgbClr val="737373"/>
              </a:gs>
              <a:gs pos="100000">
                <a:srgbClr val="737373"/>
              </a:gs>
            </a:gsLst>
            <a:path path="circle">
              <a:fillToRect b="50%" l="50%" r="50%" t="50%"/>
            </a:path>
            <a:tileRect/>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4"/>
          <p:cNvSpPr/>
          <p:nvPr/>
        </p:nvSpPr>
        <p:spPr>
          <a:xfrm>
            <a:off x="320040" y="960120"/>
            <a:ext cx="1920240" cy="640080"/>
          </a:xfrm>
          <a:prstGeom prst="rect">
            <a:avLst/>
          </a:prstGeom>
          <a:solidFill>
            <a:srgbClr val="1565C0"/>
          </a:solidFill>
          <a:ln>
            <a:noFill/>
          </a:ln>
          <a:effectLst>
            <a:outerShdw blurRad="63500" rotWithShape="0" algn="bl" dir="8100000" dist="25400">
              <a:srgbClr val="000000">
                <a:alpha val="14901"/>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6" name="Google Shape;186;p4"/>
          <p:cNvSpPr/>
          <p:nvPr/>
        </p:nvSpPr>
        <p:spPr>
          <a:xfrm>
            <a:off x="320040" y="987552"/>
            <a:ext cx="19202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$502,982</a:t>
            </a:r>
            <a:endParaRPr b="0" i="0" sz="1600" u="none" cap="none" strike="noStrike">
              <a:solidFill>
                <a:schemeClr val="dk1"/>
              </a:solidFill>
              <a:latin typeface="Calibri"/>
              <a:ea typeface="Calibri"/>
              <a:cs typeface="Calibri"/>
              <a:sym typeface="Calibri"/>
            </a:endParaRPr>
          </a:p>
        </p:txBody>
      </p:sp>
      <p:sp>
        <p:nvSpPr>
          <p:cNvPr id="187" name="Google Shape;187;p4"/>
          <p:cNvSpPr/>
          <p:nvPr/>
        </p:nvSpPr>
        <p:spPr>
          <a:xfrm>
            <a:off x="320040" y="1335024"/>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3D1FF"/>
              </a:buClr>
              <a:buSzPts val="900"/>
              <a:buFont typeface="Calibri"/>
              <a:buNone/>
            </a:pPr>
            <a:r>
              <a:rPr b="0" i="0" lang="en-US" sz="900" u="none" cap="none" strike="noStrike">
                <a:solidFill>
                  <a:srgbClr val="B3D1FF"/>
                </a:solidFill>
                <a:latin typeface="Calibri"/>
                <a:ea typeface="Calibri"/>
                <a:cs typeface="Calibri"/>
                <a:sym typeface="Calibri"/>
              </a:rPr>
              <a:t>Venta Media</a:t>
            </a:r>
            <a:endParaRPr b="0" i="0" sz="900" u="none" cap="none" strike="noStrike">
              <a:solidFill>
                <a:schemeClr val="dk1"/>
              </a:solidFill>
              <a:latin typeface="Calibri"/>
              <a:ea typeface="Calibri"/>
              <a:cs typeface="Calibri"/>
              <a:sym typeface="Calibri"/>
            </a:endParaRPr>
          </a:p>
        </p:txBody>
      </p:sp>
      <p:sp>
        <p:nvSpPr>
          <p:cNvPr id="188" name="Google Shape;188;p4"/>
          <p:cNvSpPr/>
          <p:nvPr/>
        </p:nvSpPr>
        <p:spPr>
          <a:xfrm>
            <a:off x="2496312" y="960120"/>
            <a:ext cx="1920240" cy="640080"/>
          </a:xfrm>
          <a:prstGeom prst="rect">
            <a:avLst/>
          </a:prstGeom>
          <a:solidFill>
            <a:srgbClr val="1565C0"/>
          </a:solidFill>
          <a:ln>
            <a:noFill/>
          </a:ln>
          <a:effectLst>
            <a:outerShdw blurRad="63500" rotWithShape="0" algn="bl" dir="8100000" dist="25400">
              <a:srgbClr val="000000">
                <a:alpha val="14901"/>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9" name="Google Shape;189;p4"/>
          <p:cNvSpPr/>
          <p:nvPr/>
        </p:nvSpPr>
        <p:spPr>
          <a:xfrm>
            <a:off x="2496312" y="987552"/>
            <a:ext cx="19202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$458,989</a:t>
            </a:r>
            <a:endParaRPr b="0" i="0" sz="1600" u="none" cap="none" strike="noStrike">
              <a:solidFill>
                <a:schemeClr val="dk1"/>
              </a:solidFill>
              <a:latin typeface="Calibri"/>
              <a:ea typeface="Calibri"/>
              <a:cs typeface="Calibri"/>
              <a:sym typeface="Calibri"/>
            </a:endParaRPr>
          </a:p>
        </p:txBody>
      </p:sp>
      <p:sp>
        <p:nvSpPr>
          <p:cNvPr id="190" name="Google Shape;190;p4"/>
          <p:cNvSpPr/>
          <p:nvPr/>
        </p:nvSpPr>
        <p:spPr>
          <a:xfrm>
            <a:off x="2496312" y="1335024"/>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3D1FF"/>
              </a:buClr>
              <a:buSzPts val="900"/>
              <a:buFont typeface="Calibri"/>
              <a:buNone/>
            </a:pPr>
            <a:r>
              <a:rPr b="0" i="0" lang="en-US" sz="900" u="none" cap="none" strike="noStrike">
                <a:solidFill>
                  <a:srgbClr val="B3D1FF"/>
                </a:solidFill>
                <a:latin typeface="Calibri"/>
                <a:ea typeface="Calibri"/>
                <a:cs typeface="Calibri"/>
                <a:sym typeface="Calibri"/>
              </a:rPr>
              <a:t>Mediana</a:t>
            </a:r>
            <a:endParaRPr b="0" i="0" sz="900" u="none" cap="none" strike="noStrike">
              <a:solidFill>
                <a:schemeClr val="dk1"/>
              </a:solidFill>
              <a:latin typeface="Calibri"/>
              <a:ea typeface="Calibri"/>
              <a:cs typeface="Calibri"/>
              <a:sym typeface="Calibri"/>
            </a:endParaRPr>
          </a:p>
        </p:txBody>
      </p:sp>
      <p:sp>
        <p:nvSpPr>
          <p:cNvPr id="191" name="Google Shape;191;p4"/>
          <p:cNvSpPr/>
          <p:nvPr/>
        </p:nvSpPr>
        <p:spPr>
          <a:xfrm>
            <a:off x="4672584" y="960120"/>
            <a:ext cx="1920240" cy="640080"/>
          </a:xfrm>
          <a:prstGeom prst="rect">
            <a:avLst/>
          </a:prstGeom>
          <a:solidFill>
            <a:srgbClr val="1565C0"/>
          </a:solidFill>
          <a:ln>
            <a:noFill/>
          </a:ln>
          <a:effectLst>
            <a:outerShdw blurRad="63500" rotWithShape="0" algn="bl" dir="8100000" dist="25400">
              <a:srgbClr val="000000">
                <a:alpha val="14901"/>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2" name="Google Shape;192;p4"/>
          <p:cNvSpPr/>
          <p:nvPr/>
        </p:nvSpPr>
        <p:spPr>
          <a:xfrm>
            <a:off x="4672584" y="987552"/>
            <a:ext cx="19202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$52,691</a:t>
            </a:r>
            <a:endParaRPr b="0" i="0" sz="1600" u="none" cap="none" strike="noStrike">
              <a:solidFill>
                <a:schemeClr val="dk1"/>
              </a:solidFill>
              <a:latin typeface="Calibri"/>
              <a:ea typeface="Calibri"/>
              <a:cs typeface="Calibri"/>
              <a:sym typeface="Calibri"/>
            </a:endParaRPr>
          </a:p>
        </p:txBody>
      </p:sp>
      <p:sp>
        <p:nvSpPr>
          <p:cNvPr id="193" name="Google Shape;193;p4"/>
          <p:cNvSpPr/>
          <p:nvPr/>
        </p:nvSpPr>
        <p:spPr>
          <a:xfrm>
            <a:off x="4672584" y="1335024"/>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3D1FF"/>
              </a:buClr>
              <a:buSzPts val="900"/>
              <a:buFont typeface="Calibri"/>
              <a:buNone/>
            </a:pPr>
            <a:r>
              <a:rPr b="0" i="0" lang="en-US" sz="900" u="none" cap="none" strike="noStrike">
                <a:solidFill>
                  <a:srgbClr val="B3D1FF"/>
                </a:solidFill>
                <a:latin typeface="Calibri"/>
                <a:ea typeface="Calibri"/>
                <a:cs typeface="Calibri"/>
                <a:sym typeface="Calibri"/>
              </a:rPr>
              <a:t>Mínimo</a:t>
            </a:r>
            <a:endParaRPr b="0" i="0" sz="900" u="none" cap="none" strike="noStrike">
              <a:solidFill>
                <a:schemeClr val="dk1"/>
              </a:solidFill>
              <a:latin typeface="Calibri"/>
              <a:ea typeface="Calibri"/>
              <a:cs typeface="Calibri"/>
              <a:sym typeface="Calibri"/>
            </a:endParaRPr>
          </a:p>
        </p:txBody>
      </p:sp>
      <p:sp>
        <p:nvSpPr>
          <p:cNvPr id="194" name="Google Shape;194;p4"/>
          <p:cNvSpPr/>
          <p:nvPr/>
        </p:nvSpPr>
        <p:spPr>
          <a:xfrm>
            <a:off x="6848856" y="960120"/>
            <a:ext cx="1920240" cy="640080"/>
          </a:xfrm>
          <a:prstGeom prst="rect">
            <a:avLst/>
          </a:prstGeom>
          <a:solidFill>
            <a:srgbClr val="1565C0"/>
          </a:solidFill>
          <a:ln>
            <a:noFill/>
          </a:ln>
          <a:effectLst>
            <a:outerShdw blurRad="63500" rotWithShape="0" algn="bl" dir="8100000" dist="25400">
              <a:srgbClr val="000000">
                <a:alpha val="14901"/>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5" name="Google Shape;195;p4"/>
          <p:cNvSpPr/>
          <p:nvPr/>
        </p:nvSpPr>
        <p:spPr>
          <a:xfrm>
            <a:off x="6848856" y="987552"/>
            <a:ext cx="19202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$1,853,638</a:t>
            </a:r>
            <a:endParaRPr b="0" i="0" sz="1600" u="none" cap="none" strike="noStrike">
              <a:solidFill>
                <a:schemeClr val="dk1"/>
              </a:solidFill>
              <a:latin typeface="Calibri"/>
              <a:ea typeface="Calibri"/>
              <a:cs typeface="Calibri"/>
              <a:sym typeface="Calibri"/>
            </a:endParaRPr>
          </a:p>
        </p:txBody>
      </p:sp>
      <p:sp>
        <p:nvSpPr>
          <p:cNvPr id="196" name="Google Shape;196;p4"/>
          <p:cNvSpPr/>
          <p:nvPr/>
        </p:nvSpPr>
        <p:spPr>
          <a:xfrm>
            <a:off x="6848856" y="1335024"/>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3D1FF"/>
              </a:buClr>
              <a:buSzPts val="900"/>
              <a:buFont typeface="Calibri"/>
              <a:buNone/>
            </a:pPr>
            <a:r>
              <a:rPr b="0" i="0" lang="en-US" sz="900" u="none" cap="none" strike="noStrike">
                <a:solidFill>
                  <a:srgbClr val="B3D1FF"/>
                </a:solidFill>
                <a:latin typeface="Calibri"/>
                <a:ea typeface="Calibri"/>
                <a:cs typeface="Calibri"/>
                <a:sym typeface="Calibri"/>
              </a:rPr>
              <a:t>Máximo</a:t>
            </a:r>
            <a:endParaRPr b="0" i="0" sz="900" u="none" cap="none" strike="noStrike">
              <a:solidFill>
                <a:schemeClr val="dk1"/>
              </a:solidFill>
              <a:latin typeface="Calibri"/>
              <a:ea typeface="Calibri"/>
              <a:cs typeface="Calibri"/>
              <a:sym typeface="Calibri"/>
            </a:endParaRPr>
          </a:p>
        </p:txBody>
      </p:sp>
      <p:sp>
        <p:nvSpPr>
          <p:cNvPr id="197" name="Google Shape;197;p4"/>
          <p:cNvSpPr/>
          <p:nvPr/>
        </p:nvSpPr>
        <p:spPr>
          <a:xfrm>
            <a:off x="320040" y="4407408"/>
            <a:ext cx="429768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Distribución de Ventas Anuales</a:t>
            </a:r>
            <a:endParaRPr b="0" i="0" sz="900" u="none" cap="none" strike="noStrike">
              <a:solidFill>
                <a:schemeClr val="dk1"/>
              </a:solidFill>
              <a:latin typeface="Calibri"/>
              <a:ea typeface="Calibri"/>
              <a:cs typeface="Calibri"/>
              <a:sym typeface="Calibri"/>
            </a:endParaRPr>
          </a:p>
        </p:txBody>
      </p:sp>
      <p:sp>
        <p:nvSpPr>
          <p:cNvPr id="198" name="Google Shape;198;p4"/>
          <p:cNvSpPr/>
          <p:nvPr/>
        </p:nvSpPr>
        <p:spPr>
          <a:xfrm>
            <a:off x="4754880" y="4407408"/>
            <a:ext cx="41148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Ventas Promedio por Rubro</a:t>
            </a:r>
            <a:endParaRPr b="0" i="0" sz="900" u="none" cap="none" strike="noStrike">
              <a:solidFill>
                <a:schemeClr val="dk1"/>
              </a:solidFill>
              <a:latin typeface="Calibri"/>
              <a:ea typeface="Calibri"/>
              <a:cs typeface="Calibri"/>
              <a:sym typeface="Calibri"/>
            </a:endParaRPr>
          </a:p>
        </p:txBody>
      </p:sp>
      <p:sp>
        <p:nvSpPr>
          <p:cNvPr id="199" name="Google Shape;199;p4"/>
          <p:cNvSpPr/>
          <p:nvPr/>
        </p:nvSpPr>
        <p:spPr>
          <a:xfrm>
            <a:off x="320040" y="4709160"/>
            <a:ext cx="8503920" cy="347472"/>
          </a:xfrm>
          <a:prstGeom prst="rect">
            <a:avLst/>
          </a:prstGeom>
          <a:solidFill>
            <a:srgbClr val="E3F0FF"/>
          </a:solidFill>
          <a:ln cap="flat" cmpd="sng" w="10150">
            <a:solidFill>
              <a:srgbClr val="1565C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0" name="Google Shape;200;p4"/>
          <p:cNvSpPr/>
          <p:nvPr/>
        </p:nvSpPr>
        <p:spPr>
          <a:xfrm>
            <a:off x="411480" y="4718304"/>
            <a:ext cx="832104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900"/>
              <a:buFont typeface="Calibri"/>
              <a:buNone/>
            </a:pPr>
            <a:r>
              <a:rPr b="0" i="0" lang="en-US" sz="900" u="none" cap="none" strike="noStrike">
                <a:solidFill>
                  <a:srgbClr val="0D1B4B"/>
                </a:solidFill>
                <a:latin typeface="Calibri"/>
                <a:ea typeface="Calibri"/>
                <a:cs typeface="Calibri"/>
                <a:sym typeface="Calibri"/>
              </a:rPr>
              <a:t>💡  Tecnología y Farmacia lideran con +$790K de venta media. La distribución es asimétrica positiva — la mayoría de locales vende entre $300K–$700K.</a:t>
            </a:r>
            <a:endParaRPr b="0" i="0" sz="900" u="none" cap="none" strike="noStrike">
              <a:solidFill>
                <a:schemeClr val="dk1"/>
              </a:solidFill>
              <a:latin typeface="Calibri"/>
              <a:ea typeface="Calibri"/>
              <a:cs typeface="Calibri"/>
              <a:sym typeface="Calibri"/>
            </a:endParaRPr>
          </a:p>
        </p:txBody>
      </p:sp>
      <p:pic>
        <p:nvPicPr>
          <p:cNvPr id="201" name="Google Shape;201;p4"/>
          <p:cNvPicPr preferRelativeResize="0"/>
          <p:nvPr/>
        </p:nvPicPr>
        <p:blipFill rotWithShape="1">
          <a:blip r:embed="rId3">
            <a:alphaModFix/>
          </a:blip>
          <a:srcRect b="0" l="0" r="0" t="0"/>
          <a:stretch/>
        </p:blipFill>
        <p:spPr>
          <a:xfrm>
            <a:off x="61354" y="2013233"/>
            <a:ext cx="4607715" cy="2282892"/>
          </a:xfrm>
          <a:prstGeom prst="rect">
            <a:avLst/>
          </a:prstGeom>
          <a:noFill/>
          <a:ln>
            <a:noFill/>
          </a:ln>
        </p:spPr>
      </p:pic>
      <p:pic>
        <p:nvPicPr>
          <p:cNvPr id="202" name="Google Shape;202;p4"/>
          <p:cNvPicPr preferRelativeResize="0"/>
          <p:nvPr/>
        </p:nvPicPr>
        <p:blipFill rotWithShape="1">
          <a:blip r:embed="rId4">
            <a:alphaModFix/>
          </a:blip>
          <a:srcRect b="0" l="0" r="0" t="0"/>
          <a:stretch/>
        </p:blipFill>
        <p:spPr>
          <a:xfrm>
            <a:off x="4648397" y="2077241"/>
            <a:ext cx="4327766" cy="214674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5"/>
          <p:cNvSpPr/>
          <p:nvPr/>
        </p:nvSpPr>
        <p:spPr>
          <a:xfrm>
            <a:off x="457200" y="4315968"/>
            <a:ext cx="3657600"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Error porcentual promedio. Muy aceptable para decisiones de inversión.</a:t>
            </a:r>
            <a:endParaRPr b="0" i="0" sz="850" u="none" cap="none" strike="noStrike">
              <a:solidFill>
                <a:schemeClr val="dk1"/>
              </a:solidFill>
              <a:latin typeface="Calibri"/>
              <a:ea typeface="Calibri"/>
              <a:cs typeface="Calibri"/>
              <a:sym typeface="Calibri"/>
            </a:endParaRPr>
          </a:p>
        </p:txBody>
      </p:sp>
      <p:sp>
        <p:nvSpPr>
          <p:cNvPr id="209" name="Google Shape;209;p5"/>
          <p:cNvSpPr/>
          <p:nvPr/>
        </p:nvSpPr>
        <p:spPr>
          <a:xfrm>
            <a:off x="0" y="0"/>
            <a:ext cx="9144000" cy="777240"/>
          </a:xfrm>
          <a:prstGeom prst="rect">
            <a:avLst/>
          </a:prstGeom>
          <a:solidFill>
            <a:srgbClr val="0D1B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0" name="Google Shape;210;p5"/>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MATRIZ DE CORRELACIONES</a:t>
            </a:r>
            <a:endParaRPr b="0" i="0" sz="2200" u="none" cap="none" strike="noStrike">
              <a:solidFill>
                <a:schemeClr val="dk1"/>
              </a:solidFill>
              <a:latin typeface="Calibri"/>
              <a:ea typeface="Calibri"/>
              <a:cs typeface="Calibri"/>
              <a:sym typeface="Calibri"/>
            </a:endParaRPr>
          </a:p>
        </p:txBody>
      </p:sp>
      <p:sp>
        <p:nvSpPr>
          <p:cNvPr id="211" name="Google Shape;211;p5"/>
          <p:cNvSpPr/>
          <p:nvPr/>
        </p:nvSpPr>
        <p:spPr>
          <a:xfrm>
            <a:off x="0" y="777240"/>
            <a:ext cx="9144000" cy="54864"/>
          </a:xfrm>
          <a:prstGeom prst="rect">
            <a:avLst/>
          </a:prstGeom>
          <a:gradFill>
            <a:gsLst>
              <a:gs pos="0">
                <a:srgbClr val="6E6E6E"/>
              </a:gs>
              <a:gs pos="48000">
                <a:srgbClr val="A7A7A7"/>
              </a:gs>
              <a:gs pos="100000">
                <a:srgbClr val="C9C9C9"/>
              </a:gs>
            </a:gsLst>
            <a:lin ang="162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2" name="Google Shape;212;p5"/>
          <p:cNvSpPr txBox="1"/>
          <p:nvPr/>
        </p:nvSpPr>
        <p:spPr>
          <a:xfrm>
            <a:off x="5120640" y="1467828"/>
            <a:ext cx="3815400" cy="3355500"/>
          </a:xfrm>
          <a:prstGeom prst="rect">
            <a:avLst/>
          </a:prstGeom>
          <a:solidFill>
            <a:schemeClr val="lt2"/>
          </a:solidFill>
          <a:ln cap="flat" cmpd="sng" w="25400">
            <a:solidFill>
              <a:schemeClr val="accent3"/>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 </a:t>
            </a:r>
            <a:r>
              <a:rPr b="1" i="0" lang="en-US" sz="900" u="none" cap="none" strike="noStrike">
                <a:solidFill>
                  <a:schemeClr val="dk1"/>
                </a:solidFill>
                <a:latin typeface="Arial"/>
                <a:ea typeface="Arial"/>
                <a:cs typeface="Arial"/>
                <a:sym typeface="Arial"/>
              </a:rPr>
              <a:t>Impacto Alto (drivers principales de ventas)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900"/>
              <a:buFont typeface="Arial"/>
              <a:buChar char="•"/>
            </a:pPr>
            <a:r>
              <a:rPr b="0" i="0" lang="en-US" sz="900" u="none" cap="none" strike="noStrike">
                <a:solidFill>
                  <a:schemeClr val="dk1"/>
                </a:solidFill>
                <a:latin typeface="Arial"/>
                <a:ea typeface="Arial"/>
                <a:cs typeface="Arial"/>
                <a:sym typeface="Arial"/>
              </a:rPr>
              <a:t>Inversión en Marketing Mensual (r = 0.62): Es el factor más determinante. Cada dólar adicional en marketing se asocia fuertemente con mayores ventas.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900"/>
              <a:buFont typeface="Arial"/>
              <a:buChar char="•"/>
            </a:pPr>
            <a:r>
              <a:rPr b="0" i="0" lang="en-US" sz="900" u="none" cap="none" strike="noStrike">
                <a:solidFill>
                  <a:schemeClr val="dk1"/>
                </a:solidFill>
                <a:latin typeface="Arial"/>
                <a:ea typeface="Arial"/>
                <a:cs typeface="Arial"/>
                <a:sym typeface="Arial"/>
              </a:rPr>
              <a:t>Alquiler Mensual (r = 0.58): Un alquiler más alto (generalmente vinculado a mejores ubicaciones) también impulsa ventas de forma importante.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 </a:t>
            </a:r>
            <a:r>
              <a:rPr b="1" i="0" lang="en-US" sz="900" u="none" cap="none" strike="noStrike">
                <a:solidFill>
                  <a:schemeClr val="dk1"/>
                </a:solidFill>
                <a:latin typeface="Arial"/>
                <a:ea typeface="Arial"/>
                <a:cs typeface="Arial"/>
                <a:sym typeface="Arial"/>
              </a:rPr>
              <a:t>Impacto Medio (potenciadores del desempeño)</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900"/>
              <a:buFont typeface="Arial"/>
              <a:buChar char="•"/>
            </a:pPr>
            <a:r>
              <a:rPr b="0" i="0" lang="en-US" sz="900" u="none" cap="none" strike="noStrike">
                <a:solidFill>
                  <a:schemeClr val="dk1"/>
                </a:solidFill>
                <a:latin typeface="Arial"/>
                <a:ea typeface="Arial"/>
                <a:cs typeface="Arial"/>
                <a:sym typeface="Arial"/>
              </a:rPr>
              <a:t>Distancia al Ancla (r = -0.42): Cuanto más lejos del local ancla, menores ventas. La proximidad a un gran generador de tráfico es clave.</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900"/>
              <a:buFont typeface="Arial"/>
              <a:buChar char="•"/>
            </a:pPr>
            <a:r>
              <a:rPr b="0" i="0" lang="en-US" sz="900" u="none" cap="none" strike="noStrike">
                <a:solidFill>
                  <a:schemeClr val="dk1"/>
                </a:solidFill>
                <a:latin typeface="Arial"/>
                <a:ea typeface="Arial"/>
                <a:cs typeface="Arial"/>
                <a:sym typeface="Arial"/>
              </a:rPr>
              <a:t>Densidad Poblacional (r = -0.30): A mayor densidad de población en la zona, menores ventas. Esto podría reflejar entornos más competitivos o de menor poder adquisitivo.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 </a:t>
            </a:r>
            <a:r>
              <a:rPr b="1" i="0" lang="en-US" sz="900" u="none" cap="none" strike="noStrike">
                <a:solidFill>
                  <a:schemeClr val="dk1"/>
                </a:solidFill>
                <a:latin typeface="Arial"/>
                <a:ea typeface="Arial"/>
                <a:cs typeface="Arial"/>
                <a:sym typeface="Arial"/>
              </a:rPr>
              <a:t>Impacto Bajo o Estructural</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900"/>
              <a:buFont typeface="Arial"/>
              <a:buChar char="•"/>
            </a:pPr>
            <a:r>
              <a:rPr b="0" i="0" lang="en-US" sz="900" u="none" cap="none" strike="noStrike">
                <a:solidFill>
                  <a:schemeClr val="dk1"/>
                </a:solidFill>
                <a:latin typeface="Arial"/>
                <a:ea typeface="Arial"/>
                <a:cs typeface="Arial"/>
                <a:sym typeface="Arial"/>
              </a:rPr>
              <a:t>Inversión CAPEX (r = 0.27) tienen una influencia positiva moderada, pero no tan fuerte como las anteriores.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900"/>
              <a:buFont typeface="Arial"/>
              <a:buChar char="•"/>
            </a:pPr>
            <a:r>
              <a:rPr b="0" i="0" lang="en-US" sz="900" u="none" cap="none" strike="noStrike">
                <a:solidFill>
                  <a:schemeClr val="dk1"/>
                </a:solidFill>
                <a:latin typeface="Arial"/>
                <a:ea typeface="Arial"/>
                <a:cs typeface="Arial"/>
                <a:sym typeface="Arial"/>
              </a:rPr>
              <a:t>Metros Vidriera (r = 0.20), Antigüedad (r = 0.21) y Superficie (r = 0.14) aportan de manera marginal.</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900"/>
              <a:buFont typeface="Arial"/>
              <a:buChar char="•"/>
            </a:pPr>
            <a:r>
              <a:rPr b="0" i="0" lang="en-US" sz="900" u="none" cap="none" strike="noStrike">
                <a:solidFill>
                  <a:schemeClr val="dk1"/>
                </a:solidFill>
                <a:latin typeface="Arial"/>
                <a:ea typeface="Arial"/>
                <a:cs typeface="Arial"/>
                <a:sym typeface="Arial"/>
              </a:rPr>
              <a:t>Tránsito Peatonal (r = 0.12), Puntos de Interés (r = 0.09)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13" name="Google Shape;213;p5"/>
          <p:cNvSpPr/>
          <p:nvPr/>
        </p:nvSpPr>
        <p:spPr>
          <a:xfrm>
            <a:off x="5120640" y="1131994"/>
            <a:ext cx="347472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100"/>
              <a:buFont typeface="Calibri"/>
              <a:buNone/>
            </a:pPr>
            <a:r>
              <a:rPr b="1" i="0" lang="en-US" sz="1600" u="sng" cap="none" strike="noStrike">
                <a:solidFill>
                  <a:schemeClr val="dk1"/>
                </a:solidFill>
                <a:latin typeface="Calibri"/>
                <a:ea typeface="Calibri"/>
                <a:cs typeface="Calibri"/>
                <a:sym typeface="Calibri"/>
              </a:rPr>
              <a:t>Comentarios:</a:t>
            </a:r>
            <a:endParaRPr b="1" i="0" sz="1600" u="sng" cap="none" strike="noStrike">
              <a:solidFill>
                <a:schemeClr val="dk1"/>
              </a:solidFill>
              <a:latin typeface="Calibri"/>
              <a:ea typeface="Calibri"/>
              <a:cs typeface="Calibri"/>
              <a:sym typeface="Calibri"/>
            </a:endParaRPr>
          </a:p>
        </p:txBody>
      </p:sp>
      <p:pic>
        <p:nvPicPr>
          <p:cNvPr id="214" name="Google Shape;214;p5"/>
          <p:cNvPicPr preferRelativeResize="0"/>
          <p:nvPr/>
        </p:nvPicPr>
        <p:blipFill rotWithShape="1">
          <a:blip r:embed="rId3">
            <a:alphaModFix/>
          </a:blip>
          <a:srcRect b="0" l="0" r="0" t="0"/>
          <a:stretch/>
        </p:blipFill>
        <p:spPr>
          <a:xfrm flipH="1" rot="10800000">
            <a:off x="7696187" y="4903118"/>
            <a:ext cx="1447825" cy="205100"/>
          </a:xfrm>
          <a:prstGeom prst="rect">
            <a:avLst/>
          </a:prstGeom>
          <a:noFill/>
          <a:ln>
            <a:noFill/>
          </a:ln>
        </p:spPr>
      </p:pic>
      <p:pic>
        <p:nvPicPr>
          <p:cNvPr id="215" name="Google Shape;215;p5"/>
          <p:cNvPicPr preferRelativeResize="0"/>
          <p:nvPr/>
        </p:nvPicPr>
        <p:blipFill rotWithShape="1">
          <a:blip r:embed="rId4">
            <a:alphaModFix/>
          </a:blip>
          <a:srcRect b="0" l="0" r="0" t="0"/>
          <a:stretch/>
        </p:blipFill>
        <p:spPr>
          <a:xfrm>
            <a:off x="62963" y="1005840"/>
            <a:ext cx="4824053" cy="419713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BFF"/>
        </a:solidFill>
      </p:bgPr>
    </p:bg>
    <p:spTree>
      <p:nvGrpSpPr>
        <p:cNvPr id="220" name="Shape 220"/>
        <p:cNvGrpSpPr/>
        <p:nvPr/>
      </p:nvGrpSpPr>
      <p:grpSpPr>
        <a:xfrm>
          <a:off x="0" y="0"/>
          <a:ext cx="0" cy="0"/>
          <a:chOff x="0" y="0"/>
          <a:chExt cx="0" cy="0"/>
        </a:xfrm>
      </p:grpSpPr>
      <p:pic>
        <p:nvPicPr>
          <p:cNvPr id="221" name="Google Shape;221;p7"/>
          <p:cNvPicPr preferRelativeResize="0"/>
          <p:nvPr/>
        </p:nvPicPr>
        <p:blipFill rotWithShape="1">
          <a:blip r:embed="rId3">
            <a:alphaModFix/>
          </a:blip>
          <a:srcRect b="0" l="0" r="0" t="0"/>
          <a:stretch/>
        </p:blipFill>
        <p:spPr>
          <a:xfrm>
            <a:off x="1659907" y="996696"/>
            <a:ext cx="5355165" cy="3189274"/>
          </a:xfrm>
          <a:prstGeom prst="rect">
            <a:avLst/>
          </a:prstGeom>
          <a:noFill/>
          <a:ln>
            <a:noFill/>
          </a:ln>
        </p:spPr>
      </p:pic>
      <p:sp>
        <p:nvSpPr>
          <p:cNvPr id="222" name="Google Shape;222;p7"/>
          <p:cNvSpPr/>
          <p:nvPr/>
        </p:nvSpPr>
        <p:spPr>
          <a:xfrm>
            <a:off x="8320350" y="4903925"/>
            <a:ext cx="779700" cy="171000"/>
          </a:xfrm>
          <a:prstGeom prst="rect">
            <a:avLst/>
          </a:prstGeom>
          <a:solidFill>
            <a:srgbClr val="F8FB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7"/>
          <p:cNvSpPr/>
          <p:nvPr/>
        </p:nvSpPr>
        <p:spPr>
          <a:xfrm>
            <a:off x="0" y="0"/>
            <a:ext cx="9144000" cy="777240"/>
          </a:xfrm>
          <a:prstGeom prst="rect">
            <a:avLst/>
          </a:prstGeom>
          <a:solidFill>
            <a:srgbClr val="0D1B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4" name="Google Shape;224;p7"/>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VARIABLES CLAVE &amp; CORRELACIONES</a:t>
            </a:r>
            <a:endParaRPr b="0" i="0" sz="2200" u="none" cap="none" strike="noStrike">
              <a:solidFill>
                <a:schemeClr val="dk1"/>
              </a:solidFill>
              <a:latin typeface="Calibri"/>
              <a:ea typeface="Calibri"/>
              <a:cs typeface="Calibri"/>
              <a:sym typeface="Calibri"/>
            </a:endParaRPr>
          </a:p>
        </p:txBody>
      </p:sp>
      <p:sp>
        <p:nvSpPr>
          <p:cNvPr id="225" name="Google Shape;225;p7"/>
          <p:cNvSpPr/>
          <p:nvPr/>
        </p:nvSpPr>
        <p:spPr>
          <a:xfrm>
            <a:off x="288900" y="4505996"/>
            <a:ext cx="8566200" cy="615300"/>
          </a:xfrm>
          <a:prstGeom prst="rect">
            <a:avLst/>
          </a:prstGeom>
          <a:solidFill>
            <a:srgbClr val="E3F0FF"/>
          </a:solidFill>
          <a:ln cap="flat" cmpd="sng" w="10150">
            <a:solidFill>
              <a:srgbClr val="1565C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6" name="Google Shape;226;p7"/>
          <p:cNvSpPr/>
          <p:nvPr/>
        </p:nvSpPr>
        <p:spPr>
          <a:xfrm>
            <a:off x="411480" y="4627534"/>
            <a:ext cx="832104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850"/>
              <a:buFont typeface="Calibri"/>
              <a:buNone/>
            </a:pPr>
            <a:r>
              <a:rPr b="0" i="0" lang="en-US" sz="850" u="none" cap="none" strike="noStrike">
                <a:solidFill>
                  <a:srgbClr val="0D1B4B"/>
                </a:solidFill>
                <a:latin typeface="Calibri"/>
                <a:ea typeface="Calibri"/>
                <a:cs typeface="Calibri"/>
                <a:sym typeface="Calibri"/>
              </a:rPr>
              <a:t>💡</a:t>
            </a:r>
            <a:r>
              <a:rPr b="1" i="0" lang="en-US" sz="1200" u="none" cap="none" strike="noStrike">
                <a:solidFill>
                  <a:srgbClr val="323F4F"/>
                </a:solidFill>
                <a:latin typeface="Calibri"/>
                <a:ea typeface="Calibri"/>
                <a:cs typeface="Calibri"/>
                <a:sym typeface="Calibri"/>
              </a:rPr>
              <a:t>Hallazgo clave: Los locales en esquina venden 14,4% más que los de media cuadra.  Esto se debe a mayor visibilidad (más metros de vidriera) y doble acceso peatonal</a:t>
            </a:r>
            <a:endParaRPr b="0" i="0" sz="850" u="none" cap="none" strike="noStrike">
              <a:solidFill>
                <a:schemeClr val="dk1"/>
              </a:solidFill>
              <a:latin typeface="Calibri"/>
              <a:ea typeface="Calibri"/>
              <a:cs typeface="Calibri"/>
              <a:sym typeface="Calibri"/>
            </a:endParaRPr>
          </a:p>
        </p:txBody>
      </p:sp>
      <p:sp>
        <p:nvSpPr>
          <p:cNvPr id="227" name="Google Shape;227;p7"/>
          <p:cNvSpPr/>
          <p:nvPr/>
        </p:nvSpPr>
        <p:spPr>
          <a:xfrm rot="-582583">
            <a:off x="3713546" y="2674181"/>
            <a:ext cx="1382099" cy="524421"/>
          </a:xfrm>
          <a:prstGeom prst="notchedRightArrow">
            <a:avLst>
              <a:gd fmla="val 50000" name="adj1"/>
              <a:gd fmla="val 50000" name="adj2"/>
            </a:avLst>
          </a:prstGeom>
          <a:solidFill>
            <a:schemeClr val="accent6"/>
          </a:solidFill>
          <a:ln cap="flat" cmpd="sng" w="12700">
            <a:solidFill>
              <a:srgbClr val="2F491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Calibri"/>
                <a:ea typeface="Calibri"/>
                <a:cs typeface="Calibri"/>
                <a:sym typeface="Calibri"/>
              </a:rPr>
              <a:t>+14.3%</a:t>
            </a:r>
            <a:endParaRPr b="0" i="0" sz="1800" u="none" cap="none" strike="noStrike">
              <a:solidFill>
                <a:schemeClr val="lt1"/>
              </a:solidFill>
              <a:latin typeface="Calibri"/>
              <a:ea typeface="Calibri"/>
              <a:cs typeface="Calibri"/>
              <a:sym typeface="Calibri"/>
            </a:endParaRPr>
          </a:p>
        </p:txBody>
      </p:sp>
      <p:sp>
        <p:nvSpPr>
          <p:cNvPr id="228" name="Google Shape;228;p7"/>
          <p:cNvSpPr/>
          <p:nvPr/>
        </p:nvSpPr>
        <p:spPr>
          <a:xfrm>
            <a:off x="0" y="777240"/>
            <a:ext cx="9144000" cy="54864"/>
          </a:xfrm>
          <a:prstGeom prst="rect">
            <a:avLst/>
          </a:prstGeom>
          <a:gradFill>
            <a:gsLst>
              <a:gs pos="0">
                <a:srgbClr val="6E6E6E"/>
              </a:gs>
              <a:gs pos="48000">
                <a:srgbClr val="A7A7A7"/>
              </a:gs>
              <a:gs pos="100000">
                <a:srgbClr val="C9C9C9"/>
              </a:gs>
            </a:gsLst>
            <a:lin ang="162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BFF"/>
        </a:solidFill>
      </p:bgPr>
    </p:bg>
    <p:spTree>
      <p:nvGrpSpPr>
        <p:cNvPr id="233" name="Shape 233"/>
        <p:cNvGrpSpPr/>
        <p:nvPr/>
      </p:nvGrpSpPr>
      <p:grpSpPr>
        <a:xfrm>
          <a:off x="0" y="0"/>
          <a:ext cx="0" cy="0"/>
          <a:chOff x="0" y="0"/>
          <a:chExt cx="0" cy="0"/>
        </a:xfrm>
      </p:grpSpPr>
      <p:sp>
        <p:nvSpPr>
          <p:cNvPr id="234" name="Google Shape;234;p6"/>
          <p:cNvSpPr/>
          <p:nvPr/>
        </p:nvSpPr>
        <p:spPr>
          <a:xfrm>
            <a:off x="8342344" y="4923225"/>
            <a:ext cx="779700" cy="171000"/>
          </a:xfrm>
          <a:prstGeom prst="rect">
            <a:avLst/>
          </a:prstGeom>
          <a:solidFill>
            <a:srgbClr val="F8FB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6"/>
          <p:cNvSpPr/>
          <p:nvPr/>
        </p:nvSpPr>
        <p:spPr>
          <a:xfrm>
            <a:off x="0" y="0"/>
            <a:ext cx="9144000" cy="777240"/>
          </a:xfrm>
          <a:prstGeom prst="rect">
            <a:avLst/>
          </a:prstGeom>
          <a:solidFill>
            <a:srgbClr val="0D1B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6" name="Google Shape;236;p6"/>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VARIABLES CLAVE &amp; CORRELACIONES</a:t>
            </a:r>
            <a:endParaRPr b="0" i="0" sz="2200" u="none" cap="none" strike="noStrike">
              <a:solidFill>
                <a:schemeClr val="dk1"/>
              </a:solidFill>
              <a:latin typeface="Calibri"/>
              <a:ea typeface="Calibri"/>
              <a:cs typeface="Calibri"/>
              <a:sym typeface="Calibri"/>
            </a:endParaRPr>
          </a:p>
        </p:txBody>
      </p:sp>
      <p:sp>
        <p:nvSpPr>
          <p:cNvPr id="237" name="Google Shape;237;p6"/>
          <p:cNvSpPr/>
          <p:nvPr/>
        </p:nvSpPr>
        <p:spPr>
          <a:xfrm>
            <a:off x="6316186" y="832103"/>
            <a:ext cx="2527500" cy="35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Tipo de Ubicación</a:t>
            </a:r>
            <a:endParaRPr b="0" i="0" sz="1100" u="none" cap="none" strike="noStrike">
              <a:solidFill>
                <a:schemeClr val="dk1"/>
              </a:solidFill>
              <a:latin typeface="Calibri"/>
              <a:ea typeface="Calibri"/>
              <a:cs typeface="Calibri"/>
              <a:sym typeface="Calibri"/>
            </a:endParaRPr>
          </a:p>
        </p:txBody>
      </p:sp>
      <p:sp>
        <p:nvSpPr>
          <p:cNvPr id="238" name="Google Shape;238;p6"/>
          <p:cNvSpPr/>
          <p:nvPr/>
        </p:nvSpPr>
        <p:spPr>
          <a:xfrm>
            <a:off x="317127" y="4864548"/>
            <a:ext cx="8503800" cy="255900"/>
          </a:xfrm>
          <a:prstGeom prst="rect">
            <a:avLst/>
          </a:prstGeom>
          <a:solidFill>
            <a:srgbClr val="E3F0FF"/>
          </a:solidFill>
          <a:ln cap="flat" cmpd="sng" w="10150">
            <a:solidFill>
              <a:srgbClr val="1565C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9" name="Google Shape;239;p6"/>
          <p:cNvSpPr/>
          <p:nvPr/>
        </p:nvSpPr>
        <p:spPr>
          <a:xfrm>
            <a:off x="408477" y="4891848"/>
            <a:ext cx="8321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850"/>
              <a:buFont typeface="Calibri"/>
              <a:buNone/>
            </a:pPr>
            <a:r>
              <a:rPr b="0" i="0" lang="en-US" sz="850" u="none" cap="none" strike="noStrike">
                <a:solidFill>
                  <a:srgbClr val="0D1B4B"/>
                </a:solidFill>
                <a:latin typeface="Calibri"/>
                <a:ea typeface="Calibri"/>
                <a:cs typeface="Calibri"/>
                <a:sym typeface="Calibri"/>
              </a:rPr>
              <a:t>💡El nivel socioeconómico representa el poder adquisitivo promedio del área de influencia del local.</a:t>
            </a:r>
            <a:endParaRPr b="0" i="0" sz="850" u="none" cap="none" strike="noStrike">
              <a:solidFill>
                <a:schemeClr val="dk1"/>
              </a:solidFill>
              <a:latin typeface="Calibri"/>
              <a:ea typeface="Calibri"/>
              <a:cs typeface="Calibri"/>
              <a:sym typeface="Calibri"/>
            </a:endParaRPr>
          </a:p>
        </p:txBody>
      </p:sp>
      <p:sp>
        <p:nvSpPr>
          <p:cNvPr id="240" name="Google Shape;240;p6"/>
          <p:cNvSpPr/>
          <p:nvPr/>
        </p:nvSpPr>
        <p:spPr>
          <a:xfrm>
            <a:off x="5147075" y="1011000"/>
            <a:ext cx="1169100" cy="70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950"/>
              <a:buFont typeface="Calibri"/>
              <a:buNone/>
            </a:pPr>
            <a:r>
              <a:rPr b="1" i="0" lang="en-US" sz="600" u="none" cap="none" strike="noStrike">
                <a:solidFill>
                  <a:srgbClr val="2E75B5"/>
                </a:solidFill>
                <a:latin typeface="Arial"/>
                <a:ea typeface="Arial"/>
                <a:cs typeface="Arial"/>
                <a:sym typeface="Arial"/>
              </a:rPr>
              <a:t>Shopping:</a:t>
            </a:r>
            <a:r>
              <a:rPr b="0" i="0" lang="en-US" sz="600" u="none" cap="none" strike="noStrike">
                <a:solidFill>
                  <a:srgbClr val="2E75B5"/>
                </a:solidFill>
                <a:latin typeface="Arial"/>
                <a:ea typeface="Arial"/>
                <a:cs typeface="Arial"/>
                <a:sym typeface="Arial"/>
              </a:rPr>
              <a:t> centro comercial cerrado, de gran escala, con administración única, presencia de tiendas ancla (ej. supermercado, cine, grandes marcas) y flujo inducido como destino de compra.</a:t>
            </a:r>
            <a:endParaRPr b="0" i="0" sz="950" u="none" cap="none" strike="noStrike">
              <a:solidFill>
                <a:srgbClr val="2E75B5"/>
              </a:solidFill>
              <a:latin typeface="Calibri"/>
              <a:ea typeface="Calibri"/>
              <a:cs typeface="Calibri"/>
              <a:sym typeface="Calibri"/>
            </a:endParaRPr>
          </a:p>
        </p:txBody>
      </p:sp>
      <p:sp>
        <p:nvSpPr>
          <p:cNvPr id="241" name="Google Shape;241;p6"/>
          <p:cNvSpPr/>
          <p:nvPr/>
        </p:nvSpPr>
        <p:spPr>
          <a:xfrm>
            <a:off x="6243750" y="4008200"/>
            <a:ext cx="1069800" cy="64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950"/>
              <a:buFont typeface="Calibri"/>
              <a:buNone/>
            </a:pPr>
            <a:r>
              <a:rPr b="1" i="0" lang="en-US" sz="600" u="none" cap="none" strike="noStrike">
                <a:solidFill>
                  <a:srgbClr val="2E75B5"/>
                </a:solidFill>
                <a:latin typeface="Arial"/>
                <a:ea typeface="Arial"/>
                <a:cs typeface="Arial"/>
                <a:sym typeface="Arial"/>
              </a:rPr>
              <a:t>Centro Comercial:</a:t>
            </a:r>
            <a:r>
              <a:rPr b="0" i="0" lang="en-US" sz="600" u="none" cap="none" strike="noStrike">
                <a:solidFill>
                  <a:srgbClr val="2E75B5"/>
                </a:solidFill>
                <a:latin typeface="Arial"/>
                <a:ea typeface="Arial"/>
                <a:cs typeface="Arial"/>
                <a:sym typeface="Arial"/>
              </a:rPr>
              <a:t> complejo comercial organizado de menor escala o semiabierto, con administración común pero sin el nivel de anclas ni tráfico estructural de un shopping.</a:t>
            </a:r>
            <a:endParaRPr b="0" i="0" sz="600" u="none" cap="none" strike="noStrike">
              <a:solidFill>
                <a:srgbClr val="2E75B5"/>
              </a:solidFill>
              <a:latin typeface="Arial"/>
              <a:ea typeface="Arial"/>
              <a:cs typeface="Arial"/>
              <a:sym typeface="Arial"/>
            </a:endParaRPr>
          </a:p>
        </p:txBody>
      </p:sp>
      <p:sp>
        <p:nvSpPr>
          <p:cNvPr id="242" name="Google Shape;242;p6"/>
          <p:cNvSpPr/>
          <p:nvPr/>
        </p:nvSpPr>
        <p:spPr>
          <a:xfrm>
            <a:off x="8074200" y="4008200"/>
            <a:ext cx="1069800" cy="64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950"/>
              <a:buFont typeface="Calibri"/>
              <a:buNone/>
            </a:pPr>
            <a:r>
              <a:rPr b="1" i="0" lang="en-US" sz="600" u="none" cap="none" strike="noStrike">
                <a:solidFill>
                  <a:srgbClr val="2E75B5"/>
                </a:solidFill>
                <a:latin typeface="Arial"/>
                <a:ea typeface="Arial"/>
                <a:cs typeface="Arial"/>
                <a:sym typeface="Arial"/>
              </a:rPr>
              <a:t>Barrio residencial:</a:t>
            </a:r>
            <a:r>
              <a:rPr b="0" i="0" lang="en-US" sz="600" u="none" cap="none" strike="noStrike">
                <a:solidFill>
                  <a:srgbClr val="2E75B5"/>
                </a:solidFill>
                <a:latin typeface="Arial"/>
                <a:ea typeface="Arial"/>
                <a:cs typeface="Arial"/>
                <a:sym typeface="Arial"/>
              </a:rPr>
              <a:t> locales ubicados en zonas predominantemente residenciales, con tráfico principalmente de cercanía.</a:t>
            </a:r>
            <a:endParaRPr b="0" i="0" sz="600" u="none" cap="none" strike="noStrike">
              <a:solidFill>
                <a:srgbClr val="2E75B5"/>
              </a:solidFill>
              <a:latin typeface="Arial"/>
              <a:ea typeface="Arial"/>
              <a:cs typeface="Arial"/>
              <a:sym typeface="Arial"/>
            </a:endParaRPr>
          </a:p>
        </p:txBody>
      </p:sp>
      <p:sp>
        <p:nvSpPr>
          <p:cNvPr id="243" name="Google Shape;243;p6"/>
          <p:cNvSpPr/>
          <p:nvPr/>
        </p:nvSpPr>
        <p:spPr>
          <a:xfrm>
            <a:off x="7199781" y="1103339"/>
            <a:ext cx="1069800" cy="64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950"/>
              <a:buFont typeface="Calibri"/>
              <a:buNone/>
            </a:pPr>
            <a:r>
              <a:rPr b="1" i="0" lang="en-US" sz="600" u="none" cap="none" strike="noStrike">
                <a:solidFill>
                  <a:srgbClr val="2E75B5"/>
                </a:solidFill>
                <a:latin typeface="Arial"/>
                <a:ea typeface="Arial"/>
                <a:cs typeface="Arial"/>
                <a:sym typeface="Arial"/>
              </a:rPr>
              <a:t>Calle Comercial:</a:t>
            </a:r>
            <a:r>
              <a:rPr b="0" i="0" lang="en-US" sz="600" u="none" cap="none" strike="noStrike">
                <a:solidFill>
                  <a:srgbClr val="2E75B5"/>
                </a:solidFill>
                <a:latin typeface="Arial"/>
                <a:ea typeface="Arial"/>
                <a:cs typeface="Arial"/>
                <a:sym typeface="Arial"/>
              </a:rPr>
              <a:t> locales ubicados sobre avenidas o corredores comerciales abiertos, sin administración centralizada.</a:t>
            </a:r>
            <a:endParaRPr b="0" i="0" sz="600" u="none" cap="none" strike="noStrike">
              <a:solidFill>
                <a:srgbClr val="2E75B5"/>
              </a:solidFill>
              <a:latin typeface="Arial"/>
              <a:ea typeface="Arial"/>
              <a:cs typeface="Arial"/>
              <a:sym typeface="Arial"/>
            </a:endParaRPr>
          </a:p>
        </p:txBody>
      </p:sp>
      <p:sp>
        <p:nvSpPr>
          <p:cNvPr id="244" name="Google Shape;244;p6"/>
          <p:cNvSpPr/>
          <p:nvPr/>
        </p:nvSpPr>
        <p:spPr>
          <a:xfrm>
            <a:off x="0" y="777240"/>
            <a:ext cx="9144000" cy="54864"/>
          </a:xfrm>
          <a:prstGeom prst="rect">
            <a:avLst/>
          </a:prstGeom>
          <a:gradFill>
            <a:gsLst>
              <a:gs pos="0">
                <a:srgbClr val="6E6E6E"/>
              </a:gs>
              <a:gs pos="48000">
                <a:srgbClr val="A7A7A7"/>
              </a:gs>
              <a:gs pos="100000">
                <a:srgbClr val="C9C9C9"/>
              </a:gs>
            </a:gsLst>
            <a:lin ang="162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45" name="Google Shape;245;p6"/>
          <p:cNvPicPr preferRelativeResize="0"/>
          <p:nvPr/>
        </p:nvPicPr>
        <p:blipFill rotWithShape="1">
          <a:blip r:embed="rId3">
            <a:alphaModFix/>
          </a:blip>
          <a:srcRect b="0" l="0" r="0" t="0"/>
          <a:stretch/>
        </p:blipFill>
        <p:spPr>
          <a:xfrm>
            <a:off x="4462170" y="1707003"/>
            <a:ext cx="4632960" cy="2301197"/>
          </a:xfrm>
          <a:prstGeom prst="rect">
            <a:avLst/>
          </a:prstGeom>
          <a:noFill/>
          <a:ln>
            <a:noFill/>
          </a:ln>
        </p:spPr>
      </p:pic>
      <p:pic>
        <p:nvPicPr>
          <p:cNvPr id="246" name="Google Shape;246;p6"/>
          <p:cNvPicPr preferRelativeResize="0"/>
          <p:nvPr/>
        </p:nvPicPr>
        <p:blipFill rotWithShape="1">
          <a:blip r:embed="rId4">
            <a:alphaModFix/>
          </a:blip>
          <a:srcRect b="0" l="0" r="0" t="0"/>
          <a:stretch/>
        </p:blipFill>
        <p:spPr>
          <a:xfrm>
            <a:off x="69142" y="1594868"/>
            <a:ext cx="4317283" cy="257552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BFF"/>
        </a:solidFill>
      </p:bgPr>
    </p:bg>
    <p:spTree>
      <p:nvGrpSpPr>
        <p:cNvPr id="251" name="Shape 251"/>
        <p:cNvGrpSpPr/>
        <p:nvPr/>
      </p:nvGrpSpPr>
      <p:grpSpPr>
        <a:xfrm>
          <a:off x="0" y="0"/>
          <a:ext cx="0" cy="0"/>
          <a:chOff x="0" y="0"/>
          <a:chExt cx="0" cy="0"/>
        </a:xfrm>
      </p:grpSpPr>
      <p:sp>
        <p:nvSpPr>
          <p:cNvPr id="252" name="Google Shape;252;p8"/>
          <p:cNvSpPr/>
          <p:nvPr/>
        </p:nvSpPr>
        <p:spPr>
          <a:xfrm>
            <a:off x="8320350" y="4903925"/>
            <a:ext cx="779700" cy="171000"/>
          </a:xfrm>
          <a:prstGeom prst="rect">
            <a:avLst/>
          </a:prstGeom>
          <a:solidFill>
            <a:srgbClr val="F8FB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8"/>
          <p:cNvSpPr/>
          <p:nvPr/>
        </p:nvSpPr>
        <p:spPr>
          <a:xfrm>
            <a:off x="0" y="0"/>
            <a:ext cx="9144000" cy="507410"/>
          </a:xfrm>
          <a:prstGeom prst="rect">
            <a:avLst/>
          </a:prstGeom>
          <a:solidFill>
            <a:srgbClr val="0D1B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4" name="Google Shape;254;p8"/>
          <p:cNvSpPr/>
          <p:nvPr/>
        </p:nvSpPr>
        <p:spPr>
          <a:xfrm>
            <a:off x="365760" y="0"/>
            <a:ext cx="8229600" cy="53056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VARIABLES CLAVE &amp; CORRELACIONES</a:t>
            </a:r>
            <a:endParaRPr b="0" i="0" sz="2200" u="none" cap="none" strike="noStrike">
              <a:solidFill>
                <a:schemeClr val="dk1"/>
              </a:solidFill>
              <a:latin typeface="Calibri"/>
              <a:ea typeface="Calibri"/>
              <a:cs typeface="Calibri"/>
              <a:sym typeface="Calibri"/>
            </a:endParaRPr>
          </a:p>
        </p:txBody>
      </p:sp>
      <p:sp>
        <p:nvSpPr>
          <p:cNvPr id="255" name="Google Shape;255;p8"/>
          <p:cNvSpPr/>
          <p:nvPr/>
        </p:nvSpPr>
        <p:spPr>
          <a:xfrm>
            <a:off x="411480" y="4837176"/>
            <a:ext cx="832104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850"/>
              <a:buFont typeface="Calibri"/>
              <a:buNone/>
            </a:pPr>
            <a:r>
              <a:rPr b="0" i="0" lang="en-US" sz="850" u="none" cap="none" strike="noStrike">
                <a:solidFill>
                  <a:srgbClr val="0D1B4B"/>
                </a:solidFill>
                <a:latin typeface="Calibri"/>
                <a:ea typeface="Calibri"/>
                <a:cs typeface="Calibri"/>
                <a:sym typeface="Calibri"/>
              </a:rPr>
              <a:t>💡</a:t>
            </a:r>
            <a:endParaRPr b="0" i="0" sz="850" u="none" cap="none" strike="noStrike">
              <a:solidFill>
                <a:schemeClr val="dk1"/>
              </a:solidFill>
              <a:latin typeface="Calibri"/>
              <a:ea typeface="Calibri"/>
              <a:cs typeface="Calibri"/>
              <a:sym typeface="Calibri"/>
            </a:endParaRPr>
          </a:p>
        </p:txBody>
      </p:sp>
      <p:sp>
        <p:nvSpPr>
          <p:cNvPr id="256" name="Google Shape;256;p8"/>
          <p:cNvSpPr txBox="1"/>
          <p:nvPr/>
        </p:nvSpPr>
        <p:spPr>
          <a:xfrm>
            <a:off x="7078133" y="3658814"/>
            <a:ext cx="2024420" cy="1477287"/>
          </a:xfrm>
          <a:prstGeom prst="rect">
            <a:avLst/>
          </a:prstGeom>
          <a:gradFill>
            <a:gsLst>
              <a:gs pos="0">
                <a:srgbClr val="D8D8D8"/>
              </a:gs>
              <a:gs pos="35000">
                <a:srgbClr val="E3E3E3"/>
              </a:gs>
              <a:gs pos="100000">
                <a:srgbClr val="F4F4F4"/>
              </a:gs>
            </a:gsLst>
            <a:lin ang="16200000" scaled="0"/>
          </a:gradFill>
          <a:ln cap="flat" cmpd="sng" w="9525">
            <a:solidFill>
              <a:srgbClr val="A1A1A1"/>
            </a:solidFill>
            <a:prstDash val="solid"/>
            <a:round/>
            <a:headEnd len="sm" w="sm" type="none"/>
            <a:tailEnd len="sm" w="sm" type="none"/>
          </a:ln>
          <a:effectLst>
            <a:outerShdw blurRad="40000" rotWithShape="0" dir="5400000" dist="20000">
              <a:srgbClr val="000000">
                <a:alpha val="38039"/>
              </a:srgbClr>
            </a:outerShdw>
          </a:effectLst>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2060"/>
              </a:buClr>
              <a:buSzPts val="900"/>
              <a:buFont typeface="Calibri"/>
              <a:buNone/>
            </a:pPr>
            <a:r>
              <a:rPr b="0" i="0" lang="en-US" sz="900" u="none" cap="none" strike="noStrike">
                <a:solidFill>
                  <a:srgbClr val="002060"/>
                </a:solidFill>
                <a:latin typeface="Calibri"/>
                <a:ea typeface="Calibri"/>
                <a:cs typeface="Calibri"/>
                <a:sym typeface="Calibri"/>
              </a:rPr>
              <a:t>💰 </a:t>
            </a:r>
            <a:r>
              <a:rPr b="1" i="0" lang="en-US" sz="900" u="none" cap="none" strike="noStrike">
                <a:solidFill>
                  <a:srgbClr val="002060"/>
                </a:solidFill>
                <a:latin typeface="Calibri"/>
                <a:ea typeface="Calibri"/>
                <a:cs typeface="Calibri"/>
                <a:sym typeface="Calibri"/>
              </a:rPr>
              <a:t>Margen EBITDA</a:t>
            </a:r>
            <a:endParaRPr b="0" i="0" sz="900"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2060"/>
              </a:buClr>
              <a:buSzPts val="900"/>
              <a:buFont typeface="Calibri"/>
              <a:buNone/>
            </a:pPr>
            <a:r>
              <a:rPr b="1" i="0" lang="en-US" sz="900" u="none" cap="none" strike="noStrike">
                <a:solidFill>
                  <a:srgbClr val="002060"/>
                </a:solidFill>
                <a:latin typeface="Calibri"/>
                <a:ea typeface="Calibri"/>
                <a:cs typeface="Calibri"/>
                <a:sym typeface="Calibri"/>
              </a:rPr>
              <a:t>Los márgenes más elevados se encuentran en joyeria (~40%) y Cotillon (~40%), mientras que Farmacia presenta el más bajo (~1%), aunque lo compensa con un alto volumen de ventas. Esta variable fue excluida del modelo por ser característica propia del sector.</a:t>
            </a:r>
            <a:endParaRPr b="0" i="0" sz="900"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2060"/>
              </a:buClr>
              <a:buSzPts val="900"/>
              <a:buFont typeface="Calibri"/>
              <a:buNone/>
            </a:pPr>
            <a:r>
              <a:rPr b="0" i="0" lang="en-US" sz="900" u="none" cap="none" strike="noStrike">
                <a:solidFill>
                  <a:srgbClr val="002060"/>
                </a:solidFill>
                <a:latin typeface="Calibri"/>
                <a:ea typeface="Calibri"/>
                <a:cs typeface="Calibri"/>
                <a:sym typeface="Calibri"/>
              </a:rPr>
              <a:t>​</a:t>
            </a:r>
            <a:endParaRPr b="1" i="0" sz="1200" u="none" cap="none" strike="noStrike">
              <a:solidFill>
                <a:srgbClr val="323F4F"/>
              </a:solidFill>
              <a:latin typeface="Calibri"/>
              <a:ea typeface="Calibri"/>
              <a:cs typeface="Calibri"/>
              <a:sym typeface="Calibri"/>
            </a:endParaRPr>
          </a:p>
        </p:txBody>
      </p:sp>
      <p:sp>
        <p:nvSpPr>
          <p:cNvPr id="257" name="Google Shape;257;p8"/>
          <p:cNvSpPr txBox="1"/>
          <p:nvPr/>
        </p:nvSpPr>
        <p:spPr>
          <a:xfrm>
            <a:off x="7078133" y="530566"/>
            <a:ext cx="2024400" cy="1339200"/>
          </a:xfrm>
          <a:prstGeom prst="rect">
            <a:avLst/>
          </a:prstGeom>
          <a:gradFill>
            <a:gsLst>
              <a:gs pos="0">
                <a:srgbClr val="D8D8D8"/>
              </a:gs>
              <a:gs pos="35000">
                <a:srgbClr val="E3E3E3"/>
              </a:gs>
              <a:gs pos="100000">
                <a:srgbClr val="F4F4F4"/>
              </a:gs>
            </a:gsLst>
            <a:lin ang="16200000" scaled="0"/>
          </a:gradFill>
          <a:ln cap="flat" cmpd="sng" w="9525">
            <a:solidFill>
              <a:srgbClr val="A1A1A1"/>
            </a:solidFill>
            <a:prstDash val="solid"/>
            <a:round/>
            <a:headEnd len="sm" w="sm" type="none"/>
            <a:tailEnd len="sm" w="sm" type="none"/>
          </a:ln>
          <a:effectLst>
            <a:outerShdw blurRad="40000" rotWithShape="0" dir="5400000" dist="20000">
              <a:srgbClr val="000000">
                <a:alpha val="38039"/>
              </a:srgbClr>
            </a:outerShdw>
          </a:effectLst>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1F3864"/>
                </a:solidFill>
                <a:latin typeface="Calibri"/>
                <a:ea typeface="Calibri"/>
                <a:cs typeface="Calibri"/>
                <a:sym typeface="Calibri"/>
              </a:rPr>
              <a:t>📍 Distancia al Ancla</a:t>
            </a:r>
            <a:endParaRPr b="0" i="0" sz="900" u="none" cap="none" strike="noStrike">
              <a:solidFill>
                <a:srgbClr val="1F3864"/>
              </a:solidFill>
              <a:latin typeface="Calibri"/>
              <a:ea typeface="Calibri"/>
              <a:cs typeface="Calibri"/>
              <a:sym typeface="Calibri"/>
            </a:endParaRPr>
          </a:p>
          <a:p>
            <a:pPr indent="0" lvl="0" marL="0" marR="0" rtl="0" algn="ctr">
              <a:lnSpc>
                <a:spcPct val="100000"/>
              </a:lnSpc>
              <a:spcBef>
                <a:spcPts val="0"/>
              </a:spcBef>
              <a:spcAft>
                <a:spcPts val="0"/>
              </a:spcAft>
              <a:buClr>
                <a:srgbClr val="002060"/>
              </a:buClr>
              <a:buSzPts val="900"/>
              <a:buFont typeface="Calibri"/>
              <a:buNone/>
            </a:pPr>
            <a:r>
              <a:rPr b="1" i="0" lang="en-US" sz="900" u="none" cap="none" strike="noStrike">
                <a:solidFill>
                  <a:srgbClr val="1F3864"/>
                </a:solidFill>
                <a:latin typeface="Calibri"/>
                <a:ea typeface="Calibri"/>
                <a:cs typeface="Calibri"/>
                <a:sym typeface="Calibri"/>
              </a:rPr>
              <a:t>Existe una relación negativa evidente: a mayor distancia, disminuyen las ventas. Los puntos de interés (en verde) potencian el impacto positivo de la proximidad. Los locales situados a menos de 50 metros del ancla con más de 8 puntos de interés son los que mejor rendimiento tienen.</a:t>
            </a:r>
            <a:endParaRPr b="1" i="0" sz="1200" u="none" cap="none" strike="noStrike">
              <a:solidFill>
                <a:srgbClr val="1F3864"/>
              </a:solidFill>
              <a:latin typeface="Calibri"/>
              <a:ea typeface="Calibri"/>
              <a:cs typeface="Calibri"/>
              <a:sym typeface="Calibri"/>
            </a:endParaRPr>
          </a:p>
        </p:txBody>
      </p:sp>
      <p:sp>
        <p:nvSpPr>
          <p:cNvPr id="258" name="Google Shape;258;p8"/>
          <p:cNvSpPr txBox="1"/>
          <p:nvPr/>
        </p:nvSpPr>
        <p:spPr>
          <a:xfrm>
            <a:off x="7078113" y="2082324"/>
            <a:ext cx="2024420" cy="1338828"/>
          </a:xfrm>
          <a:prstGeom prst="rect">
            <a:avLst/>
          </a:prstGeom>
          <a:gradFill>
            <a:gsLst>
              <a:gs pos="0">
                <a:srgbClr val="D8D8D8"/>
              </a:gs>
              <a:gs pos="35000">
                <a:srgbClr val="E3E3E3"/>
              </a:gs>
              <a:gs pos="100000">
                <a:srgbClr val="F4F4F4"/>
              </a:gs>
            </a:gsLst>
            <a:lin ang="16200000" scaled="0"/>
          </a:gradFill>
          <a:ln cap="flat" cmpd="sng" w="9525">
            <a:solidFill>
              <a:srgbClr val="A1A1A1"/>
            </a:solidFill>
            <a:prstDash val="solid"/>
            <a:round/>
            <a:headEnd len="sm" w="sm" type="none"/>
            <a:tailEnd len="sm" w="sm" type="none"/>
          </a:ln>
          <a:effectLst>
            <a:outerShdw blurRad="40000" rotWithShape="0" dir="5400000" dist="20000">
              <a:srgbClr val="000000">
                <a:alpha val="38039"/>
              </a:srgbClr>
            </a:outerShdw>
          </a:effectLst>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t>
            </a:r>
            <a:r>
              <a:rPr b="1" i="0" lang="en-US" sz="900" u="none" cap="none" strike="noStrike">
                <a:solidFill>
                  <a:srgbClr val="1F3864"/>
                </a:solidFill>
                <a:latin typeface="Calibri"/>
                <a:ea typeface="Calibri"/>
                <a:cs typeface="Calibri"/>
                <a:sym typeface="Calibri"/>
              </a:rPr>
              <a:t> Tránsito y Ventas</a:t>
            </a:r>
            <a:endParaRPr b="0" i="0" sz="900" u="none" cap="none" strike="noStrike">
              <a:solidFill>
                <a:srgbClr val="1F3864"/>
              </a:solidFill>
              <a:latin typeface="Calibri"/>
              <a:ea typeface="Calibri"/>
              <a:cs typeface="Calibri"/>
              <a:sym typeface="Calibri"/>
            </a:endParaRPr>
          </a:p>
          <a:p>
            <a:pPr indent="0" lvl="0" marL="0" marR="0" rtl="0" algn="ctr">
              <a:lnSpc>
                <a:spcPct val="100000"/>
              </a:lnSpc>
              <a:spcBef>
                <a:spcPts val="0"/>
              </a:spcBef>
              <a:spcAft>
                <a:spcPts val="0"/>
              </a:spcAft>
              <a:buClr>
                <a:srgbClr val="002060"/>
              </a:buClr>
              <a:buSzPts val="900"/>
              <a:buFont typeface="Calibri"/>
              <a:buNone/>
            </a:pPr>
            <a:r>
              <a:rPr b="1" i="0" lang="en-US" sz="900" u="none" cap="none" strike="noStrike">
                <a:solidFill>
                  <a:srgbClr val="1F3864"/>
                </a:solidFill>
                <a:latin typeface="Calibri"/>
                <a:ea typeface="Calibri"/>
                <a:cs typeface="Calibri"/>
                <a:sym typeface="Calibri"/>
              </a:rPr>
              <a:t>Las categorías de Tecnología e Indumentaria muestran una correlación más fuerte entre el tráfico y las ventas. A igual nivel de tránsito, las ventas pueden variar hasta tres veces entre diferentes categorías, lo que demuestra que el sector establece el techo máximo de ingresos.</a:t>
            </a:r>
            <a:endParaRPr b="1" i="0" sz="1200" u="none" cap="none" strike="noStrike">
              <a:solidFill>
                <a:srgbClr val="1F3864"/>
              </a:solidFill>
              <a:latin typeface="Calibri"/>
              <a:ea typeface="Calibri"/>
              <a:cs typeface="Calibri"/>
              <a:sym typeface="Calibri"/>
            </a:endParaRPr>
          </a:p>
        </p:txBody>
      </p:sp>
      <p:sp>
        <p:nvSpPr>
          <p:cNvPr id="259" name="Google Shape;259;p8"/>
          <p:cNvSpPr/>
          <p:nvPr/>
        </p:nvSpPr>
        <p:spPr>
          <a:xfrm>
            <a:off x="0" y="459848"/>
            <a:ext cx="9144000" cy="54864"/>
          </a:xfrm>
          <a:prstGeom prst="rect">
            <a:avLst/>
          </a:prstGeom>
          <a:gradFill>
            <a:gsLst>
              <a:gs pos="0">
                <a:srgbClr val="6E6E6E"/>
              </a:gs>
              <a:gs pos="48000">
                <a:srgbClr val="A7A7A7"/>
              </a:gs>
              <a:gs pos="100000">
                <a:srgbClr val="C9C9C9"/>
              </a:gs>
            </a:gsLst>
            <a:lin ang="162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60" name="Google Shape;260;p8"/>
          <p:cNvPicPr preferRelativeResize="0"/>
          <p:nvPr/>
        </p:nvPicPr>
        <p:blipFill rotWithShape="1">
          <a:blip r:embed="rId3">
            <a:alphaModFix/>
          </a:blip>
          <a:srcRect b="0" l="0" r="0" t="0"/>
          <a:stretch/>
        </p:blipFill>
        <p:spPr>
          <a:xfrm>
            <a:off x="41447" y="647050"/>
            <a:ext cx="6831793" cy="466561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BFF"/>
        </a:solidFill>
      </p:bgPr>
    </p:bg>
    <p:spTree>
      <p:nvGrpSpPr>
        <p:cNvPr id="265" name="Shape 265"/>
        <p:cNvGrpSpPr/>
        <p:nvPr/>
      </p:nvGrpSpPr>
      <p:grpSpPr>
        <a:xfrm>
          <a:off x="0" y="0"/>
          <a:ext cx="0" cy="0"/>
          <a:chOff x="0" y="0"/>
          <a:chExt cx="0" cy="0"/>
        </a:xfrm>
      </p:grpSpPr>
      <p:sp>
        <p:nvSpPr>
          <p:cNvPr id="266" name="Google Shape;266;p9"/>
          <p:cNvSpPr/>
          <p:nvPr/>
        </p:nvSpPr>
        <p:spPr>
          <a:xfrm>
            <a:off x="8320350" y="4903925"/>
            <a:ext cx="779700" cy="171000"/>
          </a:xfrm>
          <a:prstGeom prst="rect">
            <a:avLst/>
          </a:prstGeom>
          <a:solidFill>
            <a:srgbClr val="F8FB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9"/>
          <p:cNvSpPr/>
          <p:nvPr/>
        </p:nvSpPr>
        <p:spPr>
          <a:xfrm>
            <a:off x="0" y="0"/>
            <a:ext cx="9144000" cy="777240"/>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8" name="Google Shape;268;p9"/>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MODELO KNN — PREPARACIÓN Y PROCESO</a:t>
            </a:r>
            <a:endParaRPr b="0" i="0" sz="2200" u="none" cap="none" strike="noStrike">
              <a:solidFill>
                <a:schemeClr val="dk1"/>
              </a:solidFill>
              <a:latin typeface="Calibri"/>
              <a:ea typeface="Calibri"/>
              <a:cs typeface="Calibri"/>
              <a:sym typeface="Calibri"/>
            </a:endParaRPr>
          </a:p>
        </p:txBody>
      </p:sp>
      <p:sp>
        <p:nvSpPr>
          <p:cNvPr id="269" name="Google Shape;269;p9"/>
          <p:cNvSpPr/>
          <p:nvPr/>
        </p:nvSpPr>
        <p:spPr>
          <a:xfrm>
            <a:off x="320040" y="960120"/>
            <a:ext cx="548640" cy="548640"/>
          </a:xfrm>
          <a:prstGeom prst="ellipse">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0" name="Google Shape;270;p9"/>
          <p:cNvSpPr/>
          <p:nvPr/>
        </p:nvSpPr>
        <p:spPr>
          <a:xfrm>
            <a:off x="320040" y="960120"/>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271" name="Google Shape;271;p9"/>
          <p:cNvSpPr/>
          <p:nvPr/>
        </p:nvSpPr>
        <p:spPr>
          <a:xfrm>
            <a:off x="1005840" y="960120"/>
            <a:ext cx="4023360" cy="548640"/>
          </a:xfrm>
          <a:prstGeom prst="rect">
            <a:avLst/>
          </a:prstGeom>
          <a:solidFill>
            <a:srgbClr val="FFFFFF"/>
          </a:solidFill>
          <a:ln>
            <a:noFill/>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2" name="Google Shape;272;p9"/>
          <p:cNvSpPr/>
          <p:nvPr/>
        </p:nvSpPr>
        <p:spPr>
          <a:xfrm>
            <a:off x="1005840" y="960120"/>
            <a:ext cx="54864" cy="548640"/>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3" name="Google Shape;273;p9"/>
          <p:cNvSpPr/>
          <p:nvPr/>
        </p:nvSpPr>
        <p:spPr>
          <a:xfrm>
            <a:off x="1115568" y="996696"/>
            <a:ext cx="1188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Encoding</a:t>
            </a:r>
            <a:endParaRPr b="0" i="0" sz="1000" u="none" cap="none" strike="noStrike">
              <a:solidFill>
                <a:schemeClr val="dk1"/>
              </a:solidFill>
              <a:latin typeface="Calibri"/>
              <a:ea typeface="Calibri"/>
              <a:cs typeface="Calibri"/>
              <a:sym typeface="Calibri"/>
            </a:endParaRPr>
          </a:p>
        </p:txBody>
      </p:sp>
      <p:sp>
        <p:nvSpPr>
          <p:cNvPr id="274" name="Google Shape;274;p9"/>
          <p:cNvSpPr/>
          <p:nvPr/>
        </p:nvSpPr>
        <p:spPr>
          <a:xfrm>
            <a:off x="1115568" y="1225296"/>
            <a:ext cx="3840480" cy="2468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4444"/>
              </a:buClr>
              <a:buSzPts val="900"/>
              <a:buFont typeface="Calibri"/>
              <a:buNone/>
            </a:pPr>
            <a:r>
              <a:rPr b="0" i="0" lang="en-US" sz="900" u="none" cap="none" strike="noStrike">
                <a:solidFill>
                  <a:srgbClr val="444444"/>
                </a:solidFill>
                <a:latin typeface="Calibri"/>
                <a:ea typeface="Calibri"/>
                <a:cs typeface="Calibri"/>
                <a:sym typeface="Calibri"/>
              </a:rPr>
              <a:t>Encoded Nivel Socioeconomico, Posicionamiento, One-Hot en Rubro y Tipo Ubicación</a:t>
            </a:r>
            <a:endParaRPr b="0" i="0" sz="900" u="none" cap="none" strike="noStrike">
              <a:solidFill>
                <a:schemeClr val="dk1"/>
              </a:solidFill>
              <a:latin typeface="Calibri"/>
              <a:ea typeface="Calibri"/>
              <a:cs typeface="Calibri"/>
              <a:sym typeface="Calibri"/>
            </a:endParaRPr>
          </a:p>
        </p:txBody>
      </p:sp>
      <p:sp>
        <p:nvSpPr>
          <p:cNvPr id="275" name="Google Shape;275;p9"/>
          <p:cNvSpPr/>
          <p:nvPr/>
        </p:nvSpPr>
        <p:spPr>
          <a:xfrm>
            <a:off x="320040" y="1764792"/>
            <a:ext cx="548640" cy="548640"/>
          </a:xfrm>
          <a:prstGeom prst="ellipse">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6" name="Google Shape;276;p9"/>
          <p:cNvSpPr/>
          <p:nvPr/>
        </p:nvSpPr>
        <p:spPr>
          <a:xfrm>
            <a:off x="320040" y="1764792"/>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277" name="Google Shape;277;p9"/>
          <p:cNvSpPr/>
          <p:nvPr/>
        </p:nvSpPr>
        <p:spPr>
          <a:xfrm>
            <a:off x="1005840" y="1764792"/>
            <a:ext cx="4023360" cy="548640"/>
          </a:xfrm>
          <a:prstGeom prst="rect">
            <a:avLst/>
          </a:prstGeom>
          <a:solidFill>
            <a:srgbClr val="FFFFFF"/>
          </a:solidFill>
          <a:ln>
            <a:noFill/>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8" name="Google Shape;278;p9"/>
          <p:cNvSpPr/>
          <p:nvPr/>
        </p:nvSpPr>
        <p:spPr>
          <a:xfrm>
            <a:off x="1005840" y="1764792"/>
            <a:ext cx="54864" cy="548640"/>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9" name="Google Shape;279;p9"/>
          <p:cNvSpPr/>
          <p:nvPr/>
        </p:nvSpPr>
        <p:spPr>
          <a:xfrm>
            <a:off x="1115568" y="1801368"/>
            <a:ext cx="1188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Normalización</a:t>
            </a:r>
            <a:endParaRPr b="0" i="0" sz="1000" u="none" cap="none" strike="noStrike">
              <a:solidFill>
                <a:schemeClr val="dk1"/>
              </a:solidFill>
              <a:latin typeface="Calibri"/>
              <a:ea typeface="Calibri"/>
              <a:cs typeface="Calibri"/>
              <a:sym typeface="Calibri"/>
            </a:endParaRPr>
          </a:p>
        </p:txBody>
      </p:sp>
      <p:sp>
        <p:nvSpPr>
          <p:cNvPr id="280" name="Google Shape;280;p9"/>
          <p:cNvSpPr/>
          <p:nvPr/>
        </p:nvSpPr>
        <p:spPr>
          <a:xfrm>
            <a:off x="1115568" y="2029968"/>
            <a:ext cx="3840480" cy="2468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4444"/>
              </a:buClr>
              <a:buSzPts val="900"/>
              <a:buFont typeface="Calibri"/>
              <a:buNone/>
            </a:pPr>
            <a:r>
              <a:rPr b="0" i="0" lang="en-US" sz="900" u="none" cap="none" strike="noStrike">
                <a:solidFill>
                  <a:srgbClr val="444444"/>
                </a:solidFill>
                <a:latin typeface="Calibri"/>
                <a:ea typeface="Calibri"/>
                <a:cs typeface="Calibri"/>
                <a:sym typeface="Calibri"/>
              </a:rPr>
              <a:t>StandardScaler (μ=0, σ=1) sobre 30 features numéricas</a:t>
            </a:r>
            <a:endParaRPr b="0" i="0" sz="900" u="none" cap="none" strike="noStrike">
              <a:solidFill>
                <a:schemeClr val="dk1"/>
              </a:solidFill>
              <a:latin typeface="Calibri"/>
              <a:ea typeface="Calibri"/>
              <a:cs typeface="Calibri"/>
              <a:sym typeface="Calibri"/>
            </a:endParaRPr>
          </a:p>
        </p:txBody>
      </p:sp>
      <p:sp>
        <p:nvSpPr>
          <p:cNvPr id="281" name="Google Shape;281;p9"/>
          <p:cNvSpPr/>
          <p:nvPr/>
        </p:nvSpPr>
        <p:spPr>
          <a:xfrm>
            <a:off x="320040" y="2569464"/>
            <a:ext cx="548640" cy="548640"/>
          </a:xfrm>
          <a:prstGeom prst="ellipse">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2" name="Google Shape;282;p9"/>
          <p:cNvSpPr/>
          <p:nvPr/>
        </p:nvSpPr>
        <p:spPr>
          <a:xfrm>
            <a:off x="320040" y="2569464"/>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283" name="Google Shape;283;p9"/>
          <p:cNvSpPr/>
          <p:nvPr/>
        </p:nvSpPr>
        <p:spPr>
          <a:xfrm>
            <a:off x="1005840" y="2569464"/>
            <a:ext cx="4023360" cy="548640"/>
          </a:xfrm>
          <a:prstGeom prst="rect">
            <a:avLst/>
          </a:prstGeom>
          <a:solidFill>
            <a:srgbClr val="FFFFFF"/>
          </a:solidFill>
          <a:ln>
            <a:noFill/>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4" name="Google Shape;284;p9"/>
          <p:cNvSpPr/>
          <p:nvPr/>
        </p:nvSpPr>
        <p:spPr>
          <a:xfrm>
            <a:off x="1005840" y="2569464"/>
            <a:ext cx="54864" cy="548640"/>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5" name="Google Shape;285;p9"/>
          <p:cNvSpPr/>
          <p:nvPr/>
        </p:nvSpPr>
        <p:spPr>
          <a:xfrm>
            <a:off x="1115568" y="2606040"/>
            <a:ext cx="1188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Split</a:t>
            </a:r>
            <a:endParaRPr b="0" i="0" sz="1000" u="none" cap="none" strike="noStrike">
              <a:solidFill>
                <a:schemeClr val="dk1"/>
              </a:solidFill>
              <a:latin typeface="Calibri"/>
              <a:ea typeface="Calibri"/>
              <a:cs typeface="Calibri"/>
              <a:sym typeface="Calibri"/>
            </a:endParaRPr>
          </a:p>
        </p:txBody>
      </p:sp>
      <p:sp>
        <p:nvSpPr>
          <p:cNvPr id="286" name="Google Shape;286;p9"/>
          <p:cNvSpPr/>
          <p:nvPr/>
        </p:nvSpPr>
        <p:spPr>
          <a:xfrm>
            <a:off x="1115568" y="2834640"/>
            <a:ext cx="3840480" cy="2468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4444"/>
              </a:buClr>
              <a:buSzPts val="900"/>
              <a:buFont typeface="Calibri"/>
              <a:buNone/>
            </a:pPr>
            <a:r>
              <a:rPr b="0" i="0" lang="en-US" sz="900" u="none" cap="none" strike="noStrike">
                <a:solidFill>
                  <a:srgbClr val="444444"/>
                </a:solidFill>
                <a:latin typeface="Calibri"/>
                <a:ea typeface="Calibri"/>
                <a:cs typeface="Calibri"/>
                <a:sym typeface="Calibri"/>
              </a:rPr>
              <a:t>Train 70% (2101) · Validación 15% (449) · Test 15% (450)</a:t>
            </a:r>
            <a:endParaRPr b="0" i="0" sz="900" u="none" cap="none" strike="noStrike">
              <a:solidFill>
                <a:schemeClr val="dk1"/>
              </a:solidFill>
              <a:latin typeface="Calibri"/>
              <a:ea typeface="Calibri"/>
              <a:cs typeface="Calibri"/>
              <a:sym typeface="Calibri"/>
            </a:endParaRPr>
          </a:p>
        </p:txBody>
      </p:sp>
      <p:sp>
        <p:nvSpPr>
          <p:cNvPr id="287" name="Google Shape;287;p9"/>
          <p:cNvSpPr/>
          <p:nvPr/>
        </p:nvSpPr>
        <p:spPr>
          <a:xfrm>
            <a:off x="320040" y="3374136"/>
            <a:ext cx="548640" cy="548640"/>
          </a:xfrm>
          <a:prstGeom prst="ellipse">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8" name="Google Shape;288;p9"/>
          <p:cNvSpPr/>
          <p:nvPr/>
        </p:nvSpPr>
        <p:spPr>
          <a:xfrm>
            <a:off x="320040" y="3374136"/>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289" name="Google Shape;289;p9"/>
          <p:cNvSpPr/>
          <p:nvPr/>
        </p:nvSpPr>
        <p:spPr>
          <a:xfrm>
            <a:off x="1033272" y="3392424"/>
            <a:ext cx="4023360" cy="548640"/>
          </a:xfrm>
          <a:prstGeom prst="rect">
            <a:avLst/>
          </a:prstGeom>
          <a:solidFill>
            <a:srgbClr val="FFFFFF"/>
          </a:solidFill>
          <a:ln>
            <a:noFill/>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0" name="Google Shape;290;p9"/>
          <p:cNvSpPr/>
          <p:nvPr/>
        </p:nvSpPr>
        <p:spPr>
          <a:xfrm>
            <a:off x="1005840" y="3374136"/>
            <a:ext cx="54864" cy="548640"/>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1" name="Google Shape;291;p9"/>
          <p:cNvSpPr/>
          <p:nvPr/>
        </p:nvSpPr>
        <p:spPr>
          <a:xfrm>
            <a:off x="1115568" y="3410712"/>
            <a:ext cx="1188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Elección K</a:t>
            </a:r>
            <a:endParaRPr b="0" i="0" sz="1000" u="none" cap="none" strike="noStrike">
              <a:solidFill>
                <a:schemeClr val="dk1"/>
              </a:solidFill>
              <a:latin typeface="Calibri"/>
              <a:ea typeface="Calibri"/>
              <a:cs typeface="Calibri"/>
              <a:sym typeface="Calibri"/>
            </a:endParaRPr>
          </a:p>
        </p:txBody>
      </p:sp>
      <p:sp>
        <p:nvSpPr>
          <p:cNvPr id="292" name="Google Shape;292;p9"/>
          <p:cNvSpPr/>
          <p:nvPr/>
        </p:nvSpPr>
        <p:spPr>
          <a:xfrm>
            <a:off x="1115568" y="3639312"/>
            <a:ext cx="3840480" cy="2468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4444"/>
              </a:buClr>
              <a:buSzPts val="900"/>
              <a:buFont typeface="Calibri"/>
              <a:buNone/>
            </a:pPr>
            <a:r>
              <a:rPr b="0" i="0" lang="en-US" sz="900" u="none" cap="none" strike="noStrike">
                <a:solidFill>
                  <a:srgbClr val="444444"/>
                </a:solidFill>
                <a:latin typeface="Calibri"/>
                <a:ea typeface="Calibri"/>
                <a:cs typeface="Calibri"/>
                <a:sym typeface="Calibri"/>
              </a:rPr>
              <a:t>Mejor K: 10  →  RMSE CV: $ 151.178</a:t>
            </a:r>
            <a:endParaRPr b="0" i="0" sz="900" u="none" cap="none" strike="noStrike">
              <a:solidFill>
                <a:srgbClr val="444444"/>
              </a:solidFill>
              <a:latin typeface="Calibri"/>
              <a:ea typeface="Calibri"/>
              <a:cs typeface="Calibri"/>
              <a:sym typeface="Calibri"/>
            </a:endParaRPr>
          </a:p>
        </p:txBody>
      </p:sp>
      <p:sp>
        <p:nvSpPr>
          <p:cNvPr id="293" name="Google Shape;293;p9"/>
          <p:cNvSpPr/>
          <p:nvPr/>
        </p:nvSpPr>
        <p:spPr>
          <a:xfrm>
            <a:off x="320040" y="4178808"/>
            <a:ext cx="548640" cy="548640"/>
          </a:xfrm>
          <a:prstGeom prst="ellipse">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4" name="Google Shape;294;p9"/>
          <p:cNvSpPr/>
          <p:nvPr/>
        </p:nvSpPr>
        <p:spPr>
          <a:xfrm>
            <a:off x="320040" y="4178808"/>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295" name="Google Shape;295;p9"/>
          <p:cNvSpPr/>
          <p:nvPr/>
        </p:nvSpPr>
        <p:spPr>
          <a:xfrm>
            <a:off x="1005840" y="4178808"/>
            <a:ext cx="4023360" cy="548640"/>
          </a:xfrm>
          <a:prstGeom prst="rect">
            <a:avLst/>
          </a:prstGeom>
          <a:solidFill>
            <a:srgbClr val="FFFFFF"/>
          </a:solidFill>
          <a:ln>
            <a:noFill/>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6" name="Google Shape;296;p9"/>
          <p:cNvSpPr/>
          <p:nvPr/>
        </p:nvSpPr>
        <p:spPr>
          <a:xfrm>
            <a:off x="1005840" y="4178808"/>
            <a:ext cx="54864" cy="548640"/>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7" name="Google Shape;297;p9"/>
          <p:cNvSpPr/>
          <p:nvPr/>
        </p:nvSpPr>
        <p:spPr>
          <a:xfrm>
            <a:off x="1115568" y="4215384"/>
            <a:ext cx="1188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Entrenamiento</a:t>
            </a:r>
            <a:endParaRPr b="0" i="0" sz="1000" u="none" cap="none" strike="noStrike">
              <a:solidFill>
                <a:schemeClr val="dk1"/>
              </a:solidFill>
              <a:latin typeface="Calibri"/>
              <a:ea typeface="Calibri"/>
              <a:cs typeface="Calibri"/>
              <a:sym typeface="Calibri"/>
            </a:endParaRPr>
          </a:p>
        </p:txBody>
      </p:sp>
      <p:sp>
        <p:nvSpPr>
          <p:cNvPr id="298" name="Google Shape;298;p9"/>
          <p:cNvSpPr/>
          <p:nvPr/>
        </p:nvSpPr>
        <p:spPr>
          <a:xfrm>
            <a:off x="1115568" y="4443984"/>
            <a:ext cx="3840480" cy="2468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4444"/>
              </a:buClr>
              <a:buSzPts val="900"/>
              <a:buFont typeface="Calibri"/>
              <a:buNone/>
            </a:pPr>
            <a:r>
              <a:rPr b="0" i="0" lang="en-US" sz="900" u="none" cap="none" strike="noStrike">
                <a:solidFill>
                  <a:srgbClr val="444444"/>
                </a:solidFill>
                <a:latin typeface="Calibri"/>
                <a:ea typeface="Calibri"/>
                <a:cs typeface="Calibri"/>
                <a:sym typeface="Calibri"/>
              </a:rPr>
              <a:t>KNeighborsRegressor(n_neighbors=8, weights='distance')</a:t>
            </a:r>
            <a:endParaRPr b="0" i="0" sz="900" u="none" cap="none" strike="noStrike">
              <a:solidFill>
                <a:schemeClr val="dk1"/>
              </a:solidFill>
              <a:latin typeface="Calibri"/>
              <a:ea typeface="Calibri"/>
              <a:cs typeface="Calibri"/>
              <a:sym typeface="Calibri"/>
            </a:endParaRPr>
          </a:p>
        </p:txBody>
      </p:sp>
      <p:sp>
        <p:nvSpPr>
          <p:cNvPr id="299" name="Google Shape;299;p9"/>
          <p:cNvSpPr/>
          <p:nvPr/>
        </p:nvSpPr>
        <p:spPr>
          <a:xfrm>
            <a:off x="5303520" y="960120"/>
            <a:ext cx="347472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Selección de K óptimo (K=8)</a:t>
            </a:r>
            <a:endParaRPr b="0" i="0" sz="1100" u="none" cap="none" strike="noStrike">
              <a:solidFill>
                <a:schemeClr val="dk1"/>
              </a:solidFill>
              <a:latin typeface="Calibri"/>
              <a:ea typeface="Calibri"/>
              <a:cs typeface="Calibri"/>
              <a:sym typeface="Calibri"/>
            </a:endParaRPr>
          </a:p>
        </p:txBody>
      </p:sp>
      <p:sp>
        <p:nvSpPr>
          <p:cNvPr id="300" name="Google Shape;300;p9"/>
          <p:cNvSpPr/>
          <p:nvPr/>
        </p:nvSpPr>
        <p:spPr>
          <a:xfrm>
            <a:off x="5120640" y="3703320"/>
            <a:ext cx="3749040" cy="1234440"/>
          </a:xfrm>
          <a:prstGeom prst="rect">
            <a:avLst/>
          </a:prstGeom>
          <a:solidFill>
            <a:srgbClr val="E3F0FF"/>
          </a:solidFill>
          <a:ln cap="flat" cmpd="sng" w="10150">
            <a:solidFill>
              <a:srgbClr val="1565C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1" name="Google Shape;301;p9"/>
          <p:cNvSpPr/>
          <p:nvPr/>
        </p:nvSpPr>
        <p:spPr>
          <a:xfrm>
            <a:off x="5212080" y="3749040"/>
            <a:ext cx="356616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  30 Features incluidas</a:t>
            </a:r>
            <a:endParaRPr b="0" i="0" sz="1000" u="none" cap="none" strike="noStrike">
              <a:solidFill>
                <a:schemeClr val="dk1"/>
              </a:solidFill>
              <a:latin typeface="Calibri"/>
              <a:ea typeface="Calibri"/>
              <a:cs typeface="Calibri"/>
              <a:sym typeface="Calibri"/>
            </a:endParaRPr>
          </a:p>
        </p:txBody>
      </p:sp>
      <p:sp>
        <p:nvSpPr>
          <p:cNvPr id="302" name="Google Shape;302;p9"/>
          <p:cNvSpPr/>
          <p:nvPr/>
        </p:nvSpPr>
        <p:spPr>
          <a:xfrm>
            <a:off x="5212080" y="4041648"/>
            <a:ext cx="3566160" cy="82296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Numéricas: Superficie, Marketing, Alquiler, Tránsito...</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Encoded: NSE, Posicionamiento, Rubro, Tipo de ubicación</a:t>
            </a:r>
            <a:endParaRPr b="0" i="0" sz="900" u="none" cap="none" strike="noStrike">
              <a:solidFill>
                <a:srgbClr val="333333"/>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Dummies: 10 rubros + 4 tipos ubicación</a:t>
            </a:r>
            <a:endParaRPr b="0" i="0" sz="900" u="none" cap="none" strike="noStrike">
              <a:solidFill>
                <a:schemeClr val="dk1"/>
              </a:solidFill>
              <a:latin typeface="Calibri"/>
              <a:ea typeface="Calibri"/>
              <a:cs typeface="Calibri"/>
              <a:sym typeface="Calibri"/>
            </a:endParaRPr>
          </a:p>
        </p:txBody>
      </p:sp>
      <p:sp>
        <p:nvSpPr>
          <p:cNvPr id="303" name="Google Shape;303;p9"/>
          <p:cNvSpPr/>
          <p:nvPr/>
        </p:nvSpPr>
        <p:spPr>
          <a:xfrm>
            <a:off x="320040" y="4828032"/>
            <a:ext cx="8503920" cy="228600"/>
          </a:xfrm>
          <a:prstGeom prst="rect">
            <a:avLst/>
          </a:prstGeom>
          <a:solidFill>
            <a:srgbClr val="FFF8E1"/>
          </a:solidFill>
          <a:ln cap="flat" cmpd="sng" w="10150">
            <a:solidFill>
              <a:srgbClr val="FFB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4" name="Google Shape;304;p9"/>
          <p:cNvSpPr/>
          <p:nvPr/>
        </p:nvSpPr>
        <p:spPr>
          <a:xfrm>
            <a:off x="411480" y="4837176"/>
            <a:ext cx="832104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5800"/>
              </a:buClr>
              <a:buSzPts val="900"/>
              <a:buFont typeface="Calibri"/>
              <a:buNone/>
            </a:pPr>
            <a:r>
              <a:rPr b="0" i="0" lang="en-US" sz="900" u="none" cap="none" strike="noStrike">
                <a:solidFill>
                  <a:srgbClr val="7B5800"/>
                </a:solidFill>
                <a:latin typeface="Calibri"/>
                <a:ea typeface="Calibri"/>
                <a:cs typeface="Calibri"/>
                <a:sym typeface="Calibri"/>
              </a:rPr>
              <a:t>💡  Se usó weights='distance' para dar mayor peso a los vecinos más cercanos, mejorando la precisión del modelo.</a:t>
            </a:r>
            <a:endParaRPr b="0" i="0" sz="900" u="none" cap="none" strike="noStrike">
              <a:solidFill>
                <a:schemeClr val="dk1"/>
              </a:solidFill>
              <a:latin typeface="Calibri"/>
              <a:ea typeface="Calibri"/>
              <a:cs typeface="Calibri"/>
              <a:sym typeface="Calibri"/>
            </a:endParaRPr>
          </a:p>
        </p:txBody>
      </p:sp>
      <p:sp>
        <p:nvSpPr>
          <p:cNvPr id="305" name="Google Shape;305;p9"/>
          <p:cNvSpPr/>
          <p:nvPr/>
        </p:nvSpPr>
        <p:spPr>
          <a:xfrm>
            <a:off x="0" y="777240"/>
            <a:ext cx="9144000" cy="54864"/>
          </a:xfrm>
          <a:prstGeom prst="rect">
            <a:avLst/>
          </a:prstGeom>
          <a:gradFill>
            <a:gsLst>
              <a:gs pos="0">
                <a:srgbClr val="6E6E6E"/>
              </a:gs>
              <a:gs pos="48000">
                <a:srgbClr val="A7A7A7"/>
              </a:gs>
              <a:gs pos="100000">
                <a:srgbClr val="C9C9C9"/>
              </a:gs>
            </a:gsLst>
            <a:lin ang="162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06" name="Google Shape;306;p9"/>
          <p:cNvPicPr preferRelativeResize="0"/>
          <p:nvPr/>
        </p:nvPicPr>
        <p:blipFill rotWithShape="1">
          <a:blip r:embed="rId3">
            <a:alphaModFix/>
          </a:blip>
          <a:srcRect b="0" l="0" r="0" t="0"/>
          <a:stretch/>
        </p:blipFill>
        <p:spPr>
          <a:xfrm>
            <a:off x="5212080" y="1362456"/>
            <a:ext cx="3764552" cy="186514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BFF"/>
        </a:solidFill>
      </p:bgPr>
    </p:bg>
    <p:spTree>
      <p:nvGrpSpPr>
        <p:cNvPr id="311" name="Shape 311"/>
        <p:cNvGrpSpPr/>
        <p:nvPr/>
      </p:nvGrpSpPr>
      <p:grpSpPr>
        <a:xfrm>
          <a:off x="0" y="0"/>
          <a:ext cx="0" cy="0"/>
          <a:chOff x="0" y="0"/>
          <a:chExt cx="0" cy="0"/>
        </a:xfrm>
      </p:grpSpPr>
      <p:sp>
        <p:nvSpPr>
          <p:cNvPr id="312" name="Google Shape;312;p10"/>
          <p:cNvSpPr/>
          <p:nvPr/>
        </p:nvSpPr>
        <p:spPr>
          <a:xfrm>
            <a:off x="8320350" y="4903925"/>
            <a:ext cx="779700" cy="171000"/>
          </a:xfrm>
          <a:prstGeom prst="rect">
            <a:avLst/>
          </a:prstGeom>
          <a:solidFill>
            <a:srgbClr val="F8FB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10"/>
          <p:cNvSpPr/>
          <p:nvPr/>
        </p:nvSpPr>
        <p:spPr>
          <a:xfrm>
            <a:off x="0" y="0"/>
            <a:ext cx="9144000" cy="777240"/>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4" name="Google Shape;314;p10"/>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MODELO KNN — RESULTADOS</a:t>
            </a:r>
            <a:endParaRPr b="0" i="0" sz="2200" u="none" cap="none" strike="noStrike">
              <a:solidFill>
                <a:schemeClr val="dk1"/>
              </a:solidFill>
              <a:latin typeface="Calibri"/>
              <a:ea typeface="Calibri"/>
              <a:cs typeface="Calibri"/>
              <a:sym typeface="Calibri"/>
            </a:endParaRPr>
          </a:p>
        </p:txBody>
      </p:sp>
      <p:sp>
        <p:nvSpPr>
          <p:cNvPr id="315" name="Google Shape;315;p10"/>
          <p:cNvSpPr/>
          <p:nvPr/>
        </p:nvSpPr>
        <p:spPr>
          <a:xfrm>
            <a:off x="0" y="777240"/>
            <a:ext cx="9144000" cy="54864"/>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6" name="Google Shape;316;p10"/>
          <p:cNvSpPr/>
          <p:nvPr/>
        </p:nvSpPr>
        <p:spPr>
          <a:xfrm>
            <a:off x="320040" y="960120"/>
            <a:ext cx="1920240" cy="1051560"/>
          </a:xfrm>
          <a:prstGeom prst="rect">
            <a:avLst/>
          </a:prstGeom>
          <a:solidFill>
            <a:srgbClr val="FFFFFF"/>
          </a:solidFill>
          <a:ln>
            <a:noFill/>
          </a:ln>
          <a:effectLst>
            <a:outerShdw blurRad="101600" rotWithShape="0" algn="bl" dir="8100000" dist="25400">
              <a:srgbClr val="000000">
                <a:alpha val="1215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7" name="Google Shape;317;p10"/>
          <p:cNvSpPr/>
          <p:nvPr/>
        </p:nvSpPr>
        <p:spPr>
          <a:xfrm>
            <a:off x="320040" y="960120"/>
            <a:ext cx="1920240" cy="64008"/>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8" name="Google Shape;318;p10"/>
          <p:cNvSpPr/>
          <p:nvPr/>
        </p:nvSpPr>
        <p:spPr>
          <a:xfrm>
            <a:off x="320040" y="1042416"/>
            <a:ext cx="1920240"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65C0"/>
              </a:buClr>
              <a:buSzPts val="2200"/>
              <a:buFont typeface="Calibri"/>
              <a:buNone/>
            </a:pPr>
            <a:r>
              <a:rPr b="1" i="0" lang="en-US" sz="2200" u="none" cap="none" strike="noStrike">
                <a:solidFill>
                  <a:srgbClr val="1565C0"/>
                </a:solidFill>
                <a:latin typeface="Calibri"/>
                <a:ea typeface="Calibri"/>
                <a:cs typeface="Calibri"/>
                <a:sym typeface="Calibri"/>
              </a:rPr>
              <a:t>72.7%</a:t>
            </a:r>
            <a:endParaRPr b="0" i="0" sz="2200" u="none" cap="none" strike="noStrike">
              <a:solidFill>
                <a:schemeClr val="dk1"/>
              </a:solidFill>
              <a:latin typeface="Calibri"/>
              <a:ea typeface="Calibri"/>
              <a:cs typeface="Calibri"/>
              <a:sym typeface="Calibri"/>
            </a:endParaRPr>
          </a:p>
        </p:txBody>
      </p:sp>
      <p:sp>
        <p:nvSpPr>
          <p:cNvPr id="319" name="Google Shape;319;p10"/>
          <p:cNvSpPr/>
          <p:nvPr/>
        </p:nvSpPr>
        <p:spPr>
          <a:xfrm>
            <a:off x="320040" y="1517904"/>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R² — Precisión</a:t>
            </a:r>
            <a:endParaRPr b="0" i="0" sz="1000" u="none" cap="none" strike="noStrike">
              <a:solidFill>
                <a:schemeClr val="dk1"/>
              </a:solidFill>
              <a:latin typeface="Calibri"/>
              <a:ea typeface="Calibri"/>
              <a:cs typeface="Calibri"/>
              <a:sym typeface="Calibri"/>
            </a:endParaRPr>
          </a:p>
        </p:txBody>
      </p:sp>
      <p:sp>
        <p:nvSpPr>
          <p:cNvPr id="320" name="Google Shape;320;p10"/>
          <p:cNvSpPr/>
          <p:nvPr/>
        </p:nvSpPr>
        <p:spPr>
          <a:xfrm>
            <a:off x="320040" y="1719072"/>
            <a:ext cx="19202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El modelo explica el 63.8% de la varianza en ventas</a:t>
            </a:r>
            <a:endParaRPr b="0" i="0" sz="800" u="none" cap="none" strike="noStrike">
              <a:solidFill>
                <a:schemeClr val="dk1"/>
              </a:solidFill>
              <a:latin typeface="Calibri"/>
              <a:ea typeface="Calibri"/>
              <a:cs typeface="Calibri"/>
              <a:sym typeface="Calibri"/>
            </a:endParaRPr>
          </a:p>
        </p:txBody>
      </p:sp>
      <p:sp>
        <p:nvSpPr>
          <p:cNvPr id="321" name="Google Shape;321;p10"/>
          <p:cNvSpPr/>
          <p:nvPr/>
        </p:nvSpPr>
        <p:spPr>
          <a:xfrm>
            <a:off x="2496312" y="960120"/>
            <a:ext cx="1920240" cy="1051560"/>
          </a:xfrm>
          <a:prstGeom prst="rect">
            <a:avLst/>
          </a:prstGeom>
          <a:solidFill>
            <a:srgbClr val="FFFFFF"/>
          </a:solidFill>
          <a:ln>
            <a:noFill/>
          </a:ln>
          <a:effectLst>
            <a:outerShdw blurRad="101600" rotWithShape="0" algn="bl" dir="8100000" dist="25400">
              <a:srgbClr val="000000">
                <a:alpha val="1215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2" name="Google Shape;322;p10"/>
          <p:cNvSpPr/>
          <p:nvPr/>
        </p:nvSpPr>
        <p:spPr>
          <a:xfrm>
            <a:off x="2496312" y="960120"/>
            <a:ext cx="1920240" cy="64008"/>
          </a:xfrm>
          <a:prstGeom prst="rect">
            <a:avLst/>
          </a:prstGeom>
          <a:solidFill>
            <a:srgbClr val="E651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3" name="Google Shape;323;p10"/>
          <p:cNvSpPr/>
          <p:nvPr/>
        </p:nvSpPr>
        <p:spPr>
          <a:xfrm>
            <a:off x="2496312" y="1042416"/>
            <a:ext cx="1920240"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65100"/>
              </a:buClr>
              <a:buSzPts val="2200"/>
              <a:buFont typeface="Calibri"/>
              <a:buNone/>
            </a:pPr>
            <a:r>
              <a:rPr b="1" i="0" lang="en-US" sz="2200" u="none" cap="none" strike="noStrike">
                <a:solidFill>
                  <a:srgbClr val="E65100"/>
                </a:solidFill>
                <a:latin typeface="Calibri"/>
                <a:ea typeface="Calibri"/>
                <a:cs typeface="Calibri"/>
                <a:sym typeface="Calibri"/>
              </a:rPr>
              <a:t>$97,158</a:t>
            </a:r>
            <a:endParaRPr b="0" i="0" sz="2200" u="none" cap="none" strike="noStrike">
              <a:solidFill>
                <a:schemeClr val="dk1"/>
              </a:solidFill>
              <a:latin typeface="Calibri"/>
              <a:ea typeface="Calibri"/>
              <a:cs typeface="Calibri"/>
              <a:sym typeface="Calibri"/>
            </a:endParaRPr>
          </a:p>
        </p:txBody>
      </p:sp>
      <p:sp>
        <p:nvSpPr>
          <p:cNvPr id="324" name="Google Shape;324;p10"/>
          <p:cNvSpPr/>
          <p:nvPr/>
        </p:nvSpPr>
        <p:spPr>
          <a:xfrm>
            <a:off x="2496312" y="1517904"/>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MAE</a:t>
            </a:r>
            <a:endParaRPr b="0" i="0" sz="1000" u="none" cap="none" strike="noStrike">
              <a:solidFill>
                <a:schemeClr val="dk1"/>
              </a:solidFill>
              <a:latin typeface="Calibri"/>
              <a:ea typeface="Calibri"/>
              <a:cs typeface="Calibri"/>
              <a:sym typeface="Calibri"/>
            </a:endParaRPr>
          </a:p>
        </p:txBody>
      </p:sp>
      <p:sp>
        <p:nvSpPr>
          <p:cNvPr id="325" name="Google Shape;325;p10"/>
          <p:cNvSpPr/>
          <p:nvPr/>
        </p:nvSpPr>
        <p:spPr>
          <a:xfrm>
            <a:off x="2496312" y="1719072"/>
            <a:ext cx="19202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Error absoluto promedio por predicción</a:t>
            </a:r>
            <a:endParaRPr b="0" i="0" sz="800" u="none" cap="none" strike="noStrike">
              <a:solidFill>
                <a:schemeClr val="dk1"/>
              </a:solidFill>
              <a:latin typeface="Calibri"/>
              <a:ea typeface="Calibri"/>
              <a:cs typeface="Calibri"/>
              <a:sym typeface="Calibri"/>
            </a:endParaRPr>
          </a:p>
        </p:txBody>
      </p:sp>
      <p:sp>
        <p:nvSpPr>
          <p:cNvPr id="326" name="Google Shape;326;p10"/>
          <p:cNvSpPr/>
          <p:nvPr/>
        </p:nvSpPr>
        <p:spPr>
          <a:xfrm>
            <a:off x="4672584" y="960120"/>
            <a:ext cx="1920240" cy="1051560"/>
          </a:xfrm>
          <a:prstGeom prst="rect">
            <a:avLst/>
          </a:prstGeom>
          <a:solidFill>
            <a:srgbClr val="FFFFFF"/>
          </a:solidFill>
          <a:ln>
            <a:noFill/>
          </a:ln>
          <a:effectLst>
            <a:outerShdw blurRad="101600" rotWithShape="0" algn="bl" dir="8100000" dist="25400">
              <a:srgbClr val="000000">
                <a:alpha val="1215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10"/>
          <p:cNvSpPr/>
          <p:nvPr/>
        </p:nvSpPr>
        <p:spPr>
          <a:xfrm>
            <a:off x="4672584" y="960120"/>
            <a:ext cx="1920240" cy="64008"/>
          </a:xfrm>
          <a:prstGeom prst="rect">
            <a:avLst/>
          </a:prstGeom>
          <a:solidFill>
            <a:srgbClr val="6A1B9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8" name="Google Shape;328;p10"/>
          <p:cNvSpPr/>
          <p:nvPr/>
        </p:nvSpPr>
        <p:spPr>
          <a:xfrm>
            <a:off x="4672584" y="1042416"/>
            <a:ext cx="1920240"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A1B9A"/>
              </a:buClr>
              <a:buSzPts val="2200"/>
              <a:buFont typeface="Calibri"/>
              <a:buNone/>
            </a:pPr>
            <a:r>
              <a:rPr b="1" i="0" lang="en-US" sz="2200" u="none" cap="none" strike="noStrike">
                <a:solidFill>
                  <a:srgbClr val="6A1B9A"/>
                </a:solidFill>
                <a:latin typeface="Calibri"/>
                <a:ea typeface="Calibri"/>
                <a:cs typeface="Calibri"/>
                <a:sym typeface="Calibri"/>
              </a:rPr>
              <a:t>$135,917</a:t>
            </a:r>
            <a:endParaRPr b="0" i="0" sz="2200" u="none" cap="none" strike="noStrike">
              <a:solidFill>
                <a:schemeClr val="dk1"/>
              </a:solidFill>
              <a:latin typeface="Calibri"/>
              <a:ea typeface="Calibri"/>
              <a:cs typeface="Calibri"/>
              <a:sym typeface="Calibri"/>
            </a:endParaRPr>
          </a:p>
        </p:txBody>
      </p:sp>
      <p:sp>
        <p:nvSpPr>
          <p:cNvPr id="329" name="Google Shape;329;p10"/>
          <p:cNvSpPr/>
          <p:nvPr/>
        </p:nvSpPr>
        <p:spPr>
          <a:xfrm>
            <a:off x="4672584" y="1517904"/>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RMSE</a:t>
            </a:r>
            <a:endParaRPr b="0" i="0" sz="1000" u="none" cap="none" strike="noStrike">
              <a:solidFill>
                <a:schemeClr val="dk1"/>
              </a:solidFill>
              <a:latin typeface="Calibri"/>
              <a:ea typeface="Calibri"/>
              <a:cs typeface="Calibri"/>
              <a:sym typeface="Calibri"/>
            </a:endParaRPr>
          </a:p>
        </p:txBody>
      </p:sp>
      <p:sp>
        <p:nvSpPr>
          <p:cNvPr id="330" name="Google Shape;330;p10"/>
          <p:cNvSpPr/>
          <p:nvPr/>
        </p:nvSpPr>
        <p:spPr>
          <a:xfrm>
            <a:off x="4672584" y="1719072"/>
            <a:ext cx="19202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Raíz del error cuadrático medio</a:t>
            </a:r>
            <a:endParaRPr b="0" i="0" sz="800" u="none" cap="none" strike="noStrike">
              <a:solidFill>
                <a:schemeClr val="dk1"/>
              </a:solidFill>
              <a:latin typeface="Calibri"/>
              <a:ea typeface="Calibri"/>
              <a:cs typeface="Calibri"/>
              <a:sym typeface="Calibri"/>
            </a:endParaRPr>
          </a:p>
        </p:txBody>
      </p:sp>
      <p:sp>
        <p:nvSpPr>
          <p:cNvPr id="331" name="Google Shape;331;p10"/>
          <p:cNvSpPr/>
          <p:nvPr/>
        </p:nvSpPr>
        <p:spPr>
          <a:xfrm>
            <a:off x="6848856" y="960120"/>
            <a:ext cx="1920240" cy="1051560"/>
          </a:xfrm>
          <a:prstGeom prst="rect">
            <a:avLst/>
          </a:prstGeom>
          <a:solidFill>
            <a:srgbClr val="FFFFFF"/>
          </a:solidFill>
          <a:ln>
            <a:noFill/>
          </a:ln>
          <a:effectLst>
            <a:outerShdw blurRad="101600" rotWithShape="0" algn="bl" dir="8100000" dist="25400">
              <a:srgbClr val="000000">
                <a:alpha val="1215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2" name="Google Shape;332;p10"/>
          <p:cNvSpPr/>
          <p:nvPr/>
        </p:nvSpPr>
        <p:spPr>
          <a:xfrm>
            <a:off x="6848856" y="960120"/>
            <a:ext cx="1920240" cy="64008"/>
          </a:xfrm>
          <a:prstGeom prst="rect">
            <a:avLst/>
          </a:prstGeom>
          <a:solidFill>
            <a:srgbClr val="C6282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3" name="Google Shape;333;p10"/>
          <p:cNvSpPr/>
          <p:nvPr/>
        </p:nvSpPr>
        <p:spPr>
          <a:xfrm>
            <a:off x="6848856" y="1042416"/>
            <a:ext cx="1920240"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62828"/>
              </a:buClr>
              <a:buSzPts val="2200"/>
              <a:buFont typeface="Calibri"/>
              <a:buNone/>
            </a:pPr>
            <a:r>
              <a:rPr b="1" i="0" lang="en-US" sz="2200" u="none" cap="none" strike="noStrike">
                <a:solidFill>
                  <a:srgbClr val="C62828"/>
                </a:solidFill>
                <a:latin typeface="Calibri"/>
                <a:ea typeface="Calibri"/>
                <a:cs typeface="Calibri"/>
                <a:sym typeface="Calibri"/>
              </a:rPr>
              <a:t>19.5%</a:t>
            </a:r>
            <a:endParaRPr b="0" i="0" sz="2200" u="none" cap="none" strike="noStrike">
              <a:solidFill>
                <a:schemeClr val="dk1"/>
              </a:solidFill>
              <a:latin typeface="Calibri"/>
              <a:ea typeface="Calibri"/>
              <a:cs typeface="Calibri"/>
              <a:sym typeface="Calibri"/>
            </a:endParaRPr>
          </a:p>
        </p:txBody>
      </p:sp>
      <p:sp>
        <p:nvSpPr>
          <p:cNvPr id="334" name="Google Shape;334;p10"/>
          <p:cNvSpPr/>
          <p:nvPr/>
        </p:nvSpPr>
        <p:spPr>
          <a:xfrm>
            <a:off x="6848856" y="1517904"/>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Error %</a:t>
            </a:r>
            <a:endParaRPr b="0" i="0" sz="1000" u="none" cap="none" strike="noStrike">
              <a:solidFill>
                <a:schemeClr val="dk1"/>
              </a:solidFill>
              <a:latin typeface="Calibri"/>
              <a:ea typeface="Calibri"/>
              <a:cs typeface="Calibri"/>
              <a:sym typeface="Calibri"/>
            </a:endParaRPr>
          </a:p>
        </p:txBody>
      </p:sp>
      <p:sp>
        <p:nvSpPr>
          <p:cNvPr id="335" name="Google Shape;335;p10"/>
          <p:cNvSpPr/>
          <p:nvPr/>
        </p:nvSpPr>
        <p:spPr>
          <a:xfrm>
            <a:off x="6848856" y="1719072"/>
            <a:ext cx="19202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Error porcentual sobre venta promedio</a:t>
            </a:r>
            <a:endParaRPr b="0" i="0" sz="800" u="none" cap="none" strike="noStrike">
              <a:solidFill>
                <a:schemeClr val="dk1"/>
              </a:solidFill>
              <a:latin typeface="Calibri"/>
              <a:ea typeface="Calibri"/>
              <a:cs typeface="Calibri"/>
              <a:sym typeface="Calibri"/>
            </a:endParaRPr>
          </a:p>
        </p:txBody>
      </p:sp>
      <p:sp>
        <p:nvSpPr>
          <p:cNvPr id="336" name="Google Shape;336;p10"/>
          <p:cNvSpPr/>
          <p:nvPr/>
        </p:nvSpPr>
        <p:spPr>
          <a:xfrm>
            <a:off x="357188" y="1984248"/>
            <a:ext cx="484632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Real vs Predicho — KNN</a:t>
            </a:r>
            <a:endParaRPr b="0" i="0" sz="1100" u="none" cap="none" strike="noStrike">
              <a:solidFill>
                <a:schemeClr val="dk1"/>
              </a:solidFill>
              <a:latin typeface="Calibri"/>
              <a:ea typeface="Calibri"/>
              <a:cs typeface="Calibri"/>
              <a:sym typeface="Calibri"/>
            </a:endParaRPr>
          </a:p>
        </p:txBody>
      </p:sp>
      <p:sp>
        <p:nvSpPr>
          <p:cNvPr id="337" name="Google Shape;337;p10"/>
          <p:cNvSpPr/>
          <p:nvPr/>
        </p:nvSpPr>
        <p:spPr>
          <a:xfrm>
            <a:off x="5303520" y="2176272"/>
            <a:ext cx="3520440" cy="2697480"/>
          </a:xfrm>
          <a:prstGeom prst="rect">
            <a:avLst/>
          </a:prstGeom>
          <a:solidFill>
            <a:srgbClr val="E3F0FF"/>
          </a:solidFill>
          <a:ln cap="flat" cmpd="sng" w="10150">
            <a:solidFill>
              <a:srgbClr val="1565C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8" name="Google Shape;338;p10"/>
          <p:cNvSpPr/>
          <p:nvPr/>
        </p:nvSpPr>
        <p:spPr>
          <a:xfrm>
            <a:off x="5394960" y="2240280"/>
            <a:ext cx="333756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  Interpretación</a:t>
            </a:r>
            <a:endParaRPr b="0" i="0" sz="1100" u="none" cap="none" strike="noStrike">
              <a:solidFill>
                <a:schemeClr val="dk1"/>
              </a:solidFill>
              <a:latin typeface="Calibri"/>
              <a:ea typeface="Calibri"/>
              <a:cs typeface="Calibri"/>
              <a:sym typeface="Calibri"/>
            </a:endParaRPr>
          </a:p>
        </p:txBody>
      </p:sp>
      <p:sp>
        <p:nvSpPr>
          <p:cNvPr id="339" name="Google Shape;339;p10"/>
          <p:cNvSpPr/>
          <p:nvPr/>
        </p:nvSpPr>
        <p:spPr>
          <a:xfrm>
            <a:off x="5394960" y="2560320"/>
            <a:ext cx="3337560" cy="224028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33333"/>
              </a:buClr>
              <a:buSzPts val="950"/>
              <a:buFont typeface="Calibri"/>
              <a:buChar char="•"/>
            </a:pPr>
            <a:r>
              <a:rPr b="0" i="0" lang="en-US" sz="950" u="none" cap="none" strike="noStrike">
                <a:solidFill>
                  <a:srgbClr val="333333"/>
                </a:solidFill>
                <a:latin typeface="Calibri"/>
                <a:ea typeface="Calibri"/>
                <a:cs typeface="Calibri"/>
                <a:sym typeface="Calibri"/>
              </a:rPr>
              <a:t>R²=0.7272 es un resultado aceptable para una primera versión del modelo</a:t>
            </a:r>
            <a:endParaRPr b="0" i="0" sz="9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333333"/>
              </a:buClr>
              <a:buSzPts val="950"/>
              <a:buFont typeface="Calibri"/>
              <a:buChar char="•"/>
            </a:pPr>
            <a:r>
              <a:rPr b="0" i="0" lang="en-US" sz="950" u="none" cap="none" strike="noStrike">
                <a:solidFill>
                  <a:srgbClr val="333333"/>
                </a:solidFill>
                <a:latin typeface="Calibri"/>
                <a:ea typeface="Calibri"/>
                <a:cs typeface="Calibri"/>
                <a:sym typeface="Calibri"/>
              </a:rPr>
              <a:t>El scatter muestra que para ventas medias el modelo predice bien, pero pierde precisión en los extremos</a:t>
            </a:r>
            <a:endParaRPr b="0" i="0" sz="9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333333"/>
              </a:buClr>
              <a:buSzPts val="950"/>
              <a:buFont typeface="Calibri"/>
              <a:buChar char="•"/>
            </a:pPr>
            <a:r>
              <a:rPr b="0" i="0" lang="en-US" sz="950" u="none" cap="none" strike="noStrike">
                <a:solidFill>
                  <a:srgbClr val="333333"/>
                </a:solidFill>
                <a:latin typeface="Calibri"/>
                <a:ea typeface="Calibri"/>
                <a:cs typeface="Calibri"/>
                <a:sym typeface="Calibri"/>
              </a:rPr>
              <a:t>El error de $98K sobre una venta media de $503K representa un ~20%, lo que puede mejorar con otro algoritmo</a:t>
            </a:r>
            <a:endParaRPr b="0" i="0" sz="9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333333"/>
              </a:buClr>
              <a:buSzPts val="950"/>
              <a:buFont typeface="Calibri"/>
              <a:buChar char="•"/>
            </a:pPr>
            <a:r>
              <a:rPr b="0" i="0" lang="en-US" sz="950" u="none" cap="none" strike="noStrike">
                <a:solidFill>
                  <a:srgbClr val="333333"/>
                </a:solidFill>
                <a:latin typeface="Calibri"/>
                <a:ea typeface="Calibri"/>
                <a:cs typeface="Calibri"/>
                <a:sym typeface="Calibri"/>
              </a:rPr>
              <a:t>KNN es sensible al escalado: sin StandardScaler el performance caería drásticamente</a:t>
            </a:r>
            <a:endParaRPr b="0" i="0" sz="950" u="none" cap="none" strike="noStrike">
              <a:solidFill>
                <a:schemeClr val="dk1"/>
              </a:solidFill>
              <a:latin typeface="Calibri"/>
              <a:ea typeface="Calibri"/>
              <a:cs typeface="Calibri"/>
              <a:sym typeface="Calibri"/>
            </a:endParaRPr>
          </a:p>
        </p:txBody>
      </p:sp>
      <p:sp>
        <p:nvSpPr>
          <p:cNvPr id="340" name="Google Shape;340;p10"/>
          <p:cNvSpPr/>
          <p:nvPr/>
        </p:nvSpPr>
        <p:spPr>
          <a:xfrm>
            <a:off x="320040" y="4846320"/>
            <a:ext cx="8503920" cy="228600"/>
          </a:xfrm>
          <a:prstGeom prst="rect">
            <a:avLst/>
          </a:prstGeom>
          <a:solidFill>
            <a:srgbClr val="FFF3E0"/>
          </a:solidFill>
          <a:ln cap="flat" cmpd="sng" w="10150">
            <a:solidFill>
              <a:srgbClr val="FFB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1" name="Google Shape;341;p10"/>
          <p:cNvSpPr/>
          <p:nvPr/>
        </p:nvSpPr>
        <p:spPr>
          <a:xfrm>
            <a:off x="411480" y="4855464"/>
            <a:ext cx="832104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5800"/>
              </a:buClr>
              <a:buSzPts val="900"/>
              <a:buFont typeface="Calibri"/>
              <a:buNone/>
            </a:pPr>
            <a:r>
              <a:rPr b="0" i="0" lang="en-US" sz="900" u="none" cap="none" strike="noStrike">
                <a:solidFill>
                  <a:srgbClr val="7B5800"/>
                </a:solidFill>
                <a:latin typeface="Calibri"/>
                <a:ea typeface="Calibri"/>
                <a:cs typeface="Calibri"/>
                <a:sym typeface="Calibri"/>
              </a:rPr>
              <a:t>⚡  Modelo baseline funcional, pero con margen de mejora. Se probará Random Forest para incrementar la precisión.</a:t>
            </a:r>
            <a:endParaRPr b="0" i="0" sz="900" u="none" cap="none" strike="noStrike">
              <a:solidFill>
                <a:schemeClr val="dk1"/>
              </a:solidFill>
              <a:latin typeface="Calibri"/>
              <a:ea typeface="Calibri"/>
              <a:cs typeface="Calibri"/>
              <a:sym typeface="Calibri"/>
            </a:endParaRPr>
          </a:p>
        </p:txBody>
      </p:sp>
      <p:pic>
        <p:nvPicPr>
          <p:cNvPr id="342" name="Google Shape;342;p10"/>
          <p:cNvPicPr preferRelativeResize="0"/>
          <p:nvPr/>
        </p:nvPicPr>
        <p:blipFill rotWithShape="1">
          <a:blip r:embed="rId3">
            <a:alphaModFix/>
          </a:blip>
          <a:srcRect b="0" l="0" r="0" t="0"/>
          <a:stretch/>
        </p:blipFill>
        <p:spPr>
          <a:xfrm>
            <a:off x="723659" y="2276856"/>
            <a:ext cx="3230737" cy="241282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BFF"/>
        </a:solidFill>
      </p:bgPr>
    </p:bg>
    <p:spTree>
      <p:nvGrpSpPr>
        <p:cNvPr id="347" name="Shape 347"/>
        <p:cNvGrpSpPr/>
        <p:nvPr/>
      </p:nvGrpSpPr>
      <p:grpSpPr>
        <a:xfrm>
          <a:off x="0" y="0"/>
          <a:ext cx="0" cy="0"/>
          <a:chOff x="0" y="0"/>
          <a:chExt cx="0" cy="0"/>
        </a:xfrm>
      </p:grpSpPr>
      <p:sp>
        <p:nvSpPr>
          <p:cNvPr id="348" name="Google Shape;348;p11"/>
          <p:cNvSpPr/>
          <p:nvPr/>
        </p:nvSpPr>
        <p:spPr>
          <a:xfrm>
            <a:off x="8320375" y="4923225"/>
            <a:ext cx="779700" cy="171000"/>
          </a:xfrm>
          <a:prstGeom prst="rect">
            <a:avLst/>
          </a:prstGeom>
          <a:solidFill>
            <a:srgbClr val="F8FB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11"/>
          <p:cNvSpPr/>
          <p:nvPr/>
        </p:nvSpPr>
        <p:spPr>
          <a:xfrm>
            <a:off x="0" y="0"/>
            <a:ext cx="9144000" cy="777240"/>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0" name="Google Shape;350;p11"/>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RANDOM FOREST — PROCESO Y CONFIGURACIÓN</a:t>
            </a:r>
            <a:endParaRPr b="0" i="0" sz="2200" u="none" cap="none" strike="noStrike">
              <a:solidFill>
                <a:schemeClr val="dk1"/>
              </a:solidFill>
              <a:latin typeface="Calibri"/>
              <a:ea typeface="Calibri"/>
              <a:cs typeface="Calibri"/>
              <a:sym typeface="Calibri"/>
            </a:endParaRPr>
          </a:p>
        </p:txBody>
      </p:sp>
      <p:sp>
        <p:nvSpPr>
          <p:cNvPr id="351" name="Google Shape;351;p11"/>
          <p:cNvSpPr/>
          <p:nvPr/>
        </p:nvSpPr>
        <p:spPr>
          <a:xfrm>
            <a:off x="320040" y="960120"/>
            <a:ext cx="850392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300"/>
              <a:buFont typeface="Calibri"/>
              <a:buNone/>
            </a:pPr>
            <a:r>
              <a:rPr b="1" i="0" lang="en-US" sz="1300" u="none" cap="none" strike="noStrike">
                <a:solidFill>
                  <a:srgbClr val="0D1B4B"/>
                </a:solidFill>
                <a:latin typeface="Calibri"/>
                <a:ea typeface="Calibri"/>
                <a:cs typeface="Calibri"/>
                <a:sym typeface="Calibri"/>
              </a:rPr>
              <a:t>¿Cómo funciona Random Forest?</a:t>
            </a:r>
            <a:endParaRPr b="0" i="0" sz="1300" u="none" cap="none" strike="noStrike">
              <a:solidFill>
                <a:schemeClr val="dk1"/>
              </a:solidFill>
              <a:latin typeface="Calibri"/>
              <a:ea typeface="Calibri"/>
              <a:cs typeface="Calibri"/>
              <a:sym typeface="Calibri"/>
            </a:endParaRPr>
          </a:p>
        </p:txBody>
      </p:sp>
      <p:sp>
        <p:nvSpPr>
          <p:cNvPr id="352" name="Google Shape;352;p11"/>
          <p:cNvSpPr/>
          <p:nvPr/>
        </p:nvSpPr>
        <p:spPr>
          <a:xfrm>
            <a:off x="320040" y="1353312"/>
            <a:ext cx="2697480" cy="1371600"/>
          </a:xfrm>
          <a:prstGeom prst="rect">
            <a:avLst/>
          </a:prstGeom>
          <a:solidFill>
            <a:srgbClr val="FFFFFF"/>
          </a:solidFill>
          <a:ln>
            <a:noFill/>
          </a:ln>
          <a:effectLst>
            <a:outerShdw blurRad="76200" rotWithShape="0" algn="bl" dir="81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3" name="Google Shape;353;p11"/>
          <p:cNvSpPr/>
          <p:nvPr/>
        </p:nvSpPr>
        <p:spPr>
          <a:xfrm>
            <a:off x="320040" y="1353312"/>
            <a:ext cx="2697480" cy="54864"/>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4" name="Google Shape;354;p11"/>
          <p:cNvSpPr/>
          <p:nvPr/>
        </p:nvSpPr>
        <p:spPr>
          <a:xfrm>
            <a:off x="411480" y="1435608"/>
            <a:ext cx="2514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  100 Árboles</a:t>
            </a:r>
            <a:endParaRPr b="0" i="0" sz="1100" u="none" cap="none" strike="noStrike">
              <a:solidFill>
                <a:schemeClr val="dk1"/>
              </a:solidFill>
              <a:latin typeface="Calibri"/>
              <a:ea typeface="Calibri"/>
              <a:cs typeface="Calibri"/>
              <a:sym typeface="Calibri"/>
            </a:endParaRPr>
          </a:p>
        </p:txBody>
      </p:sp>
      <p:sp>
        <p:nvSpPr>
          <p:cNvPr id="355" name="Google Shape;355;p11"/>
          <p:cNvSpPr/>
          <p:nvPr/>
        </p:nvSpPr>
        <p:spPr>
          <a:xfrm>
            <a:off x="411480" y="1792224"/>
            <a:ext cx="2514600" cy="8961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4444"/>
              </a:buClr>
              <a:buSzPts val="950"/>
              <a:buFont typeface="Calibri"/>
              <a:buNone/>
            </a:pPr>
            <a:r>
              <a:rPr b="0" i="0" lang="en-US" sz="950" u="none" cap="none" strike="noStrike">
                <a:solidFill>
                  <a:srgbClr val="444444"/>
                </a:solidFill>
                <a:latin typeface="Calibri"/>
                <a:ea typeface="Calibri"/>
                <a:cs typeface="Calibri"/>
                <a:sym typeface="Calibri"/>
              </a:rPr>
              <a:t>Entrena 100 árboles de decisión en paralelo sobre subconjuntos aleatorios de datos (bagging)</a:t>
            </a:r>
            <a:endParaRPr b="0" i="0" sz="950" u="none" cap="none" strike="noStrike">
              <a:solidFill>
                <a:schemeClr val="dk1"/>
              </a:solidFill>
              <a:latin typeface="Calibri"/>
              <a:ea typeface="Calibri"/>
              <a:cs typeface="Calibri"/>
              <a:sym typeface="Calibri"/>
            </a:endParaRPr>
          </a:p>
        </p:txBody>
      </p:sp>
      <p:sp>
        <p:nvSpPr>
          <p:cNvPr id="356" name="Google Shape;356;p11"/>
          <p:cNvSpPr/>
          <p:nvPr/>
        </p:nvSpPr>
        <p:spPr>
          <a:xfrm>
            <a:off x="3264408" y="1353312"/>
            <a:ext cx="2697480" cy="1371600"/>
          </a:xfrm>
          <a:prstGeom prst="rect">
            <a:avLst/>
          </a:prstGeom>
          <a:solidFill>
            <a:srgbClr val="FFFFFF"/>
          </a:solidFill>
          <a:ln>
            <a:noFill/>
          </a:ln>
          <a:effectLst>
            <a:outerShdw blurRad="76200" rotWithShape="0" algn="bl" dir="81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7" name="Google Shape;357;p11"/>
          <p:cNvSpPr/>
          <p:nvPr/>
        </p:nvSpPr>
        <p:spPr>
          <a:xfrm>
            <a:off x="3264408" y="1353312"/>
            <a:ext cx="2697480" cy="54864"/>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8" name="Google Shape;358;p11"/>
          <p:cNvSpPr/>
          <p:nvPr/>
        </p:nvSpPr>
        <p:spPr>
          <a:xfrm>
            <a:off x="3355848" y="1435608"/>
            <a:ext cx="2514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  Feature Sampling</a:t>
            </a:r>
            <a:endParaRPr b="0" i="0" sz="1100" u="none" cap="none" strike="noStrike">
              <a:solidFill>
                <a:schemeClr val="dk1"/>
              </a:solidFill>
              <a:latin typeface="Calibri"/>
              <a:ea typeface="Calibri"/>
              <a:cs typeface="Calibri"/>
              <a:sym typeface="Calibri"/>
            </a:endParaRPr>
          </a:p>
        </p:txBody>
      </p:sp>
      <p:sp>
        <p:nvSpPr>
          <p:cNvPr id="359" name="Google Shape;359;p11"/>
          <p:cNvSpPr/>
          <p:nvPr/>
        </p:nvSpPr>
        <p:spPr>
          <a:xfrm>
            <a:off x="3355848" y="1792224"/>
            <a:ext cx="2514600" cy="8961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4444"/>
              </a:buClr>
              <a:buSzPts val="950"/>
              <a:buFont typeface="Calibri"/>
              <a:buNone/>
            </a:pPr>
            <a:r>
              <a:rPr b="0" i="0" lang="en-US" sz="950" u="none" cap="none" strike="noStrike">
                <a:solidFill>
                  <a:srgbClr val="444444"/>
                </a:solidFill>
                <a:latin typeface="Calibri"/>
                <a:ea typeface="Calibri"/>
                <a:cs typeface="Calibri"/>
                <a:sym typeface="Calibri"/>
              </a:rPr>
              <a:t>Cada árbol usa un subconjunto aleatorio de features, evitando correlación entre árboles</a:t>
            </a:r>
            <a:endParaRPr b="0" i="0" sz="950" u="none" cap="none" strike="noStrike">
              <a:solidFill>
                <a:schemeClr val="dk1"/>
              </a:solidFill>
              <a:latin typeface="Calibri"/>
              <a:ea typeface="Calibri"/>
              <a:cs typeface="Calibri"/>
              <a:sym typeface="Calibri"/>
            </a:endParaRPr>
          </a:p>
        </p:txBody>
      </p:sp>
      <p:sp>
        <p:nvSpPr>
          <p:cNvPr id="360" name="Google Shape;360;p11"/>
          <p:cNvSpPr/>
          <p:nvPr/>
        </p:nvSpPr>
        <p:spPr>
          <a:xfrm>
            <a:off x="6208776" y="1353312"/>
            <a:ext cx="2697480" cy="1371600"/>
          </a:xfrm>
          <a:prstGeom prst="rect">
            <a:avLst/>
          </a:prstGeom>
          <a:solidFill>
            <a:srgbClr val="FFFFFF"/>
          </a:solidFill>
          <a:ln>
            <a:noFill/>
          </a:ln>
          <a:effectLst>
            <a:outerShdw blurRad="76200" rotWithShape="0" algn="bl" dir="81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1" name="Google Shape;361;p11"/>
          <p:cNvSpPr/>
          <p:nvPr/>
        </p:nvSpPr>
        <p:spPr>
          <a:xfrm>
            <a:off x="6208776" y="1353312"/>
            <a:ext cx="2697480" cy="54864"/>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2" name="Google Shape;362;p11"/>
          <p:cNvSpPr/>
          <p:nvPr/>
        </p:nvSpPr>
        <p:spPr>
          <a:xfrm>
            <a:off x="6300216" y="1435608"/>
            <a:ext cx="2514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  Predicción Final</a:t>
            </a:r>
            <a:endParaRPr b="0" i="0" sz="1100" u="none" cap="none" strike="noStrike">
              <a:solidFill>
                <a:schemeClr val="dk1"/>
              </a:solidFill>
              <a:latin typeface="Calibri"/>
              <a:ea typeface="Calibri"/>
              <a:cs typeface="Calibri"/>
              <a:sym typeface="Calibri"/>
            </a:endParaRPr>
          </a:p>
        </p:txBody>
      </p:sp>
      <p:sp>
        <p:nvSpPr>
          <p:cNvPr id="363" name="Google Shape;363;p11"/>
          <p:cNvSpPr/>
          <p:nvPr/>
        </p:nvSpPr>
        <p:spPr>
          <a:xfrm>
            <a:off x="6300216" y="1792224"/>
            <a:ext cx="2514600" cy="8961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4444"/>
              </a:buClr>
              <a:buSzPts val="950"/>
              <a:buFont typeface="Calibri"/>
              <a:buNone/>
            </a:pPr>
            <a:r>
              <a:rPr b="0" i="0" lang="en-US" sz="950" u="none" cap="none" strike="noStrike">
                <a:solidFill>
                  <a:srgbClr val="444444"/>
                </a:solidFill>
                <a:latin typeface="Calibri"/>
                <a:ea typeface="Calibri"/>
                <a:cs typeface="Calibri"/>
                <a:sym typeface="Calibri"/>
              </a:rPr>
              <a:t>Promedia los resultados de todos los árboles para obtener la predicción final</a:t>
            </a:r>
            <a:endParaRPr b="0" i="0" sz="950" u="none" cap="none" strike="noStrike">
              <a:solidFill>
                <a:schemeClr val="dk1"/>
              </a:solidFill>
              <a:latin typeface="Calibri"/>
              <a:ea typeface="Calibri"/>
              <a:cs typeface="Calibri"/>
              <a:sym typeface="Calibri"/>
            </a:endParaRPr>
          </a:p>
        </p:txBody>
      </p:sp>
      <p:sp>
        <p:nvSpPr>
          <p:cNvPr id="364" name="Google Shape;364;p11"/>
          <p:cNvSpPr/>
          <p:nvPr/>
        </p:nvSpPr>
        <p:spPr>
          <a:xfrm>
            <a:off x="152399" y="2870800"/>
            <a:ext cx="20118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200"/>
              <a:buFont typeface="Calibri"/>
              <a:buNone/>
            </a:pPr>
            <a:r>
              <a:rPr b="1" i="0" lang="en-US" sz="1200" u="none" cap="none" strike="noStrike">
                <a:solidFill>
                  <a:srgbClr val="0D1B4B"/>
                </a:solidFill>
                <a:latin typeface="Calibri"/>
                <a:ea typeface="Calibri"/>
                <a:cs typeface="Calibri"/>
                <a:sym typeface="Calibri"/>
              </a:rPr>
              <a:t>Configuración del Modelo</a:t>
            </a:r>
            <a:endParaRPr b="0" i="0" sz="1200" u="none" cap="none" strike="noStrike">
              <a:solidFill>
                <a:schemeClr val="dk1"/>
              </a:solidFill>
              <a:latin typeface="Calibri"/>
              <a:ea typeface="Calibri"/>
              <a:cs typeface="Calibri"/>
              <a:sym typeface="Calibri"/>
            </a:endParaRPr>
          </a:p>
        </p:txBody>
      </p:sp>
      <p:sp>
        <p:nvSpPr>
          <p:cNvPr id="365" name="Google Shape;365;p11"/>
          <p:cNvSpPr/>
          <p:nvPr/>
        </p:nvSpPr>
        <p:spPr>
          <a:xfrm>
            <a:off x="288446" y="4838077"/>
            <a:ext cx="8503800" cy="228600"/>
          </a:xfrm>
          <a:prstGeom prst="rect">
            <a:avLst/>
          </a:prstGeom>
          <a:solidFill>
            <a:srgbClr val="E8F5E9"/>
          </a:solidFill>
          <a:ln cap="flat" cmpd="sng" w="10150">
            <a:solidFill>
              <a:srgbClr val="2E7D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6" name="Google Shape;366;p11"/>
          <p:cNvSpPr/>
          <p:nvPr/>
        </p:nvSpPr>
        <p:spPr>
          <a:xfrm>
            <a:off x="411390" y="4827896"/>
            <a:ext cx="8321100" cy="201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5E20"/>
              </a:buClr>
              <a:buSzPts val="900"/>
              <a:buFont typeface="Calibri"/>
              <a:buNone/>
            </a:pPr>
            <a:r>
              <a:rPr b="0" i="0" lang="en-US" sz="900" u="none" cap="none" strike="noStrike">
                <a:solidFill>
                  <a:srgbClr val="1B5E20"/>
                </a:solidFill>
                <a:latin typeface="Calibri"/>
                <a:ea typeface="Calibri"/>
                <a:cs typeface="Calibri"/>
                <a:sym typeface="Calibri"/>
              </a:rPr>
              <a:t>💡  Marketing representa el 64.4% de la importancia total. Farmacia como rubro (0.074)  y Distancia al Ancla son los siguientes factores clave.</a:t>
            </a:r>
            <a:endParaRPr b="0" i="0" sz="900" u="none" cap="none" strike="noStrike">
              <a:solidFill>
                <a:schemeClr val="dk1"/>
              </a:solidFill>
              <a:latin typeface="Calibri"/>
              <a:ea typeface="Calibri"/>
              <a:cs typeface="Calibri"/>
              <a:sym typeface="Calibri"/>
            </a:endParaRPr>
          </a:p>
        </p:txBody>
      </p:sp>
      <p:pic>
        <p:nvPicPr>
          <p:cNvPr id="367" name="Google Shape;367;p11"/>
          <p:cNvPicPr preferRelativeResize="0"/>
          <p:nvPr/>
        </p:nvPicPr>
        <p:blipFill rotWithShape="1">
          <a:blip r:embed="rId3">
            <a:alphaModFix/>
          </a:blip>
          <a:srcRect b="0" l="0" r="0" t="0"/>
          <a:stretch/>
        </p:blipFill>
        <p:spPr>
          <a:xfrm>
            <a:off x="152400" y="3163301"/>
            <a:ext cx="2521110" cy="1092125"/>
          </a:xfrm>
          <a:prstGeom prst="rect">
            <a:avLst/>
          </a:prstGeom>
          <a:noFill/>
          <a:ln>
            <a:noFill/>
          </a:ln>
        </p:spPr>
      </p:pic>
      <p:sp>
        <p:nvSpPr>
          <p:cNvPr id="368" name="Google Shape;368;p11"/>
          <p:cNvSpPr/>
          <p:nvPr/>
        </p:nvSpPr>
        <p:spPr>
          <a:xfrm>
            <a:off x="3355851" y="2810249"/>
            <a:ext cx="32088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200"/>
              <a:buFont typeface="Calibri"/>
              <a:buNone/>
            </a:pPr>
            <a:r>
              <a:rPr b="1" i="0" lang="en-US" sz="1200" u="none" cap="none" strike="noStrike">
                <a:solidFill>
                  <a:srgbClr val="0D1B4B"/>
                </a:solidFill>
                <a:latin typeface="Calibri"/>
                <a:ea typeface="Calibri"/>
                <a:cs typeface="Calibri"/>
                <a:sym typeface="Calibri"/>
              </a:rPr>
              <a:t>Importancia por Rubro </a:t>
            </a:r>
            <a:endParaRPr b="0" i="0" sz="1200" u="none" cap="none" strike="noStrike">
              <a:solidFill>
                <a:schemeClr val="dk1"/>
              </a:solidFill>
              <a:latin typeface="Calibri"/>
              <a:ea typeface="Calibri"/>
              <a:cs typeface="Calibri"/>
              <a:sym typeface="Calibri"/>
            </a:endParaRPr>
          </a:p>
        </p:txBody>
      </p:sp>
      <p:sp>
        <p:nvSpPr>
          <p:cNvPr id="369" name="Google Shape;369;p11"/>
          <p:cNvSpPr/>
          <p:nvPr/>
        </p:nvSpPr>
        <p:spPr>
          <a:xfrm>
            <a:off x="0" y="777240"/>
            <a:ext cx="9144000" cy="54864"/>
          </a:xfrm>
          <a:prstGeom prst="rect">
            <a:avLst/>
          </a:prstGeom>
          <a:gradFill>
            <a:gsLst>
              <a:gs pos="0">
                <a:srgbClr val="6E6E6E"/>
              </a:gs>
              <a:gs pos="48000">
                <a:srgbClr val="A7A7A7"/>
              </a:gs>
              <a:gs pos="100000">
                <a:srgbClr val="C9C9C9"/>
              </a:gs>
            </a:gsLst>
            <a:lin ang="162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70" name="Google Shape;370;p11"/>
          <p:cNvPicPr preferRelativeResize="0"/>
          <p:nvPr/>
        </p:nvPicPr>
        <p:blipFill rotWithShape="1">
          <a:blip r:embed="rId4">
            <a:alphaModFix/>
          </a:blip>
          <a:srcRect b="0" l="0" r="0" t="0"/>
          <a:stretch/>
        </p:blipFill>
        <p:spPr>
          <a:xfrm>
            <a:off x="2948409" y="3078902"/>
            <a:ext cx="2852928" cy="1701949"/>
          </a:xfrm>
          <a:prstGeom prst="rect">
            <a:avLst/>
          </a:prstGeom>
          <a:noFill/>
          <a:ln>
            <a:noFill/>
          </a:ln>
        </p:spPr>
      </p:pic>
      <p:grpSp>
        <p:nvGrpSpPr>
          <p:cNvPr id="371" name="Google Shape;371;p11"/>
          <p:cNvGrpSpPr/>
          <p:nvPr/>
        </p:nvGrpSpPr>
        <p:grpSpPr>
          <a:xfrm>
            <a:off x="5870448" y="2890405"/>
            <a:ext cx="3154697" cy="1881973"/>
            <a:chOff x="5870448" y="2890405"/>
            <a:chExt cx="3154697" cy="1881973"/>
          </a:xfrm>
        </p:grpSpPr>
        <p:pic>
          <p:nvPicPr>
            <p:cNvPr id="372" name="Google Shape;372;p11"/>
            <p:cNvPicPr preferRelativeResize="0"/>
            <p:nvPr/>
          </p:nvPicPr>
          <p:blipFill rotWithShape="1">
            <a:blip r:embed="rId5">
              <a:alphaModFix/>
            </a:blip>
            <a:srcRect b="0" l="0" r="0" t="0"/>
            <a:stretch/>
          </p:blipFill>
          <p:spPr>
            <a:xfrm>
              <a:off x="5870448" y="2890405"/>
              <a:ext cx="3154697" cy="1881973"/>
            </a:xfrm>
            <a:prstGeom prst="rect">
              <a:avLst/>
            </a:prstGeom>
            <a:noFill/>
            <a:ln>
              <a:noFill/>
            </a:ln>
          </p:spPr>
        </p:pic>
        <p:pic>
          <p:nvPicPr>
            <p:cNvPr id="373" name="Google Shape;373;p11"/>
            <p:cNvPicPr preferRelativeResize="0"/>
            <p:nvPr/>
          </p:nvPicPr>
          <p:blipFill rotWithShape="1">
            <a:blip r:embed="rId6">
              <a:alphaModFix/>
            </a:blip>
            <a:srcRect b="73679" l="67668" r="1301" t="6578"/>
            <a:stretch/>
          </p:blipFill>
          <p:spPr>
            <a:xfrm>
              <a:off x="7968045" y="2962936"/>
              <a:ext cx="1057100" cy="420344"/>
            </a:xfrm>
            <a:prstGeom prst="rect">
              <a:avLst/>
            </a:prstGeom>
            <a:noFill/>
            <a:ln>
              <a:noFill/>
            </a:ln>
          </p:spPr>
        </p:pic>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BFF"/>
        </a:solidFill>
      </p:bgPr>
    </p:bg>
    <p:spTree>
      <p:nvGrpSpPr>
        <p:cNvPr id="378" name="Shape 378"/>
        <p:cNvGrpSpPr/>
        <p:nvPr/>
      </p:nvGrpSpPr>
      <p:grpSpPr>
        <a:xfrm>
          <a:off x="0" y="0"/>
          <a:ext cx="0" cy="0"/>
          <a:chOff x="0" y="0"/>
          <a:chExt cx="0" cy="0"/>
        </a:xfrm>
      </p:grpSpPr>
      <p:sp>
        <p:nvSpPr>
          <p:cNvPr id="379" name="Google Shape;379;p12"/>
          <p:cNvSpPr/>
          <p:nvPr/>
        </p:nvSpPr>
        <p:spPr>
          <a:xfrm>
            <a:off x="8305700" y="4903925"/>
            <a:ext cx="779700" cy="171000"/>
          </a:xfrm>
          <a:prstGeom prst="rect">
            <a:avLst/>
          </a:prstGeom>
          <a:solidFill>
            <a:srgbClr val="F8FB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12"/>
          <p:cNvSpPr/>
          <p:nvPr/>
        </p:nvSpPr>
        <p:spPr>
          <a:xfrm>
            <a:off x="0" y="0"/>
            <a:ext cx="9144000" cy="777240"/>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1" name="Google Shape;381;p12"/>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RANDOM FOREST — RESULTADOS</a:t>
            </a:r>
            <a:endParaRPr b="0" i="0" sz="2200" u="none" cap="none" strike="noStrike">
              <a:solidFill>
                <a:schemeClr val="dk1"/>
              </a:solidFill>
              <a:latin typeface="Calibri"/>
              <a:ea typeface="Calibri"/>
              <a:cs typeface="Calibri"/>
              <a:sym typeface="Calibri"/>
            </a:endParaRPr>
          </a:p>
        </p:txBody>
      </p:sp>
      <p:sp>
        <p:nvSpPr>
          <p:cNvPr id="382" name="Google Shape;382;p12"/>
          <p:cNvSpPr/>
          <p:nvPr/>
        </p:nvSpPr>
        <p:spPr>
          <a:xfrm>
            <a:off x="320040" y="960120"/>
            <a:ext cx="1920240" cy="1005840"/>
          </a:xfrm>
          <a:prstGeom prst="rect">
            <a:avLst/>
          </a:prstGeom>
          <a:solidFill>
            <a:srgbClr val="FFFFFF"/>
          </a:solidFill>
          <a:ln>
            <a:noFill/>
          </a:ln>
          <a:effectLst>
            <a:outerShdw blurRad="101600" rotWithShape="0" algn="bl" dir="8100000" dist="25400">
              <a:srgbClr val="000000">
                <a:alpha val="1215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3" name="Google Shape;383;p12"/>
          <p:cNvSpPr/>
          <p:nvPr/>
        </p:nvSpPr>
        <p:spPr>
          <a:xfrm>
            <a:off x="320040" y="960120"/>
            <a:ext cx="1920240" cy="64008"/>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4" name="Google Shape;384;p12"/>
          <p:cNvSpPr/>
          <p:nvPr/>
        </p:nvSpPr>
        <p:spPr>
          <a:xfrm>
            <a:off x="320040" y="1033272"/>
            <a:ext cx="192024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E7D32"/>
              </a:buClr>
              <a:buSzPts val="2400"/>
              <a:buFont typeface="Calibri"/>
              <a:buNone/>
            </a:pPr>
            <a:r>
              <a:rPr b="1" i="0" lang="en-US" sz="2400" u="none" cap="none" strike="noStrike">
                <a:solidFill>
                  <a:srgbClr val="2E7D32"/>
                </a:solidFill>
                <a:latin typeface="Calibri"/>
                <a:ea typeface="Calibri"/>
                <a:cs typeface="Calibri"/>
                <a:sym typeface="Calibri"/>
              </a:rPr>
              <a:t>85.4%</a:t>
            </a:r>
            <a:endParaRPr b="0" i="0" sz="2400" u="none" cap="none" strike="noStrike">
              <a:solidFill>
                <a:schemeClr val="dk1"/>
              </a:solidFill>
              <a:latin typeface="Calibri"/>
              <a:ea typeface="Calibri"/>
              <a:cs typeface="Calibri"/>
              <a:sym typeface="Calibri"/>
            </a:endParaRPr>
          </a:p>
        </p:txBody>
      </p:sp>
      <p:sp>
        <p:nvSpPr>
          <p:cNvPr id="385" name="Google Shape;385;p12"/>
          <p:cNvSpPr/>
          <p:nvPr/>
        </p:nvSpPr>
        <p:spPr>
          <a:xfrm>
            <a:off x="320040" y="1481328"/>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R²</a:t>
            </a:r>
            <a:endParaRPr b="0" i="0" sz="1000" u="none" cap="none" strike="noStrike">
              <a:solidFill>
                <a:schemeClr val="dk1"/>
              </a:solidFill>
              <a:latin typeface="Calibri"/>
              <a:ea typeface="Calibri"/>
              <a:cs typeface="Calibri"/>
              <a:sym typeface="Calibri"/>
            </a:endParaRPr>
          </a:p>
        </p:txBody>
      </p:sp>
      <p:sp>
        <p:nvSpPr>
          <p:cNvPr id="386" name="Google Shape;386;p12"/>
          <p:cNvSpPr/>
          <p:nvPr/>
        </p:nvSpPr>
        <p:spPr>
          <a:xfrm>
            <a:off x="320040" y="1682496"/>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Excelente — R² &gt; 80%</a:t>
            </a:r>
            <a:endParaRPr b="0" i="0" sz="800" u="none" cap="none" strike="noStrike">
              <a:solidFill>
                <a:schemeClr val="dk1"/>
              </a:solidFill>
              <a:latin typeface="Calibri"/>
              <a:ea typeface="Calibri"/>
              <a:cs typeface="Calibri"/>
              <a:sym typeface="Calibri"/>
            </a:endParaRPr>
          </a:p>
        </p:txBody>
      </p:sp>
      <p:sp>
        <p:nvSpPr>
          <p:cNvPr id="387" name="Google Shape;387;p12"/>
          <p:cNvSpPr/>
          <p:nvPr/>
        </p:nvSpPr>
        <p:spPr>
          <a:xfrm>
            <a:off x="2496312" y="960120"/>
            <a:ext cx="1920240" cy="1005840"/>
          </a:xfrm>
          <a:prstGeom prst="rect">
            <a:avLst/>
          </a:prstGeom>
          <a:solidFill>
            <a:srgbClr val="FFFFFF"/>
          </a:solidFill>
          <a:ln>
            <a:noFill/>
          </a:ln>
          <a:effectLst>
            <a:outerShdw blurRad="101600" rotWithShape="0" algn="bl" dir="8100000" dist="25400">
              <a:srgbClr val="000000">
                <a:alpha val="1215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8" name="Google Shape;388;p12"/>
          <p:cNvSpPr/>
          <p:nvPr/>
        </p:nvSpPr>
        <p:spPr>
          <a:xfrm>
            <a:off x="2496312" y="960120"/>
            <a:ext cx="1920240" cy="64008"/>
          </a:xfrm>
          <a:prstGeom prst="rect">
            <a:avLst/>
          </a:prstGeom>
          <a:solidFill>
            <a:srgbClr val="1976D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p12"/>
          <p:cNvSpPr/>
          <p:nvPr/>
        </p:nvSpPr>
        <p:spPr>
          <a:xfrm>
            <a:off x="2496312" y="1033272"/>
            <a:ext cx="192024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976D2"/>
              </a:buClr>
              <a:buSzPts val="2400"/>
              <a:buFont typeface="Calibri"/>
              <a:buNone/>
            </a:pPr>
            <a:r>
              <a:rPr b="1" i="0" lang="en-US" sz="2400" u="none" cap="none" strike="noStrike">
                <a:solidFill>
                  <a:srgbClr val="1976D2"/>
                </a:solidFill>
                <a:latin typeface="Calibri"/>
                <a:ea typeface="Calibri"/>
                <a:cs typeface="Calibri"/>
                <a:sym typeface="Calibri"/>
              </a:rPr>
              <a:t>$71,450</a:t>
            </a:r>
            <a:endParaRPr b="0" i="0" sz="2400" u="none" cap="none" strike="noStrike">
              <a:solidFill>
                <a:schemeClr val="dk1"/>
              </a:solidFill>
              <a:latin typeface="Calibri"/>
              <a:ea typeface="Calibri"/>
              <a:cs typeface="Calibri"/>
              <a:sym typeface="Calibri"/>
            </a:endParaRPr>
          </a:p>
        </p:txBody>
      </p:sp>
      <p:sp>
        <p:nvSpPr>
          <p:cNvPr id="390" name="Google Shape;390;p12"/>
          <p:cNvSpPr/>
          <p:nvPr/>
        </p:nvSpPr>
        <p:spPr>
          <a:xfrm>
            <a:off x="2496312" y="1481328"/>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MAE</a:t>
            </a:r>
            <a:endParaRPr b="0" i="0" sz="1000" u="none" cap="none" strike="noStrike">
              <a:solidFill>
                <a:schemeClr val="dk1"/>
              </a:solidFill>
              <a:latin typeface="Calibri"/>
              <a:ea typeface="Calibri"/>
              <a:cs typeface="Calibri"/>
              <a:sym typeface="Calibri"/>
            </a:endParaRPr>
          </a:p>
        </p:txBody>
      </p:sp>
      <p:sp>
        <p:nvSpPr>
          <p:cNvPr id="391" name="Google Shape;391;p12"/>
          <p:cNvSpPr/>
          <p:nvPr/>
        </p:nvSpPr>
        <p:spPr>
          <a:xfrm>
            <a:off x="2496312" y="1682496"/>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Error medio reducido</a:t>
            </a:r>
            <a:endParaRPr b="0" i="0" sz="800" u="none" cap="none" strike="noStrike">
              <a:solidFill>
                <a:schemeClr val="dk1"/>
              </a:solidFill>
              <a:latin typeface="Calibri"/>
              <a:ea typeface="Calibri"/>
              <a:cs typeface="Calibri"/>
              <a:sym typeface="Calibri"/>
            </a:endParaRPr>
          </a:p>
        </p:txBody>
      </p:sp>
      <p:sp>
        <p:nvSpPr>
          <p:cNvPr id="392" name="Google Shape;392;p12"/>
          <p:cNvSpPr/>
          <p:nvPr/>
        </p:nvSpPr>
        <p:spPr>
          <a:xfrm>
            <a:off x="4672584" y="960120"/>
            <a:ext cx="1920240" cy="1005840"/>
          </a:xfrm>
          <a:prstGeom prst="rect">
            <a:avLst/>
          </a:prstGeom>
          <a:solidFill>
            <a:srgbClr val="FFFFFF"/>
          </a:solidFill>
          <a:ln>
            <a:noFill/>
          </a:ln>
          <a:effectLst>
            <a:outerShdw blurRad="101600" rotWithShape="0" algn="bl" dir="8100000" dist="25400">
              <a:srgbClr val="000000">
                <a:alpha val="1215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3" name="Google Shape;393;p12"/>
          <p:cNvSpPr/>
          <p:nvPr/>
        </p:nvSpPr>
        <p:spPr>
          <a:xfrm>
            <a:off x="4672584" y="960120"/>
            <a:ext cx="1920240" cy="64008"/>
          </a:xfrm>
          <a:prstGeom prst="rect">
            <a:avLst/>
          </a:prstGeom>
          <a:solidFill>
            <a:srgbClr val="6A1B9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4" name="Google Shape;394;p12"/>
          <p:cNvSpPr/>
          <p:nvPr/>
        </p:nvSpPr>
        <p:spPr>
          <a:xfrm>
            <a:off x="4672584" y="1033272"/>
            <a:ext cx="192024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A1B9A"/>
              </a:buClr>
              <a:buSzPts val="2400"/>
              <a:buFont typeface="Calibri"/>
              <a:buNone/>
            </a:pPr>
            <a:r>
              <a:rPr b="1" i="0" lang="en-US" sz="2400" u="none" cap="none" strike="noStrike">
                <a:solidFill>
                  <a:srgbClr val="6A1B9A"/>
                </a:solidFill>
                <a:latin typeface="Calibri"/>
                <a:ea typeface="Calibri"/>
                <a:cs typeface="Calibri"/>
                <a:sym typeface="Calibri"/>
              </a:rPr>
              <a:t>$99,265</a:t>
            </a:r>
            <a:endParaRPr b="0" i="0" sz="2400" u="none" cap="none" strike="noStrike">
              <a:solidFill>
                <a:schemeClr val="dk1"/>
              </a:solidFill>
              <a:latin typeface="Calibri"/>
              <a:ea typeface="Calibri"/>
              <a:cs typeface="Calibri"/>
              <a:sym typeface="Calibri"/>
            </a:endParaRPr>
          </a:p>
        </p:txBody>
      </p:sp>
      <p:sp>
        <p:nvSpPr>
          <p:cNvPr id="395" name="Google Shape;395;p12"/>
          <p:cNvSpPr/>
          <p:nvPr/>
        </p:nvSpPr>
        <p:spPr>
          <a:xfrm>
            <a:off x="4672584" y="1481328"/>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RMSE</a:t>
            </a:r>
            <a:endParaRPr b="0" i="0" sz="1000" u="none" cap="none" strike="noStrike">
              <a:solidFill>
                <a:schemeClr val="dk1"/>
              </a:solidFill>
              <a:latin typeface="Calibri"/>
              <a:ea typeface="Calibri"/>
              <a:cs typeface="Calibri"/>
              <a:sym typeface="Calibri"/>
            </a:endParaRPr>
          </a:p>
        </p:txBody>
      </p:sp>
      <p:sp>
        <p:nvSpPr>
          <p:cNvPr id="396" name="Google Shape;396;p12"/>
          <p:cNvSpPr/>
          <p:nvPr/>
        </p:nvSpPr>
        <p:spPr>
          <a:xfrm>
            <a:off x="4672584" y="1682496"/>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Mejor que KNN</a:t>
            </a:r>
            <a:endParaRPr b="0" i="0" sz="800" u="none" cap="none" strike="noStrike">
              <a:solidFill>
                <a:schemeClr val="dk1"/>
              </a:solidFill>
              <a:latin typeface="Calibri"/>
              <a:ea typeface="Calibri"/>
              <a:cs typeface="Calibri"/>
              <a:sym typeface="Calibri"/>
            </a:endParaRPr>
          </a:p>
        </p:txBody>
      </p:sp>
      <p:sp>
        <p:nvSpPr>
          <p:cNvPr id="397" name="Google Shape;397;p12"/>
          <p:cNvSpPr/>
          <p:nvPr/>
        </p:nvSpPr>
        <p:spPr>
          <a:xfrm>
            <a:off x="6848856" y="960120"/>
            <a:ext cx="1920240" cy="1005840"/>
          </a:xfrm>
          <a:prstGeom prst="rect">
            <a:avLst/>
          </a:prstGeom>
          <a:solidFill>
            <a:srgbClr val="FFFFFF"/>
          </a:solidFill>
          <a:ln>
            <a:noFill/>
          </a:ln>
          <a:effectLst>
            <a:outerShdw blurRad="101600" rotWithShape="0" algn="bl" dir="8100000" dist="25400">
              <a:srgbClr val="000000">
                <a:alpha val="1215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8" name="Google Shape;398;p12"/>
          <p:cNvSpPr/>
          <p:nvPr/>
        </p:nvSpPr>
        <p:spPr>
          <a:xfrm>
            <a:off x="6848856" y="960120"/>
            <a:ext cx="1920240" cy="64008"/>
          </a:xfrm>
          <a:prstGeom prst="rect">
            <a:avLst/>
          </a:prstGeom>
          <a:solidFill>
            <a:srgbClr val="E651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9" name="Google Shape;399;p12"/>
          <p:cNvSpPr/>
          <p:nvPr/>
        </p:nvSpPr>
        <p:spPr>
          <a:xfrm>
            <a:off x="6848856" y="1033272"/>
            <a:ext cx="192024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65100"/>
              </a:buClr>
              <a:buSzPts val="2400"/>
              <a:buFont typeface="Calibri"/>
              <a:buNone/>
            </a:pPr>
            <a:r>
              <a:rPr b="1" i="0" lang="en-US" sz="2400" u="none" cap="none" strike="noStrike">
                <a:solidFill>
                  <a:srgbClr val="E65100"/>
                </a:solidFill>
                <a:latin typeface="Calibri"/>
                <a:ea typeface="Calibri"/>
                <a:cs typeface="Calibri"/>
                <a:sym typeface="Calibri"/>
              </a:rPr>
              <a:t>15.4%</a:t>
            </a:r>
            <a:endParaRPr b="0" i="0" sz="2400" u="none" cap="none" strike="noStrike">
              <a:solidFill>
                <a:schemeClr val="dk1"/>
              </a:solidFill>
              <a:latin typeface="Calibri"/>
              <a:ea typeface="Calibri"/>
              <a:cs typeface="Calibri"/>
              <a:sym typeface="Calibri"/>
            </a:endParaRPr>
          </a:p>
        </p:txBody>
      </p:sp>
      <p:sp>
        <p:nvSpPr>
          <p:cNvPr id="400" name="Google Shape;400;p12"/>
          <p:cNvSpPr/>
          <p:nvPr/>
        </p:nvSpPr>
        <p:spPr>
          <a:xfrm>
            <a:off x="6848856" y="1481328"/>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MAPE</a:t>
            </a:r>
            <a:endParaRPr b="0" i="0" sz="1000" u="none" cap="none" strike="noStrike">
              <a:solidFill>
                <a:schemeClr val="dk1"/>
              </a:solidFill>
              <a:latin typeface="Calibri"/>
              <a:ea typeface="Calibri"/>
              <a:cs typeface="Calibri"/>
              <a:sym typeface="Calibri"/>
            </a:endParaRPr>
          </a:p>
        </p:txBody>
      </p:sp>
      <p:sp>
        <p:nvSpPr>
          <p:cNvPr id="401" name="Google Shape;401;p12"/>
          <p:cNvSpPr/>
          <p:nvPr/>
        </p:nvSpPr>
        <p:spPr>
          <a:xfrm>
            <a:off x="6848856" y="1682496"/>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Error porcentual medio</a:t>
            </a:r>
            <a:endParaRPr b="0" i="0" sz="800" u="none" cap="none" strike="noStrike">
              <a:solidFill>
                <a:schemeClr val="dk1"/>
              </a:solidFill>
              <a:latin typeface="Calibri"/>
              <a:ea typeface="Calibri"/>
              <a:cs typeface="Calibri"/>
              <a:sym typeface="Calibri"/>
            </a:endParaRPr>
          </a:p>
        </p:txBody>
      </p:sp>
      <p:sp>
        <p:nvSpPr>
          <p:cNvPr id="402" name="Google Shape;402;p12"/>
          <p:cNvSpPr/>
          <p:nvPr/>
        </p:nvSpPr>
        <p:spPr>
          <a:xfrm>
            <a:off x="320040" y="2057400"/>
            <a:ext cx="484632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E7D32"/>
              </a:buClr>
              <a:buSzPts val="1100"/>
              <a:buFont typeface="Calibri"/>
              <a:buNone/>
            </a:pPr>
            <a:r>
              <a:rPr b="1" i="0" lang="en-US" sz="1100" u="none" cap="none" strike="noStrike">
                <a:solidFill>
                  <a:srgbClr val="2E7D32"/>
                </a:solidFill>
                <a:latin typeface="Calibri"/>
                <a:ea typeface="Calibri"/>
                <a:cs typeface="Calibri"/>
                <a:sym typeface="Calibri"/>
              </a:rPr>
              <a:t>Real vs Predicho — Random Forest</a:t>
            </a:r>
            <a:endParaRPr b="0" i="0" sz="1100" u="none" cap="none" strike="noStrike">
              <a:solidFill>
                <a:schemeClr val="dk1"/>
              </a:solidFill>
              <a:latin typeface="Calibri"/>
              <a:ea typeface="Calibri"/>
              <a:cs typeface="Calibri"/>
              <a:sym typeface="Calibri"/>
            </a:endParaRPr>
          </a:p>
        </p:txBody>
      </p:sp>
      <p:sp>
        <p:nvSpPr>
          <p:cNvPr id="403" name="Google Shape;403;p12"/>
          <p:cNvSpPr/>
          <p:nvPr/>
        </p:nvSpPr>
        <p:spPr>
          <a:xfrm>
            <a:off x="5303520" y="2057400"/>
            <a:ext cx="352044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Validación Cruzada 5-Fold</a:t>
            </a:r>
            <a:endParaRPr b="0" i="0" sz="1100" u="none" cap="none" strike="noStrike">
              <a:solidFill>
                <a:schemeClr val="dk1"/>
              </a:solidFill>
              <a:latin typeface="Calibri"/>
              <a:ea typeface="Calibri"/>
              <a:cs typeface="Calibri"/>
              <a:sym typeface="Calibri"/>
            </a:endParaRPr>
          </a:p>
        </p:txBody>
      </p:sp>
      <p:sp>
        <p:nvSpPr>
          <p:cNvPr id="404" name="Google Shape;404;p12"/>
          <p:cNvSpPr/>
          <p:nvPr/>
        </p:nvSpPr>
        <p:spPr>
          <a:xfrm>
            <a:off x="5212080" y="4224528"/>
            <a:ext cx="3657600" cy="566928"/>
          </a:xfrm>
          <a:prstGeom prst="rect">
            <a:avLst/>
          </a:prstGeom>
          <a:solidFill>
            <a:srgbClr val="E8F5E9"/>
          </a:solidFill>
          <a:ln cap="flat" cmpd="sng" w="10150">
            <a:solidFill>
              <a:srgbClr val="2E7D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5" name="Google Shape;405;p12"/>
          <p:cNvSpPr/>
          <p:nvPr/>
        </p:nvSpPr>
        <p:spPr>
          <a:xfrm>
            <a:off x="5285232" y="4251960"/>
            <a:ext cx="3511296"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E7D32"/>
              </a:buClr>
              <a:buSzPts val="950"/>
              <a:buFont typeface="Calibri"/>
              <a:buNone/>
            </a:pPr>
            <a:r>
              <a:rPr b="1" i="0" lang="en-US" sz="950" u="none" cap="none" strike="noStrike">
                <a:solidFill>
                  <a:srgbClr val="2E7D32"/>
                </a:solidFill>
                <a:latin typeface="Calibri"/>
                <a:ea typeface="Calibri"/>
                <a:cs typeface="Calibri"/>
                <a:sym typeface="Calibri"/>
              </a:rPr>
              <a:t>R² promedio CV: 0.8234 ± 0.077  </a:t>
            </a:r>
            <a:r>
              <a:rPr b="0" i="0" lang="en-US" sz="950" u="none" cap="none" strike="noStrike">
                <a:solidFill>
                  <a:srgbClr val="333333"/>
                </a:solidFill>
                <a:latin typeface="Calibri"/>
                <a:ea typeface="Calibri"/>
                <a:cs typeface="Calibri"/>
                <a:sym typeface="Calibri"/>
              </a:rPr>
              <a:t>Sin overfitting: CV ≈ Test score (Δ=0.0311)</a:t>
            </a:r>
            <a:endParaRPr b="0" i="0" sz="950" u="none" cap="none" strike="noStrike">
              <a:solidFill>
                <a:schemeClr val="dk1"/>
              </a:solidFill>
              <a:latin typeface="Calibri"/>
              <a:ea typeface="Calibri"/>
              <a:cs typeface="Calibri"/>
              <a:sym typeface="Calibri"/>
            </a:endParaRPr>
          </a:p>
        </p:txBody>
      </p:sp>
      <p:sp>
        <p:nvSpPr>
          <p:cNvPr id="406" name="Google Shape;406;p12"/>
          <p:cNvSpPr/>
          <p:nvPr/>
        </p:nvSpPr>
        <p:spPr>
          <a:xfrm>
            <a:off x="320040" y="4828032"/>
            <a:ext cx="8503920" cy="246888"/>
          </a:xfrm>
          <a:prstGeom prst="rect">
            <a:avLst/>
          </a:prstGeom>
          <a:solidFill>
            <a:srgbClr val="E8F5E9"/>
          </a:solidFill>
          <a:ln cap="flat" cmpd="sng" w="10150">
            <a:solidFill>
              <a:srgbClr val="2E7D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7" name="Google Shape;407;p12"/>
          <p:cNvSpPr/>
          <p:nvPr/>
        </p:nvSpPr>
        <p:spPr>
          <a:xfrm>
            <a:off x="411480" y="4837176"/>
            <a:ext cx="832104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5E20"/>
              </a:buClr>
              <a:buSzPts val="900"/>
              <a:buFont typeface="Calibri"/>
              <a:buNone/>
            </a:pPr>
            <a:r>
              <a:rPr b="0" i="0" lang="en-US" sz="900" u="none" cap="none" strike="noStrike">
                <a:solidFill>
                  <a:srgbClr val="1B5E20"/>
                </a:solidFill>
                <a:latin typeface="Calibri"/>
                <a:ea typeface="Calibri"/>
                <a:cs typeface="Calibri"/>
                <a:sym typeface="Calibri"/>
              </a:rPr>
              <a:t>✅  Modelo estable, sin sobreajuste. Los puntos en el scatter están bien pegados a la línea perfecta, demostrando alta confiabilidad.</a:t>
            </a:r>
            <a:endParaRPr b="0" i="0" sz="900" u="none" cap="none" strike="noStrike">
              <a:solidFill>
                <a:schemeClr val="dk1"/>
              </a:solidFill>
              <a:latin typeface="Calibri"/>
              <a:ea typeface="Calibri"/>
              <a:cs typeface="Calibri"/>
              <a:sym typeface="Calibri"/>
            </a:endParaRPr>
          </a:p>
        </p:txBody>
      </p:sp>
      <p:sp>
        <p:nvSpPr>
          <p:cNvPr id="408" name="Google Shape;408;p12"/>
          <p:cNvSpPr/>
          <p:nvPr/>
        </p:nvSpPr>
        <p:spPr>
          <a:xfrm>
            <a:off x="0" y="777240"/>
            <a:ext cx="9144000" cy="54864"/>
          </a:xfrm>
          <a:prstGeom prst="rect">
            <a:avLst/>
          </a:prstGeom>
          <a:gradFill>
            <a:gsLst>
              <a:gs pos="0">
                <a:srgbClr val="6E6E6E"/>
              </a:gs>
              <a:gs pos="48000">
                <a:srgbClr val="A7A7A7"/>
              </a:gs>
              <a:gs pos="100000">
                <a:srgbClr val="C9C9C9"/>
              </a:gs>
            </a:gsLst>
            <a:lin ang="162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09" name="Google Shape;409;p12"/>
          <p:cNvPicPr preferRelativeResize="0"/>
          <p:nvPr/>
        </p:nvPicPr>
        <p:blipFill rotWithShape="1">
          <a:blip r:embed="rId3">
            <a:alphaModFix/>
          </a:blip>
          <a:srcRect b="0" l="0" r="0" t="0"/>
          <a:stretch/>
        </p:blipFill>
        <p:spPr>
          <a:xfrm>
            <a:off x="5162457" y="2294414"/>
            <a:ext cx="3858768" cy="1911826"/>
          </a:xfrm>
          <a:prstGeom prst="rect">
            <a:avLst/>
          </a:prstGeom>
          <a:noFill/>
          <a:ln>
            <a:noFill/>
          </a:ln>
        </p:spPr>
      </p:pic>
      <p:pic>
        <p:nvPicPr>
          <p:cNvPr id="410" name="Google Shape;410;p12"/>
          <p:cNvPicPr preferRelativeResize="0"/>
          <p:nvPr/>
        </p:nvPicPr>
        <p:blipFill rotWithShape="1">
          <a:blip r:embed="rId4">
            <a:alphaModFix/>
          </a:blip>
          <a:srcRect b="0" l="0" r="0" t="52622"/>
          <a:stretch/>
        </p:blipFill>
        <p:spPr>
          <a:xfrm>
            <a:off x="155008" y="2587752"/>
            <a:ext cx="4682608" cy="179679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BFF"/>
        </a:solidFill>
      </p:bgPr>
    </p:bg>
    <p:spTree>
      <p:nvGrpSpPr>
        <p:cNvPr id="415" name="Shape 415"/>
        <p:cNvGrpSpPr/>
        <p:nvPr/>
      </p:nvGrpSpPr>
      <p:grpSpPr>
        <a:xfrm>
          <a:off x="0" y="0"/>
          <a:ext cx="0" cy="0"/>
          <a:chOff x="0" y="0"/>
          <a:chExt cx="0" cy="0"/>
        </a:xfrm>
      </p:grpSpPr>
      <p:sp>
        <p:nvSpPr>
          <p:cNvPr id="416" name="Google Shape;416;p13"/>
          <p:cNvSpPr/>
          <p:nvPr/>
        </p:nvSpPr>
        <p:spPr>
          <a:xfrm>
            <a:off x="0" y="0"/>
            <a:ext cx="9144000" cy="777240"/>
          </a:xfrm>
          <a:prstGeom prst="rect">
            <a:avLst/>
          </a:prstGeom>
          <a:solidFill>
            <a:srgbClr val="0D1B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7" name="Google Shape;417;p13"/>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COMPARACIÓN: KNN vs RANDOM FOREST</a:t>
            </a:r>
            <a:endParaRPr b="0" i="0" sz="2200" u="none" cap="none" strike="noStrike">
              <a:solidFill>
                <a:schemeClr val="dk1"/>
              </a:solidFill>
              <a:latin typeface="Calibri"/>
              <a:ea typeface="Calibri"/>
              <a:cs typeface="Calibri"/>
              <a:sym typeface="Calibri"/>
            </a:endParaRPr>
          </a:p>
        </p:txBody>
      </p:sp>
      <p:sp>
        <p:nvSpPr>
          <p:cNvPr id="418" name="Google Shape;418;p13"/>
          <p:cNvSpPr/>
          <p:nvPr/>
        </p:nvSpPr>
        <p:spPr>
          <a:xfrm>
            <a:off x="0" y="777240"/>
            <a:ext cx="9144000" cy="54864"/>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9" name="Google Shape;419;p13"/>
          <p:cNvSpPr/>
          <p:nvPr/>
        </p:nvSpPr>
        <p:spPr>
          <a:xfrm>
            <a:off x="5486400" y="868680"/>
            <a:ext cx="3337560" cy="274320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0" name="Google Shape;420;p13"/>
          <p:cNvSpPr/>
          <p:nvPr/>
        </p:nvSpPr>
        <p:spPr>
          <a:xfrm>
            <a:off x="5486400" y="915924"/>
            <a:ext cx="3337560" cy="54864"/>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1" name="Google Shape;421;p13"/>
          <p:cNvSpPr/>
          <p:nvPr/>
        </p:nvSpPr>
        <p:spPr>
          <a:xfrm>
            <a:off x="5577840" y="1042416"/>
            <a:ext cx="31546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Mejoras de RF sobre KNN</a:t>
            </a:r>
            <a:endParaRPr b="0" i="0" sz="1100" u="none" cap="none" strike="noStrike">
              <a:solidFill>
                <a:schemeClr val="dk1"/>
              </a:solidFill>
              <a:latin typeface="Calibri"/>
              <a:ea typeface="Calibri"/>
              <a:cs typeface="Calibri"/>
              <a:sym typeface="Calibri"/>
            </a:endParaRPr>
          </a:p>
        </p:txBody>
      </p:sp>
      <p:sp>
        <p:nvSpPr>
          <p:cNvPr id="422" name="Google Shape;422;p13"/>
          <p:cNvSpPr/>
          <p:nvPr/>
        </p:nvSpPr>
        <p:spPr>
          <a:xfrm>
            <a:off x="5577840" y="1377696"/>
            <a:ext cx="3154680" cy="594360"/>
          </a:xfrm>
          <a:prstGeom prst="rect">
            <a:avLst/>
          </a:prstGeom>
          <a:solidFill>
            <a:srgbClr val="E3F0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3" name="Google Shape;423;p13"/>
          <p:cNvSpPr/>
          <p:nvPr/>
        </p:nvSpPr>
        <p:spPr>
          <a:xfrm>
            <a:off x="5623560" y="1453896"/>
            <a:ext cx="5486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300"/>
              <a:buFont typeface="Calibri"/>
              <a:buNone/>
            </a:pPr>
            <a:r>
              <a:rPr b="1" i="0" lang="en-US" sz="1300" u="none" cap="none" strike="noStrike">
                <a:solidFill>
                  <a:srgbClr val="0D1B4B"/>
                </a:solidFill>
                <a:latin typeface="Calibri"/>
                <a:ea typeface="Calibri"/>
                <a:cs typeface="Calibri"/>
                <a:sym typeface="Calibri"/>
              </a:rPr>
              <a:t>R²</a:t>
            </a:r>
            <a:endParaRPr b="0" i="0" sz="1300" u="none" cap="none" strike="noStrike">
              <a:solidFill>
                <a:schemeClr val="dk1"/>
              </a:solidFill>
              <a:latin typeface="Calibri"/>
              <a:ea typeface="Calibri"/>
              <a:cs typeface="Calibri"/>
              <a:sym typeface="Calibri"/>
            </a:endParaRPr>
          </a:p>
        </p:txBody>
      </p:sp>
      <p:sp>
        <p:nvSpPr>
          <p:cNvPr id="424" name="Google Shape;424;p13"/>
          <p:cNvSpPr/>
          <p:nvPr/>
        </p:nvSpPr>
        <p:spPr>
          <a:xfrm>
            <a:off x="6172200" y="1453896"/>
            <a:ext cx="10058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88888"/>
              </a:buClr>
              <a:buSzPts val="1000"/>
              <a:buFont typeface="Calibri"/>
              <a:buNone/>
            </a:pPr>
            <a:r>
              <a:rPr b="0" i="0" lang="en-US" sz="1000" u="none" cap="none" strike="noStrike">
                <a:solidFill>
                  <a:srgbClr val="888888"/>
                </a:solidFill>
                <a:latin typeface="Calibri"/>
                <a:ea typeface="Calibri"/>
                <a:cs typeface="Calibri"/>
                <a:sym typeface="Calibri"/>
              </a:rPr>
              <a:t>72.7%</a:t>
            </a:r>
            <a:endParaRPr b="0" i="0" sz="1000" u="none" cap="none" strike="noStrike">
              <a:solidFill>
                <a:schemeClr val="dk1"/>
              </a:solidFill>
              <a:latin typeface="Calibri"/>
              <a:ea typeface="Calibri"/>
              <a:cs typeface="Calibri"/>
              <a:sym typeface="Calibri"/>
            </a:endParaRPr>
          </a:p>
        </p:txBody>
      </p:sp>
      <p:sp>
        <p:nvSpPr>
          <p:cNvPr id="425" name="Google Shape;425;p13"/>
          <p:cNvSpPr/>
          <p:nvPr/>
        </p:nvSpPr>
        <p:spPr>
          <a:xfrm>
            <a:off x="6172200" y="1700784"/>
            <a:ext cx="10058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E7D32"/>
              </a:buClr>
              <a:buSzPts val="1000"/>
              <a:buFont typeface="Calibri"/>
              <a:buNone/>
            </a:pPr>
            <a:r>
              <a:rPr b="1" i="0" lang="en-US" sz="1000" u="none" cap="none" strike="noStrike">
                <a:solidFill>
                  <a:srgbClr val="2E7D32"/>
                </a:solidFill>
                <a:latin typeface="Calibri"/>
                <a:ea typeface="Calibri"/>
                <a:cs typeface="Calibri"/>
                <a:sym typeface="Calibri"/>
              </a:rPr>
              <a:t>→ 85,4%</a:t>
            </a:r>
            <a:endParaRPr b="0" i="0" sz="1000" u="none" cap="none" strike="noStrike">
              <a:solidFill>
                <a:schemeClr val="dk1"/>
              </a:solidFill>
              <a:latin typeface="Calibri"/>
              <a:ea typeface="Calibri"/>
              <a:cs typeface="Calibri"/>
              <a:sym typeface="Calibri"/>
            </a:endParaRPr>
          </a:p>
        </p:txBody>
      </p:sp>
      <p:sp>
        <p:nvSpPr>
          <p:cNvPr id="426" name="Google Shape;426;p13"/>
          <p:cNvSpPr/>
          <p:nvPr/>
        </p:nvSpPr>
        <p:spPr>
          <a:xfrm>
            <a:off x="7269480" y="1527048"/>
            <a:ext cx="868680" cy="365760"/>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7" name="Google Shape;427;p13"/>
          <p:cNvSpPr/>
          <p:nvPr/>
        </p:nvSpPr>
        <p:spPr>
          <a:xfrm>
            <a:off x="7269480" y="1517904"/>
            <a:ext cx="86868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+12,7pp</a:t>
            </a:r>
            <a:endParaRPr b="0" i="0" sz="1100" u="none" cap="none" strike="noStrike">
              <a:solidFill>
                <a:schemeClr val="dk1"/>
              </a:solidFill>
              <a:latin typeface="Calibri"/>
              <a:ea typeface="Calibri"/>
              <a:cs typeface="Calibri"/>
              <a:sym typeface="Calibri"/>
            </a:endParaRPr>
          </a:p>
        </p:txBody>
      </p:sp>
      <p:sp>
        <p:nvSpPr>
          <p:cNvPr id="428" name="Google Shape;428;p13"/>
          <p:cNvSpPr/>
          <p:nvPr/>
        </p:nvSpPr>
        <p:spPr>
          <a:xfrm>
            <a:off x="5577840" y="2112264"/>
            <a:ext cx="3154680" cy="594360"/>
          </a:xfrm>
          <a:prstGeom prst="rect">
            <a:avLst/>
          </a:prstGeom>
          <a:solidFill>
            <a:srgbClr val="E3F0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9" name="Google Shape;429;p13"/>
          <p:cNvSpPr/>
          <p:nvPr/>
        </p:nvSpPr>
        <p:spPr>
          <a:xfrm>
            <a:off x="5623560" y="2157984"/>
            <a:ext cx="5486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300"/>
              <a:buFont typeface="Calibri"/>
              <a:buNone/>
            </a:pPr>
            <a:r>
              <a:rPr b="1" i="0" lang="en-US" sz="1300" u="none" cap="none" strike="noStrike">
                <a:solidFill>
                  <a:srgbClr val="0D1B4B"/>
                </a:solidFill>
                <a:latin typeface="Calibri"/>
                <a:ea typeface="Calibri"/>
                <a:cs typeface="Calibri"/>
                <a:sym typeface="Calibri"/>
              </a:rPr>
              <a:t>MAE</a:t>
            </a:r>
            <a:endParaRPr b="0" i="0" sz="1300" u="none" cap="none" strike="noStrike">
              <a:solidFill>
                <a:schemeClr val="dk1"/>
              </a:solidFill>
              <a:latin typeface="Calibri"/>
              <a:ea typeface="Calibri"/>
              <a:cs typeface="Calibri"/>
              <a:sym typeface="Calibri"/>
            </a:endParaRPr>
          </a:p>
        </p:txBody>
      </p:sp>
      <p:sp>
        <p:nvSpPr>
          <p:cNvPr id="430" name="Google Shape;430;p13"/>
          <p:cNvSpPr/>
          <p:nvPr/>
        </p:nvSpPr>
        <p:spPr>
          <a:xfrm>
            <a:off x="6172200" y="2157984"/>
            <a:ext cx="10058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88888"/>
              </a:buClr>
              <a:buSzPts val="1000"/>
              <a:buFont typeface="Calibri"/>
              <a:buNone/>
            </a:pPr>
            <a:r>
              <a:rPr b="0" i="0" lang="en-US" sz="1000" u="none" cap="none" strike="noStrike">
                <a:solidFill>
                  <a:srgbClr val="888888"/>
                </a:solidFill>
                <a:latin typeface="Calibri"/>
                <a:ea typeface="Calibri"/>
                <a:cs typeface="Calibri"/>
                <a:sym typeface="Calibri"/>
              </a:rPr>
              <a:t>$97,158</a:t>
            </a:r>
            <a:endParaRPr b="0" i="0" sz="1000" u="none" cap="none" strike="noStrike">
              <a:solidFill>
                <a:schemeClr val="dk1"/>
              </a:solidFill>
              <a:latin typeface="Calibri"/>
              <a:ea typeface="Calibri"/>
              <a:cs typeface="Calibri"/>
              <a:sym typeface="Calibri"/>
            </a:endParaRPr>
          </a:p>
        </p:txBody>
      </p:sp>
      <p:sp>
        <p:nvSpPr>
          <p:cNvPr id="431" name="Google Shape;431;p13"/>
          <p:cNvSpPr/>
          <p:nvPr/>
        </p:nvSpPr>
        <p:spPr>
          <a:xfrm>
            <a:off x="6172200" y="2404872"/>
            <a:ext cx="10058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E7D32"/>
              </a:buClr>
              <a:buSzPts val="1000"/>
              <a:buFont typeface="Calibri"/>
              <a:buNone/>
            </a:pPr>
            <a:r>
              <a:rPr b="1" i="0" lang="en-US" sz="1000" u="none" cap="none" strike="noStrike">
                <a:solidFill>
                  <a:srgbClr val="2E7D32"/>
                </a:solidFill>
                <a:latin typeface="Calibri"/>
                <a:ea typeface="Calibri"/>
                <a:cs typeface="Calibri"/>
                <a:sym typeface="Calibri"/>
              </a:rPr>
              <a:t>→ $71,450</a:t>
            </a:r>
            <a:endParaRPr b="0" i="0" sz="1000" u="none" cap="none" strike="noStrike">
              <a:solidFill>
                <a:schemeClr val="dk1"/>
              </a:solidFill>
              <a:latin typeface="Calibri"/>
              <a:ea typeface="Calibri"/>
              <a:cs typeface="Calibri"/>
              <a:sym typeface="Calibri"/>
            </a:endParaRPr>
          </a:p>
        </p:txBody>
      </p:sp>
      <p:sp>
        <p:nvSpPr>
          <p:cNvPr id="432" name="Google Shape;432;p13"/>
          <p:cNvSpPr/>
          <p:nvPr/>
        </p:nvSpPr>
        <p:spPr>
          <a:xfrm>
            <a:off x="7269480" y="2221992"/>
            <a:ext cx="868680" cy="365760"/>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3" name="Google Shape;433;p13"/>
          <p:cNvSpPr/>
          <p:nvPr/>
        </p:nvSpPr>
        <p:spPr>
          <a:xfrm>
            <a:off x="7269480" y="2221992"/>
            <a:ext cx="86868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-26.5%</a:t>
            </a:r>
            <a:endParaRPr b="0" i="0" sz="1100" u="none" cap="none" strike="noStrike">
              <a:solidFill>
                <a:schemeClr val="dk1"/>
              </a:solidFill>
              <a:latin typeface="Calibri"/>
              <a:ea typeface="Calibri"/>
              <a:cs typeface="Calibri"/>
              <a:sym typeface="Calibri"/>
            </a:endParaRPr>
          </a:p>
        </p:txBody>
      </p:sp>
      <p:sp>
        <p:nvSpPr>
          <p:cNvPr id="434" name="Google Shape;434;p13"/>
          <p:cNvSpPr/>
          <p:nvPr/>
        </p:nvSpPr>
        <p:spPr>
          <a:xfrm>
            <a:off x="5577840" y="2807208"/>
            <a:ext cx="3154680" cy="594360"/>
          </a:xfrm>
          <a:prstGeom prst="rect">
            <a:avLst/>
          </a:prstGeom>
          <a:solidFill>
            <a:srgbClr val="E3F0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5" name="Google Shape;435;p13"/>
          <p:cNvSpPr/>
          <p:nvPr/>
        </p:nvSpPr>
        <p:spPr>
          <a:xfrm>
            <a:off x="5623560" y="2852928"/>
            <a:ext cx="5486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300"/>
              <a:buFont typeface="Calibri"/>
              <a:buNone/>
            </a:pPr>
            <a:r>
              <a:rPr b="1" i="0" lang="en-US" sz="1300" u="none" cap="none" strike="noStrike">
                <a:solidFill>
                  <a:srgbClr val="0D1B4B"/>
                </a:solidFill>
                <a:latin typeface="Calibri"/>
                <a:ea typeface="Calibri"/>
                <a:cs typeface="Calibri"/>
                <a:sym typeface="Calibri"/>
              </a:rPr>
              <a:t>RMSE</a:t>
            </a:r>
            <a:endParaRPr b="0" i="0" sz="1300" u="none" cap="none" strike="noStrike">
              <a:solidFill>
                <a:schemeClr val="dk1"/>
              </a:solidFill>
              <a:latin typeface="Calibri"/>
              <a:ea typeface="Calibri"/>
              <a:cs typeface="Calibri"/>
              <a:sym typeface="Calibri"/>
            </a:endParaRPr>
          </a:p>
        </p:txBody>
      </p:sp>
      <p:sp>
        <p:nvSpPr>
          <p:cNvPr id="436" name="Google Shape;436;p13"/>
          <p:cNvSpPr/>
          <p:nvPr/>
        </p:nvSpPr>
        <p:spPr>
          <a:xfrm>
            <a:off x="6172200" y="2852928"/>
            <a:ext cx="10058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88888"/>
              </a:buClr>
              <a:buSzPts val="1000"/>
              <a:buFont typeface="Calibri"/>
              <a:buNone/>
            </a:pPr>
            <a:r>
              <a:rPr b="0" i="0" lang="en-US" sz="1000" u="none" cap="none" strike="noStrike">
                <a:solidFill>
                  <a:srgbClr val="888888"/>
                </a:solidFill>
                <a:latin typeface="Calibri"/>
                <a:ea typeface="Calibri"/>
                <a:cs typeface="Calibri"/>
                <a:sym typeface="Calibri"/>
              </a:rPr>
              <a:t>$135,917</a:t>
            </a:r>
            <a:endParaRPr b="0" i="0" sz="1000" u="none" cap="none" strike="noStrike">
              <a:solidFill>
                <a:schemeClr val="dk1"/>
              </a:solidFill>
              <a:latin typeface="Calibri"/>
              <a:ea typeface="Calibri"/>
              <a:cs typeface="Calibri"/>
              <a:sym typeface="Calibri"/>
            </a:endParaRPr>
          </a:p>
        </p:txBody>
      </p:sp>
      <p:sp>
        <p:nvSpPr>
          <p:cNvPr id="437" name="Google Shape;437;p13"/>
          <p:cNvSpPr/>
          <p:nvPr/>
        </p:nvSpPr>
        <p:spPr>
          <a:xfrm>
            <a:off x="6172200" y="3099816"/>
            <a:ext cx="10058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E7D32"/>
              </a:buClr>
              <a:buSzPts val="1000"/>
              <a:buFont typeface="Calibri"/>
              <a:buNone/>
            </a:pPr>
            <a:r>
              <a:rPr b="1" i="0" lang="en-US" sz="1000" u="none" cap="none" strike="noStrike">
                <a:solidFill>
                  <a:srgbClr val="2E7D32"/>
                </a:solidFill>
                <a:latin typeface="Calibri"/>
                <a:ea typeface="Calibri"/>
                <a:cs typeface="Calibri"/>
                <a:sym typeface="Calibri"/>
              </a:rPr>
              <a:t>→ $99,264</a:t>
            </a:r>
            <a:endParaRPr b="0" i="0" sz="1400" u="none" cap="none" strike="noStrike">
              <a:solidFill>
                <a:srgbClr val="000000"/>
              </a:solidFill>
              <a:latin typeface="Arial"/>
              <a:ea typeface="Arial"/>
              <a:cs typeface="Arial"/>
              <a:sym typeface="Arial"/>
            </a:endParaRPr>
          </a:p>
        </p:txBody>
      </p:sp>
      <p:sp>
        <p:nvSpPr>
          <p:cNvPr id="438" name="Google Shape;438;p13"/>
          <p:cNvSpPr/>
          <p:nvPr/>
        </p:nvSpPr>
        <p:spPr>
          <a:xfrm>
            <a:off x="7269480" y="2916936"/>
            <a:ext cx="868680" cy="365760"/>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9" name="Google Shape;439;p13"/>
          <p:cNvSpPr/>
          <p:nvPr/>
        </p:nvSpPr>
        <p:spPr>
          <a:xfrm>
            <a:off x="7269480" y="2916936"/>
            <a:ext cx="86868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-27.0%</a:t>
            </a:r>
            <a:endParaRPr b="0" i="0" sz="1100" u="none" cap="none" strike="noStrike">
              <a:solidFill>
                <a:schemeClr val="dk1"/>
              </a:solidFill>
              <a:latin typeface="Calibri"/>
              <a:ea typeface="Calibri"/>
              <a:cs typeface="Calibri"/>
              <a:sym typeface="Calibri"/>
            </a:endParaRPr>
          </a:p>
        </p:txBody>
      </p:sp>
      <p:sp>
        <p:nvSpPr>
          <p:cNvPr id="440" name="Google Shape;440;p13"/>
          <p:cNvSpPr/>
          <p:nvPr/>
        </p:nvSpPr>
        <p:spPr>
          <a:xfrm>
            <a:off x="0" y="2925009"/>
            <a:ext cx="54864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Tabla Comparativa Completa</a:t>
            </a:r>
            <a:endParaRPr b="0" i="0" sz="1100" u="none" cap="none" strike="noStrike">
              <a:solidFill>
                <a:schemeClr val="dk1"/>
              </a:solidFill>
              <a:latin typeface="Calibri"/>
              <a:ea typeface="Calibri"/>
              <a:cs typeface="Calibri"/>
              <a:sym typeface="Calibri"/>
            </a:endParaRPr>
          </a:p>
        </p:txBody>
      </p:sp>
      <p:graphicFrame>
        <p:nvGraphicFramePr>
          <p:cNvPr id="441" name="Google Shape;441;p13"/>
          <p:cNvGraphicFramePr/>
          <p:nvPr/>
        </p:nvGraphicFramePr>
        <p:xfrm>
          <a:off x="198120" y="3190208"/>
          <a:ext cx="3000000" cy="3000000"/>
        </p:xfrm>
        <a:graphic>
          <a:graphicData uri="http://schemas.openxmlformats.org/drawingml/2006/table">
            <a:tbl>
              <a:tblPr>
                <a:noFill/>
                <a:tableStyleId>{0178349A-1E27-4C60-9EF7-89A4807CF259}</a:tableStyleId>
              </a:tblPr>
              <a:tblGrid>
                <a:gridCol w="1234450"/>
                <a:gridCol w="1508750"/>
                <a:gridCol w="1874525"/>
              </a:tblGrid>
              <a:tr h="152400">
                <a:tc>
                  <a:txBody>
                    <a:bodyPr/>
                    <a:lstStyle/>
                    <a:p>
                      <a:pPr indent="0" lvl="0" marL="0" marR="0" rtl="0" algn="l">
                        <a:lnSpc>
                          <a:spcPct val="100000"/>
                        </a:lnSpc>
                        <a:spcBef>
                          <a:spcPts val="0"/>
                        </a:spcBef>
                        <a:spcAft>
                          <a:spcPts val="0"/>
                        </a:spcAft>
                        <a:buClr>
                          <a:srgbClr val="FFFFFF"/>
                        </a:buClr>
                        <a:buSzPts val="1200"/>
                        <a:buFont typeface="Calibri"/>
                        <a:buNone/>
                      </a:pPr>
                      <a:r>
                        <a:rPr b="1" lang="en-US" sz="1200" u="none" cap="none" strike="noStrike">
                          <a:solidFill>
                            <a:srgbClr val="FFFFFF"/>
                          </a:solidFill>
                        </a:rPr>
                        <a:t>Métrica</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0D1B4B"/>
                    </a:solidFill>
                  </a:tcPr>
                </a:tc>
                <a:tc>
                  <a:txBody>
                    <a:bodyPr/>
                    <a:lstStyle/>
                    <a:p>
                      <a:pPr indent="0" lvl="0" marL="0" marR="0" rtl="0" algn="l">
                        <a:lnSpc>
                          <a:spcPct val="100000"/>
                        </a:lnSpc>
                        <a:spcBef>
                          <a:spcPts val="0"/>
                        </a:spcBef>
                        <a:spcAft>
                          <a:spcPts val="0"/>
                        </a:spcAft>
                        <a:buClr>
                          <a:srgbClr val="FFFFFF"/>
                        </a:buClr>
                        <a:buSzPts val="1200"/>
                        <a:buFont typeface="Calibri"/>
                        <a:buNone/>
                      </a:pPr>
                      <a:r>
                        <a:rPr b="1" lang="en-US" sz="1200" u="none" cap="none" strike="noStrike">
                          <a:solidFill>
                            <a:srgbClr val="FFFFFF"/>
                          </a:solidFill>
                        </a:rPr>
                        <a:t>KNN (K=11)</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1976D2"/>
                    </a:solidFill>
                  </a:tcPr>
                </a:tc>
                <a:tc>
                  <a:txBody>
                    <a:bodyPr/>
                    <a:lstStyle/>
                    <a:p>
                      <a:pPr indent="0" lvl="0" marL="0" marR="0" rtl="0" algn="l">
                        <a:lnSpc>
                          <a:spcPct val="100000"/>
                        </a:lnSpc>
                        <a:spcBef>
                          <a:spcPts val="0"/>
                        </a:spcBef>
                        <a:spcAft>
                          <a:spcPts val="0"/>
                        </a:spcAft>
                        <a:buClr>
                          <a:srgbClr val="FFFFFF"/>
                        </a:buClr>
                        <a:buSzPts val="1200"/>
                        <a:buFont typeface="Calibri"/>
                        <a:buNone/>
                      </a:pPr>
                      <a:r>
                        <a:rPr b="1" lang="en-US" sz="1200" u="none" cap="none" strike="noStrike">
                          <a:solidFill>
                            <a:srgbClr val="FFFFFF"/>
                          </a:solidFill>
                        </a:rPr>
                        <a:t>Random Forest</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E7D32"/>
                    </a:solidFill>
                  </a:tcPr>
                </a:tc>
              </a:tr>
              <a:tr h="152400">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R² (Precisión)</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0.7272 (72.7%)</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0.8543 (85.4%)</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152400">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MAE</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$97,158</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$71,450</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152400">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RMSE</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$135</a:t>
                      </a:r>
                      <a:r>
                        <a:rPr lang="en-US" sz="1200" u="none" cap="none" strike="noStrike"/>
                        <a:t>.917</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$99,264</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152400">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Error Medio</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$18,714</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a:t>
                      </a:r>
                      <a:r>
                        <a:rPr lang="en-US" sz="1200" u="none" cap="none" strike="noStrike"/>
                        <a:t>$1</a:t>
                      </a:r>
                      <a:r>
                        <a:rPr lang="en-US" sz="1200" u="none" cap="none" strike="noStrike">
                          <a:solidFill>
                            <a:srgbClr val="000000"/>
                          </a:solidFill>
                        </a:rPr>
                        <a:t>,646</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152400">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Desv. Error</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$134,717</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$99,321</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bl>
          </a:graphicData>
        </a:graphic>
      </p:graphicFrame>
      <p:sp>
        <p:nvSpPr>
          <p:cNvPr id="442" name="Google Shape;442;p13"/>
          <p:cNvSpPr/>
          <p:nvPr/>
        </p:nvSpPr>
        <p:spPr>
          <a:xfrm>
            <a:off x="5212080" y="4224528"/>
            <a:ext cx="3657600" cy="566928"/>
          </a:xfrm>
          <a:prstGeom prst="rect">
            <a:avLst/>
          </a:prstGeom>
          <a:solidFill>
            <a:srgbClr val="E8F5E9"/>
          </a:solidFill>
          <a:ln cap="flat" cmpd="sng" w="10150">
            <a:solidFill>
              <a:srgbClr val="2E7D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548135"/>
                </a:solidFill>
                <a:latin typeface="Calibri"/>
                <a:ea typeface="Calibri"/>
                <a:cs typeface="Calibri"/>
                <a:sym typeface="Calibri"/>
              </a:rPr>
              <a:t>■ Random Forest tiene errores más consistentes (menor desviación)</a:t>
            </a:r>
            <a:endParaRPr b="1" i="0" sz="1400" u="none" cap="none" strike="noStrike">
              <a:solidFill>
                <a:srgbClr val="548135"/>
              </a:solidFill>
              <a:latin typeface="Calibri"/>
              <a:ea typeface="Calibri"/>
              <a:cs typeface="Calibri"/>
              <a:sym typeface="Calibri"/>
            </a:endParaRPr>
          </a:p>
        </p:txBody>
      </p:sp>
      <p:sp>
        <p:nvSpPr>
          <p:cNvPr id="443" name="Google Shape;443;p13"/>
          <p:cNvSpPr/>
          <p:nvPr/>
        </p:nvSpPr>
        <p:spPr>
          <a:xfrm>
            <a:off x="8364325" y="4923225"/>
            <a:ext cx="779700" cy="171000"/>
          </a:xfrm>
          <a:prstGeom prst="rect">
            <a:avLst/>
          </a:prstGeom>
          <a:solidFill>
            <a:srgbClr val="F8FB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44" name="Google Shape;444;p13"/>
          <p:cNvPicPr preferRelativeResize="0"/>
          <p:nvPr/>
        </p:nvPicPr>
        <p:blipFill rotWithShape="1">
          <a:blip r:embed="rId3">
            <a:alphaModFix/>
          </a:blip>
          <a:srcRect b="0" l="0" r="0" t="0"/>
          <a:stretch/>
        </p:blipFill>
        <p:spPr>
          <a:xfrm>
            <a:off x="76201" y="943356"/>
            <a:ext cx="5227319" cy="169419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22"/>
          <p:cNvSpPr/>
          <p:nvPr/>
        </p:nvSpPr>
        <p:spPr>
          <a:xfrm>
            <a:off x="0" y="0"/>
            <a:ext cx="9144000" cy="777240"/>
          </a:xfrm>
          <a:prstGeom prst="rect">
            <a:avLst/>
          </a:prstGeom>
          <a:solidFill>
            <a:srgbClr val="0D1B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1" name="Google Shape;451;p22"/>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FFFFFF"/>
                </a:solidFill>
                <a:latin typeface="Calibri"/>
                <a:ea typeface="Calibri"/>
                <a:cs typeface="Calibri"/>
                <a:sym typeface="Calibri"/>
              </a:rPr>
              <a:t>CONCLUSIONES FINALES</a:t>
            </a:r>
            <a:endParaRPr b="0" i="0" sz="1400" u="none" cap="none" strike="noStrike">
              <a:solidFill>
                <a:srgbClr val="000000"/>
              </a:solidFill>
              <a:latin typeface="Arial"/>
              <a:ea typeface="Arial"/>
              <a:cs typeface="Arial"/>
              <a:sym typeface="Arial"/>
            </a:endParaRPr>
          </a:p>
        </p:txBody>
      </p:sp>
      <p:sp>
        <p:nvSpPr>
          <p:cNvPr id="452" name="Google Shape;452;p22"/>
          <p:cNvSpPr/>
          <p:nvPr/>
        </p:nvSpPr>
        <p:spPr>
          <a:xfrm>
            <a:off x="274320" y="914400"/>
            <a:ext cx="4116960" cy="1143000"/>
          </a:xfrm>
          <a:prstGeom prst="rect">
            <a:avLst/>
          </a:prstGeom>
          <a:solidFill>
            <a:srgbClr val="FFFFFF"/>
          </a:solidFill>
          <a:ln cap="flat" cmpd="sng" w="9525">
            <a:solidFill>
              <a:srgbClr val="E0E8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3" name="Google Shape;453;p22"/>
          <p:cNvSpPr/>
          <p:nvPr/>
        </p:nvSpPr>
        <p:spPr>
          <a:xfrm>
            <a:off x="274320" y="914400"/>
            <a:ext cx="54864" cy="1143000"/>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4" name="Google Shape;454;p22"/>
          <p:cNvSpPr/>
          <p:nvPr/>
        </p:nvSpPr>
        <p:spPr>
          <a:xfrm>
            <a:off x="365760" y="957600"/>
            <a:ext cx="3962400" cy="1066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D1B4B"/>
                </a:solidFill>
                <a:latin typeface="Calibri"/>
                <a:ea typeface="Calibri"/>
                <a:cs typeface="Calibri"/>
                <a:sym typeface="Calibri"/>
              </a:rPr>
              <a:t>✅  Random Forest es el mejor modelo</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300"/>
              </a:spcBef>
              <a:spcAft>
                <a:spcPts val="0"/>
              </a:spcAft>
              <a:buClr>
                <a:srgbClr val="000000"/>
              </a:buClr>
              <a:buSzPts val="1050"/>
              <a:buFont typeface="Arial"/>
              <a:buNone/>
            </a:pPr>
            <a:r>
              <a:rPr b="0" i="0" lang="en-US" sz="1050" u="none" cap="none" strike="noStrike">
                <a:solidFill>
                  <a:srgbClr val="3A5070"/>
                </a:solidFill>
                <a:latin typeface="Calibri"/>
                <a:ea typeface="Calibri"/>
                <a:cs typeface="Calibri"/>
                <a:sym typeface="Calibri"/>
              </a:rPr>
              <a:t>R²=85.4% supera ampliamente a KNN (72.7%). Su capacidad de capturar relaciones no lineales y ponderar variables lo hacen ideal para datos de negocio heterogéneos.</a:t>
            </a:r>
            <a:endParaRPr b="0" i="0" sz="1400" u="none" cap="none" strike="noStrike">
              <a:solidFill>
                <a:srgbClr val="000000"/>
              </a:solidFill>
              <a:latin typeface="Arial"/>
              <a:ea typeface="Arial"/>
              <a:cs typeface="Arial"/>
              <a:sym typeface="Arial"/>
            </a:endParaRPr>
          </a:p>
        </p:txBody>
      </p:sp>
      <p:sp>
        <p:nvSpPr>
          <p:cNvPr id="455" name="Google Shape;455;p22"/>
          <p:cNvSpPr/>
          <p:nvPr/>
        </p:nvSpPr>
        <p:spPr>
          <a:xfrm>
            <a:off x="274320" y="2133600"/>
            <a:ext cx="4116960" cy="1295400"/>
          </a:xfrm>
          <a:prstGeom prst="rect">
            <a:avLst/>
          </a:prstGeom>
          <a:solidFill>
            <a:srgbClr val="FFFFFF"/>
          </a:solidFill>
          <a:ln cap="flat" cmpd="sng" w="9525">
            <a:solidFill>
              <a:srgbClr val="E0E8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6" name="Google Shape;456;p22"/>
          <p:cNvSpPr/>
          <p:nvPr/>
        </p:nvSpPr>
        <p:spPr>
          <a:xfrm>
            <a:off x="274320" y="2133600"/>
            <a:ext cx="54864" cy="1295400"/>
          </a:xfrm>
          <a:prstGeom prst="rect">
            <a:avLst/>
          </a:prstGeom>
          <a:solidFill>
            <a:srgbClr val="1976D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7" name="Google Shape;457;p22"/>
          <p:cNvSpPr/>
          <p:nvPr/>
        </p:nvSpPr>
        <p:spPr>
          <a:xfrm>
            <a:off x="434230" y="2476501"/>
            <a:ext cx="3962400"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D1B4B"/>
                </a:solidFill>
                <a:latin typeface="Calibri"/>
                <a:ea typeface="Calibri"/>
                <a:cs typeface="Calibri"/>
                <a:sym typeface="Calibri"/>
              </a:rPr>
              <a:t>📊  Marketing es el driver #1 de ventas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300"/>
              </a:spcBef>
              <a:spcAft>
                <a:spcPts val="0"/>
              </a:spcAft>
              <a:buClr>
                <a:srgbClr val="000000"/>
              </a:buClr>
              <a:buSzPts val="1050"/>
              <a:buFont typeface="Arial"/>
              <a:buNone/>
            </a:pPr>
            <a:r>
              <a:rPr b="0" i="0" lang="en-US" sz="1050" u="none" cap="none" strike="noStrike">
                <a:solidFill>
                  <a:srgbClr val="3A5070"/>
                </a:solidFill>
                <a:latin typeface="Calibri"/>
                <a:ea typeface="Calibri"/>
                <a:cs typeface="Calibri"/>
                <a:sym typeface="Calibri"/>
              </a:rPr>
              <a:t>Importancia del 64.4% en el modelo. </a:t>
            </a:r>
            <a:endParaRPr b="0" i="0" sz="1400" u="none" cap="none" strike="noStrike">
              <a:solidFill>
                <a:srgbClr val="000000"/>
              </a:solidFill>
              <a:latin typeface="Arial"/>
              <a:ea typeface="Arial"/>
              <a:cs typeface="Arial"/>
              <a:sym typeface="Arial"/>
            </a:endParaRPr>
          </a:p>
        </p:txBody>
      </p:sp>
      <p:sp>
        <p:nvSpPr>
          <p:cNvPr id="458" name="Google Shape;458;p22"/>
          <p:cNvSpPr/>
          <p:nvPr/>
        </p:nvSpPr>
        <p:spPr>
          <a:xfrm>
            <a:off x="274320" y="3505200"/>
            <a:ext cx="4116960" cy="1143000"/>
          </a:xfrm>
          <a:prstGeom prst="rect">
            <a:avLst/>
          </a:prstGeom>
          <a:solidFill>
            <a:srgbClr val="FFFFFF"/>
          </a:solidFill>
          <a:ln cap="flat" cmpd="sng" w="9525">
            <a:solidFill>
              <a:srgbClr val="E0E8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9" name="Google Shape;459;p22"/>
          <p:cNvSpPr/>
          <p:nvPr/>
        </p:nvSpPr>
        <p:spPr>
          <a:xfrm>
            <a:off x="274320" y="3505200"/>
            <a:ext cx="54864" cy="1143000"/>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0" name="Google Shape;460;p22"/>
          <p:cNvSpPr/>
          <p:nvPr/>
        </p:nvSpPr>
        <p:spPr>
          <a:xfrm>
            <a:off x="365760" y="3548400"/>
            <a:ext cx="3962400" cy="1066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D1B4B"/>
                </a:solidFill>
                <a:latin typeface="Calibri"/>
                <a:ea typeface="Calibri"/>
                <a:cs typeface="Calibri"/>
                <a:sym typeface="Calibri"/>
              </a:rPr>
              <a:t>📍  Ubicación y rubro condicionan el techo de ingresos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300"/>
              </a:spcBef>
              <a:spcAft>
                <a:spcPts val="0"/>
              </a:spcAft>
              <a:buClr>
                <a:srgbClr val="000000"/>
              </a:buClr>
              <a:buSzPts val="1050"/>
              <a:buFont typeface="Arial"/>
              <a:buNone/>
            </a:pPr>
            <a:r>
              <a:rPr b="0" i="0" lang="en-US" sz="1050" u="none" cap="none" strike="noStrike">
                <a:solidFill>
                  <a:srgbClr val="3A5070"/>
                </a:solidFill>
                <a:latin typeface="Calibri"/>
                <a:ea typeface="Calibri"/>
                <a:cs typeface="Calibri"/>
                <a:sym typeface="Calibri"/>
              </a:rPr>
              <a:t>Locales en esquina venden 14.3% más. El tipo de ubicación impacta hasta +74%. A igual esfuerzo, el contexto determina el resultado.</a:t>
            </a:r>
            <a:endParaRPr b="0" i="0" sz="1400" u="none" cap="none" strike="noStrike">
              <a:solidFill>
                <a:srgbClr val="000000"/>
              </a:solidFill>
              <a:latin typeface="Arial"/>
              <a:ea typeface="Arial"/>
              <a:cs typeface="Arial"/>
              <a:sym typeface="Arial"/>
            </a:endParaRPr>
          </a:p>
        </p:txBody>
      </p:sp>
      <p:sp>
        <p:nvSpPr>
          <p:cNvPr id="461" name="Google Shape;461;p22"/>
          <p:cNvSpPr/>
          <p:nvPr/>
        </p:nvSpPr>
        <p:spPr>
          <a:xfrm>
            <a:off x="4754400" y="914400"/>
            <a:ext cx="4115520" cy="33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D1B4B"/>
                </a:solidFill>
                <a:latin typeface="Calibri"/>
                <a:ea typeface="Calibri"/>
                <a:cs typeface="Calibri"/>
                <a:sym typeface="Calibri"/>
              </a:rPr>
              <a:t>💬  Respaldo Académico</a:t>
            </a:r>
            <a:endParaRPr b="0" i="0" sz="1400" u="none" cap="none" strike="noStrike">
              <a:solidFill>
                <a:srgbClr val="000000"/>
              </a:solidFill>
              <a:latin typeface="Arial"/>
              <a:ea typeface="Arial"/>
              <a:cs typeface="Arial"/>
              <a:sym typeface="Arial"/>
            </a:endParaRPr>
          </a:p>
        </p:txBody>
      </p:sp>
      <p:sp>
        <p:nvSpPr>
          <p:cNvPr id="462" name="Google Shape;462;p22"/>
          <p:cNvSpPr/>
          <p:nvPr/>
        </p:nvSpPr>
        <p:spPr>
          <a:xfrm>
            <a:off x="4752722" y="2253000"/>
            <a:ext cx="4115520" cy="1143000"/>
          </a:xfrm>
          <a:prstGeom prst="rect">
            <a:avLst/>
          </a:prstGeom>
          <a:solidFill>
            <a:srgbClr val="EEF4FF"/>
          </a:solidFill>
          <a:ln cap="flat" cmpd="sng" w="9525">
            <a:solidFill>
              <a:srgbClr val="C8D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3" name="Google Shape;463;p22"/>
          <p:cNvSpPr/>
          <p:nvPr/>
        </p:nvSpPr>
        <p:spPr>
          <a:xfrm>
            <a:off x="4846701" y="2324100"/>
            <a:ext cx="365760" cy="457200"/>
          </a:xfrm>
          <a:prstGeom prst="rect">
            <a:avLst/>
          </a:prstGeom>
          <a:noFill/>
          <a:ln>
            <a:noFill/>
          </a:ln>
        </p:spPr>
        <p:txBody>
          <a:bodyPr anchorCtr="0" anchor="t" bIns="0" lIns="91425" spcFirstLastPara="1" rIns="0" wrap="square" tIns="4570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1976D2"/>
                </a:solidFill>
                <a:latin typeface="Georgia"/>
                <a:ea typeface="Georgia"/>
                <a:cs typeface="Georgia"/>
                <a:sym typeface="Georgia"/>
              </a:rPr>
              <a:t>“</a:t>
            </a:r>
            <a:endParaRPr b="0" i="0" sz="1400" u="none" cap="none" strike="noStrike">
              <a:solidFill>
                <a:srgbClr val="000000"/>
              </a:solidFill>
              <a:latin typeface="Arial"/>
              <a:ea typeface="Arial"/>
              <a:cs typeface="Arial"/>
              <a:sym typeface="Arial"/>
            </a:endParaRPr>
          </a:p>
        </p:txBody>
      </p:sp>
      <p:sp>
        <p:nvSpPr>
          <p:cNvPr id="464" name="Google Shape;464;p22"/>
          <p:cNvSpPr/>
          <p:nvPr/>
        </p:nvSpPr>
        <p:spPr>
          <a:xfrm>
            <a:off x="5393182" y="2381575"/>
            <a:ext cx="3612000" cy="965200"/>
          </a:xfrm>
          <a:prstGeom prst="rect">
            <a:avLst/>
          </a:prstGeom>
          <a:noFill/>
          <a:ln>
            <a:noFill/>
          </a:ln>
        </p:spPr>
        <p:txBody>
          <a:bodyPr anchorCtr="0" anchor="t" bIns="45700" lIns="0" spcFirstLastPara="1" rIns="91425" wrap="square" tIns="0">
            <a:noAutofit/>
          </a:bodyPr>
          <a:lstStyle/>
          <a:p>
            <a:pPr indent="0" lvl="0" marL="0" marR="0" rtl="0" algn="l">
              <a:lnSpc>
                <a:spcPct val="120000"/>
              </a:lnSpc>
              <a:spcBef>
                <a:spcPts val="0"/>
              </a:spcBef>
              <a:spcAft>
                <a:spcPts val="0"/>
              </a:spcAft>
              <a:buClr>
                <a:srgbClr val="000000"/>
              </a:buClr>
              <a:buSzPts val="1050"/>
              <a:buFont typeface="Arial"/>
              <a:buNone/>
            </a:pPr>
            <a:r>
              <a:rPr b="0" i="1" lang="en-US" sz="1050" u="none" cap="none" strike="noStrike">
                <a:solidFill>
                  <a:srgbClr val="1A3A6E"/>
                </a:solidFill>
                <a:latin typeface="Georgia"/>
                <a:ea typeface="Georgia"/>
                <a:cs typeface="Georgia"/>
                <a:sym typeface="Georgia"/>
              </a:rPr>
              <a:t>“El marketing no es el arte de encontrar formas ingeniosas de deshacerse de lo que produces; es el arte de crear valor genuino”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50"/>
              </a:spcBef>
              <a:spcAft>
                <a:spcPts val="0"/>
              </a:spcAft>
              <a:buClr>
                <a:srgbClr val="000000"/>
              </a:buClr>
              <a:buSzPts val="900"/>
              <a:buFont typeface="Arial"/>
              <a:buNone/>
            </a:pPr>
            <a:r>
              <a:rPr b="1" i="0" lang="en-US" sz="900" u="none" cap="none" strike="noStrike">
                <a:solidFill>
                  <a:srgbClr val="1976D2"/>
                </a:solidFill>
                <a:latin typeface="Calibri"/>
                <a:ea typeface="Calibri"/>
                <a:cs typeface="Calibri"/>
                <a:sym typeface="Calibri"/>
              </a:rPr>
              <a:t>— Kotler, 2000 </a:t>
            </a:r>
            <a:r>
              <a:rPr b="0" i="0" lang="en-US" sz="900" u="none" cap="none" strike="noStrike">
                <a:solidFill>
                  <a:srgbClr val="7090B0"/>
                </a:solidFill>
                <a:latin typeface="Calibri"/>
                <a:ea typeface="Calibri"/>
                <a:cs typeface="Calibri"/>
                <a:sym typeface="Calibri"/>
              </a:rPr>
              <a:t>  | Padre del marketing moderno</a:t>
            </a:r>
            <a:endParaRPr b="0" i="0" sz="1400" u="none" cap="none" strike="noStrike">
              <a:solidFill>
                <a:srgbClr val="000000"/>
              </a:solidFill>
              <a:latin typeface="Arial"/>
              <a:ea typeface="Arial"/>
              <a:cs typeface="Arial"/>
              <a:sym typeface="Arial"/>
            </a:endParaRPr>
          </a:p>
        </p:txBody>
      </p:sp>
      <p:grpSp>
        <p:nvGrpSpPr>
          <p:cNvPr id="465" name="Google Shape;465;p22"/>
          <p:cNvGrpSpPr/>
          <p:nvPr/>
        </p:nvGrpSpPr>
        <p:grpSpPr>
          <a:xfrm>
            <a:off x="4752722" y="1219350"/>
            <a:ext cx="4115520" cy="913800"/>
            <a:chOff x="4754400" y="3734400"/>
            <a:chExt cx="4115520" cy="913800"/>
          </a:xfrm>
        </p:grpSpPr>
        <p:sp>
          <p:nvSpPr>
            <p:cNvPr id="466" name="Google Shape;466;p22"/>
            <p:cNvSpPr/>
            <p:nvPr/>
          </p:nvSpPr>
          <p:spPr>
            <a:xfrm>
              <a:off x="4754400" y="3734400"/>
              <a:ext cx="4115520" cy="913800"/>
            </a:xfrm>
            <a:prstGeom prst="rect">
              <a:avLst/>
            </a:prstGeom>
            <a:solidFill>
              <a:srgbClr val="F1F8F1"/>
            </a:solidFill>
            <a:ln cap="flat" cmpd="sng" w="9525">
              <a:solidFill>
                <a:srgbClr val="A5D6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7" name="Google Shape;467;p22"/>
            <p:cNvSpPr/>
            <p:nvPr/>
          </p:nvSpPr>
          <p:spPr>
            <a:xfrm>
              <a:off x="4800960" y="3734400"/>
              <a:ext cx="365760" cy="457200"/>
            </a:xfrm>
            <a:prstGeom prst="rect">
              <a:avLst/>
            </a:prstGeom>
            <a:noFill/>
            <a:ln>
              <a:noFill/>
            </a:ln>
          </p:spPr>
          <p:txBody>
            <a:bodyPr anchorCtr="0" anchor="t" bIns="0" lIns="91425" spcFirstLastPara="1" rIns="0" wrap="square" tIns="4570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2E7D32"/>
                  </a:solidFill>
                  <a:latin typeface="Georgia"/>
                  <a:ea typeface="Georgia"/>
                  <a:cs typeface="Georgia"/>
                  <a:sym typeface="Georgia"/>
                </a:rPr>
                <a:t>“</a:t>
              </a:r>
              <a:endParaRPr b="0" i="0" sz="1400" u="none" cap="none" strike="noStrike">
                <a:solidFill>
                  <a:srgbClr val="000000"/>
                </a:solidFill>
                <a:latin typeface="Arial"/>
                <a:ea typeface="Arial"/>
                <a:cs typeface="Arial"/>
                <a:sym typeface="Arial"/>
              </a:endParaRPr>
            </a:p>
          </p:txBody>
        </p:sp>
        <p:sp>
          <p:nvSpPr>
            <p:cNvPr id="468" name="Google Shape;468;p22"/>
            <p:cNvSpPr/>
            <p:nvPr/>
          </p:nvSpPr>
          <p:spPr>
            <a:xfrm>
              <a:off x="5166360" y="3790800"/>
              <a:ext cx="3612000" cy="820800"/>
            </a:xfrm>
            <a:prstGeom prst="rect">
              <a:avLst/>
            </a:prstGeom>
            <a:noFill/>
            <a:ln>
              <a:noFill/>
            </a:ln>
          </p:spPr>
          <p:txBody>
            <a:bodyPr anchorCtr="0" anchor="t" bIns="45700" lIns="0" spcFirstLastPara="1" rIns="91425" wrap="square" tIns="0">
              <a:noAutofit/>
            </a:bodyPr>
            <a:lstStyle/>
            <a:p>
              <a:pPr indent="0" lvl="0" marL="0" marR="0" rtl="0" algn="l">
                <a:lnSpc>
                  <a:spcPct val="120000"/>
                </a:lnSpc>
                <a:spcBef>
                  <a:spcPts val="0"/>
                </a:spcBef>
                <a:spcAft>
                  <a:spcPts val="0"/>
                </a:spcAft>
                <a:buClr>
                  <a:srgbClr val="000000"/>
                </a:buClr>
                <a:buSzPts val="1050"/>
                <a:buFont typeface="Arial"/>
                <a:buNone/>
              </a:pPr>
              <a:r>
                <a:rPr b="0" i="1" lang="en-US" sz="1050" u="none" cap="none" strike="noStrike">
                  <a:solidFill>
                    <a:srgbClr val="1B5E20"/>
                  </a:solidFill>
                  <a:latin typeface="Georgia"/>
                  <a:ea typeface="Georgia"/>
                  <a:cs typeface="Georgia"/>
                  <a:sym typeface="Georgia"/>
                </a:rPr>
                <a:t>Random Forests son robustos, precisos y eficientes en grandes bases de datos.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50"/>
                </a:spcBef>
                <a:spcAft>
                  <a:spcPts val="0"/>
                </a:spcAft>
                <a:buClr>
                  <a:srgbClr val="000000"/>
                </a:buClr>
                <a:buSzPts val="900"/>
                <a:buFont typeface="Arial"/>
                <a:buNone/>
              </a:pPr>
              <a:r>
                <a:rPr b="1" i="0" lang="en-US" sz="900" u="none" cap="none" strike="noStrike">
                  <a:solidFill>
                    <a:srgbClr val="2E7D32"/>
                  </a:solidFill>
                  <a:latin typeface="Calibri"/>
                  <a:ea typeface="Calibri"/>
                  <a:cs typeface="Calibri"/>
                  <a:sym typeface="Calibri"/>
                </a:rPr>
                <a:t>— Leo Breiman</a:t>
              </a:r>
              <a:r>
                <a:rPr b="0" i="0" lang="en-US" sz="900" u="none" cap="none" strike="noStrike">
                  <a:solidFill>
                    <a:srgbClr val="5A8A5C"/>
                  </a:solidFill>
                  <a:latin typeface="Calibri"/>
                  <a:ea typeface="Calibri"/>
                  <a:cs typeface="Calibri"/>
                  <a:sym typeface="Calibri"/>
                </a:rPr>
                <a:t>  |  Creador del algoritmo (2001)</a:t>
              </a:r>
              <a:endParaRPr b="0" i="0" sz="1400" u="none" cap="none" strike="noStrike">
                <a:solidFill>
                  <a:srgbClr val="000000"/>
                </a:solidFill>
                <a:latin typeface="Arial"/>
                <a:ea typeface="Arial"/>
                <a:cs typeface="Arial"/>
                <a:sym typeface="Arial"/>
              </a:endParaRPr>
            </a:p>
          </p:txBody>
        </p:sp>
      </p:grpSp>
      <p:sp>
        <p:nvSpPr>
          <p:cNvPr id="469" name="Google Shape;469;p22"/>
          <p:cNvSpPr/>
          <p:nvPr/>
        </p:nvSpPr>
        <p:spPr>
          <a:xfrm>
            <a:off x="0" y="756666"/>
            <a:ext cx="9144000" cy="54864"/>
          </a:xfrm>
          <a:prstGeom prst="rect">
            <a:avLst/>
          </a:prstGeom>
          <a:gradFill>
            <a:gsLst>
              <a:gs pos="0">
                <a:srgbClr val="6E6E6E"/>
              </a:gs>
              <a:gs pos="48000">
                <a:srgbClr val="A7A7A7"/>
              </a:gs>
              <a:gs pos="100000">
                <a:srgbClr val="C9C9C9"/>
              </a:gs>
            </a:gsLst>
            <a:lin ang="162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470" name="Google Shape;470;p22"/>
          <p:cNvGrpSpPr/>
          <p:nvPr/>
        </p:nvGrpSpPr>
        <p:grpSpPr>
          <a:xfrm>
            <a:off x="4752722" y="3524575"/>
            <a:ext cx="4115520" cy="1143000"/>
            <a:chOff x="4752722" y="2493178"/>
            <a:chExt cx="4115520" cy="1143000"/>
          </a:xfrm>
        </p:grpSpPr>
        <p:grpSp>
          <p:nvGrpSpPr>
            <p:cNvPr id="471" name="Google Shape;471;p22"/>
            <p:cNvGrpSpPr/>
            <p:nvPr/>
          </p:nvGrpSpPr>
          <p:grpSpPr>
            <a:xfrm>
              <a:off x="4752722" y="2493178"/>
              <a:ext cx="4115520" cy="1143000"/>
              <a:chOff x="4754400" y="2486998"/>
              <a:chExt cx="4115520" cy="1143000"/>
            </a:xfrm>
          </p:grpSpPr>
          <p:sp>
            <p:nvSpPr>
              <p:cNvPr id="472" name="Google Shape;472;p22"/>
              <p:cNvSpPr/>
              <p:nvPr/>
            </p:nvSpPr>
            <p:spPr>
              <a:xfrm>
                <a:off x="4754400" y="2486998"/>
                <a:ext cx="4115520" cy="1143000"/>
              </a:xfrm>
              <a:prstGeom prst="rect">
                <a:avLst/>
              </a:prstGeom>
              <a:solidFill>
                <a:srgbClr val="FFF8E1"/>
              </a:solidFill>
              <a:ln cap="flat" cmpd="sng" w="9525">
                <a:solidFill>
                  <a:srgbClr val="FFD54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3" name="Google Shape;473;p22"/>
              <p:cNvSpPr/>
              <p:nvPr/>
            </p:nvSpPr>
            <p:spPr>
              <a:xfrm>
                <a:off x="4800960" y="2514600"/>
                <a:ext cx="365760" cy="457200"/>
              </a:xfrm>
              <a:prstGeom prst="rect">
                <a:avLst/>
              </a:prstGeom>
              <a:noFill/>
              <a:ln>
                <a:noFill/>
              </a:ln>
            </p:spPr>
            <p:txBody>
              <a:bodyPr anchorCtr="0" anchor="t" bIns="0" lIns="91425" spcFirstLastPara="1" rIns="0" wrap="square" tIns="4570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F9A825"/>
                    </a:solidFill>
                    <a:latin typeface="Georgia"/>
                    <a:ea typeface="Georgia"/>
                    <a:cs typeface="Georgia"/>
                    <a:sym typeface="Georgia"/>
                  </a:rPr>
                  <a:t>“</a:t>
                </a:r>
                <a:endParaRPr b="0" i="0" sz="1400" u="none" cap="none" strike="noStrike">
                  <a:solidFill>
                    <a:srgbClr val="000000"/>
                  </a:solidFill>
                  <a:latin typeface="Arial"/>
                  <a:ea typeface="Arial"/>
                  <a:cs typeface="Arial"/>
                  <a:sym typeface="Arial"/>
                </a:endParaRPr>
              </a:p>
            </p:txBody>
          </p:sp>
        </p:grpSp>
        <p:sp>
          <p:nvSpPr>
            <p:cNvPr id="474" name="Google Shape;474;p22"/>
            <p:cNvSpPr/>
            <p:nvPr/>
          </p:nvSpPr>
          <p:spPr>
            <a:xfrm>
              <a:off x="5164682" y="2638242"/>
              <a:ext cx="3612000" cy="965200"/>
            </a:xfrm>
            <a:prstGeom prst="rect">
              <a:avLst/>
            </a:prstGeom>
            <a:noFill/>
            <a:ln>
              <a:noFill/>
            </a:ln>
          </p:spPr>
          <p:txBody>
            <a:bodyPr anchorCtr="0" anchor="t" bIns="45700" lIns="0" spcFirstLastPara="1" rIns="91425" wrap="square" tIns="0">
              <a:noAutofit/>
            </a:bodyPr>
            <a:lstStyle/>
            <a:p>
              <a:pPr indent="0" lvl="0" marL="0" marR="0" rtl="0" algn="l">
                <a:lnSpc>
                  <a:spcPct val="120000"/>
                </a:lnSpc>
                <a:spcBef>
                  <a:spcPts val="0"/>
                </a:spcBef>
                <a:spcAft>
                  <a:spcPts val="0"/>
                </a:spcAft>
                <a:buClr>
                  <a:srgbClr val="000000"/>
                </a:buClr>
                <a:buSzPts val="1050"/>
                <a:buFont typeface="Arial"/>
                <a:buNone/>
              </a:pPr>
              <a:r>
                <a:rPr b="0" i="1" lang="en-US" sz="1050" u="none" cap="none" strike="noStrike">
                  <a:solidFill>
                    <a:srgbClr val="7A5800"/>
                  </a:solidFill>
                  <a:latin typeface="Georgia"/>
                  <a:ea typeface="Georgia"/>
                  <a:cs typeface="Georgia"/>
                  <a:sym typeface="Georgia"/>
                </a:rPr>
                <a:t>La mejor publicidad es la que hacen los clientes satisfechos. El marketing crea el contexto; la ubicación lo potencia.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50"/>
                </a:spcBef>
                <a:spcAft>
                  <a:spcPts val="0"/>
                </a:spcAft>
                <a:buClr>
                  <a:srgbClr val="000000"/>
                </a:buClr>
                <a:buSzPts val="900"/>
                <a:buFont typeface="Arial"/>
                <a:buNone/>
              </a:pPr>
              <a:r>
                <a:rPr b="1" i="0" lang="en-US" sz="900" u="none" cap="none" strike="noStrike">
                  <a:solidFill>
                    <a:srgbClr val="F9A825"/>
                  </a:solidFill>
                  <a:latin typeface="Calibri"/>
                  <a:ea typeface="Calibri"/>
                  <a:cs typeface="Calibri"/>
                  <a:sym typeface="Calibri"/>
                </a:rPr>
                <a:t>— Philip Kotler</a:t>
              </a:r>
              <a:r>
                <a:rPr b="0" i="0" lang="en-US" sz="900" u="none" cap="none" strike="noStrike">
                  <a:solidFill>
                    <a:srgbClr val="9A7800"/>
                  </a:solidFill>
                  <a:latin typeface="Calibri"/>
                  <a:ea typeface="Calibri"/>
                  <a:cs typeface="Calibri"/>
                  <a:sym typeface="Calibri"/>
                </a:rPr>
                <a:t>  |  Padre del Marketing Moderno</a:t>
              </a:r>
              <a:endParaRPr b="0" i="0" sz="1400" u="none" cap="none" strike="noStrike">
                <a:solidFill>
                  <a:srgbClr val="000000"/>
                </a:solidFill>
                <a:latin typeface="Arial"/>
                <a:ea typeface="Arial"/>
                <a:cs typeface="Arial"/>
                <a:sym typeface="Arial"/>
              </a:endParaRPr>
            </a:p>
          </p:txBody>
        </p:sp>
      </p:grpSp>
      <p:sp>
        <p:nvSpPr>
          <p:cNvPr id="475" name="Google Shape;475;p22"/>
          <p:cNvSpPr/>
          <p:nvPr/>
        </p:nvSpPr>
        <p:spPr>
          <a:xfrm>
            <a:off x="8364325" y="4923225"/>
            <a:ext cx="779700" cy="171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848"/>
        </a:solidFill>
      </p:bgPr>
    </p:bg>
    <p:spTree>
      <p:nvGrpSpPr>
        <p:cNvPr id="480" name="Shape 480"/>
        <p:cNvGrpSpPr/>
        <p:nvPr/>
      </p:nvGrpSpPr>
      <p:grpSpPr>
        <a:xfrm>
          <a:off x="0" y="0"/>
          <a:ext cx="0" cy="0"/>
          <a:chOff x="0" y="0"/>
          <a:chExt cx="0" cy="0"/>
        </a:xfrm>
      </p:grpSpPr>
      <p:sp>
        <p:nvSpPr>
          <p:cNvPr id="481" name="Google Shape;481;p23"/>
          <p:cNvSpPr/>
          <p:nvPr/>
        </p:nvSpPr>
        <p:spPr>
          <a:xfrm>
            <a:off x="0" y="0"/>
            <a:ext cx="164592" cy="5143500"/>
          </a:xfrm>
          <a:prstGeom prst="rect">
            <a:avLst/>
          </a:prstGeom>
          <a:solidFill>
            <a:srgbClr val="D8D8D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2" name="Google Shape;482;p23"/>
          <p:cNvSpPr/>
          <p:nvPr/>
        </p:nvSpPr>
        <p:spPr>
          <a:xfrm>
            <a:off x="7059168" y="-571500"/>
            <a:ext cx="2926080" cy="2926080"/>
          </a:xfrm>
          <a:prstGeom prst="ellipse">
            <a:avLst/>
          </a:prstGeom>
          <a:solidFill>
            <a:srgbClr val="1A2E6E">
              <a:alpha val="7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3" name="Google Shape;483;p23"/>
          <p:cNvSpPr/>
          <p:nvPr/>
        </p:nvSpPr>
        <p:spPr>
          <a:xfrm>
            <a:off x="8065008" y="3440431"/>
            <a:ext cx="1828800" cy="1828800"/>
          </a:xfrm>
          <a:prstGeom prst="ellipse">
            <a:avLst/>
          </a:prstGeom>
          <a:solidFill>
            <a:srgbClr val="0D2255">
              <a:alpha val="6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4" name="Google Shape;484;p23"/>
          <p:cNvSpPr/>
          <p:nvPr/>
        </p:nvSpPr>
        <p:spPr>
          <a:xfrm>
            <a:off x="457200" y="1937388"/>
            <a:ext cx="7772400" cy="1737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FFFFFF"/>
                </a:solidFill>
                <a:latin typeface="Calibri"/>
                <a:ea typeface="Calibri"/>
                <a:cs typeface="Calibri"/>
                <a:sym typeface="Calibri"/>
              </a:rPr>
              <a:t>Predicción de Ventas</a:t>
            </a:r>
            <a:endParaRPr b="0" i="0" sz="4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4200"/>
              <a:buFont typeface="Calibri"/>
              <a:buNone/>
            </a:pPr>
            <a:r>
              <a:t/>
            </a:r>
            <a:endParaRPr b="0" i="0" sz="4200" u="none" cap="none" strike="noStrike">
              <a:solidFill>
                <a:schemeClr val="dk1"/>
              </a:solidFill>
              <a:latin typeface="Calibri"/>
              <a:ea typeface="Calibri"/>
              <a:cs typeface="Calibri"/>
              <a:sym typeface="Calibri"/>
            </a:endParaRPr>
          </a:p>
        </p:txBody>
      </p:sp>
      <p:sp>
        <p:nvSpPr>
          <p:cNvPr id="485" name="Google Shape;485;p23"/>
          <p:cNvSpPr/>
          <p:nvPr/>
        </p:nvSpPr>
        <p:spPr>
          <a:xfrm>
            <a:off x="457200" y="4892040"/>
            <a:ext cx="822960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7AB5"/>
              </a:buClr>
              <a:buSzPts val="850"/>
              <a:buFont typeface="Calibri"/>
              <a:buNone/>
            </a:pPr>
            <a:r>
              <a:rPr b="0" i="0" lang="en-US" sz="850" u="none" cap="none" strike="noStrike">
                <a:solidFill>
                  <a:srgbClr val="5A7AB5"/>
                </a:solidFill>
                <a:latin typeface="Calibri"/>
                <a:ea typeface="Calibri"/>
                <a:cs typeface="Calibri"/>
                <a:sym typeface="Calibri"/>
              </a:rPr>
              <a:t>Hackaton 2026 • Machine Learning Aplicado al Retail</a:t>
            </a:r>
            <a:endParaRPr b="0" i="0" sz="850" u="none" cap="none" strike="noStrike">
              <a:solidFill>
                <a:schemeClr val="dk1"/>
              </a:solidFill>
              <a:latin typeface="Calibri"/>
              <a:ea typeface="Calibri"/>
              <a:cs typeface="Calibri"/>
              <a:sym typeface="Calibri"/>
            </a:endParaRPr>
          </a:p>
        </p:txBody>
      </p:sp>
      <p:sp>
        <p:nvSpPr>
          <p:cNvPr id="486" name="Google Shape;486;p23"/>
          <p:cNvSpPr/>
          <p:nvPr/>
        </p:nvSpPr>
        <p:spPr>
          <a:xfrm>
            <a:off x="530350" y="2988950"/>
            <a:ext cx="7315200" cy="103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A0B8C8"/>
                </a:solidFill>
                <a:latin typeface="Calibri"/>
                <a:ea typeface="Calibri"/>
                <a:cs typeface="Calibri"/>
                <a:sym typeface="Calibri"/>
              </a:rPr>
              <a:t>Autores:</a:t>
            </a:r>
            <a:endParaRPr b="0" i="0" sz="1400" u="none" cap="none" strike="noStrike">
              <a:solidFill>
                <a:srgbClr val="000000"/>
              </a:solidFill>
              <a:latin typeface="Arial"/>
              <a:ea typeface="Arial"/>
              <a:cs typeface="Arial"/>
              <a:sym typeface="Arial"/>
            </a:endParaRPr>
          </a:p>
          <a:p>
            <a:pPr indent="45720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A0B8C8"/>
                </a:solidFill>
                <a:latin typeface="Calibri"/>
                <a:ea typeface="Calibri"/>
                <a:cs typeface="Calibri"/>
                <a:sym typeface="Calibri"/>
              </a:rPr>
              <a:t>Arluna Gustavo</a:t>
            </a:r>
            <a:br>
              <a:rPr b="0" i="0" lang="en-US" sz="1700" u="none" cap="none" strike="noStrike">
                <a:solidFill>
                  <a:srgbClr val="A0B8C8"/>
                </a:solidFill>
                <a:latin typeface="Calibri"/>
                <a:ea typeface="Calibri"/>
                <a:cs typeface="Calibri"/>
                <a:sym typeface="Calibri"/>
              </a:rPr>
            </a:br>
            <a:r>
              <a:rPr b="0" i="0" lang="en-US" sz="1700" u="none" cap="none" strike="noStrike">
                <a:solidFill>
                  <a:srgbClr val="A0B8C8"/>
                </a:solidFill>
                <a:latin typeface="Calibri"/>
                <a:ea typeface="Calibri"/>
                <a:cs typeface="Calibri"/>
                <a:sym typeface="Calibri"/>
              </a:rPr>
              <a:t>	Morawski Damaris Celeste</a:t>
            </a:r>
            <a:br>
              <a:rPr b="0" i="0" lang="en-US" sz="1700" u="none" cap="none" strike="noStrike">
                <a:solidFill>
                  <a:srgbClr val="A0B8C8"/>
                </a:solidFill>
                <a:latin typeface="Calibri"/>
                <a:ea typeface="Calibri"/>
                <a:cs typeface="Calibri"/>
                <a:sym typeface="Calibri"/>
              </a:rPr>
            </a:br>
            <a:r>
              <a:rPr b="0" i="0" lang="en-US" sz="1700" u="none" cap="none" strike="noStrike">
                <a:solidFill>
                  <a:srgbClr val="A0B8C8"/>
                </a:solidFill>
                <a:latin typeface="Calibri"/>
                <a:ea typeface="Calibri"/>
                <a:cs typeface="Calibri"/>
                <a:sym typeface="Calibri"/>
              </a:rPr>
              <a:t>	Reyna Rolando</a:t>
            </a:r>
            <a:br>
              <a:rPr b="0" i="0" lang="en-US" sz="1700" u="none" cap="none" strike="noStrike">
                <a:solidFill>
                  <a:srgbClr val="A0B8C8"/>
                </a:solidFill>
                <a:latin typeface="Calibri"/>
                <a:ea typeface="Calibri"/>
                <a:cs typeface="Calibri"/>
                <a:sym typeface="Calibri"/>
              </a:rPr>
            </a:br>
            <a:r>
              <a:rPr b="0" i="0" lang="en-US" sz="1700" u="none" cap="none" strike="noStrike">
                <a:solidFill>
                  <a:srgbClr val="A0B8C8"/>
                </a:solidFill>
                <a:latin typeface="Calibri"/>
                <a:ea typeface="Calibri"/>
                <a:cs typeface="Calibri"/>
                <a:sym typeface="Calibri"/>
              </a:rPr>
              <a:t>	Videla Gustavo</a:t>
            </a:r>
            <a:endParaRPr b="0" i="0" sz="1700" u="none" cap="none" strike="noStrike">
              <a:solidFill>
                <a:srgbClr val="A0B8C8"/>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A0B8C8"/>
              </a:solidFill>
              <a:latin typeface="Calibri"/>
              <a:ea typeface="Calibri"/>
              <a:cs typeface="Calibri"/>
              <a:sym typeface="Calibri"/>
            </a:endParaRPr>
          </a:p>
        </p:txBody>
      </p:sp>
      <p:sp>
        <p:nvSpPr>
          <p:cNvPr id="487" name="Google Shape;487;p23"/>
          <p:cNvSpPr/>
          <p:nvPr/>
        </p:nvSpPr>
        <p:spPr>
          <a:xfrm>
            <a:off x="457200" y="1097280"/>
            <a:ext cx="54864" cy="2926080"/>
          </a:xfrm>
          <a:prstGeom prst="rect">
            <a:avLst/>
          </a:prstGeom>
          <a:solidFill>
            <a:srgbClr val="BF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23"/>
          <p:cNvSpPr/>
          <p:nvPr/>
        </p:nvSpPr>
        <p:spPr>
          <a:xfrm>
            <a:off x="457200" y="4114800"/>
            <a:ext cx="8229600" cy="13716"/>
          </a:xfrm>
          <a:prstGeom prst="rect">
            <a:avLst/>
          </a:prstGeom>
          <a:solidFill>
            <a:srgbClr val="2A3E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2026-02-17T20:03:46Z</dcterms:created>
  <dc:creator>PptxGenJS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c8d6ef0-491d-4f17-aead-12ed260929f1_Enabled">
    <vt:lpwstr>true</vt:lpwstr>
  </property>
  <property fmtid="{D5CDD505-2E9C-101B-9397-08002B2CF9AE}" pid="3" name="MSIP_Label_4c8d6ef0-491d-4f17-aead-12ed260929f1_SetDate">
    <vt:lpwstr>2026-02-25T18:13:00Z</vt:lpwstr>
  </property>
  <property fmtid="{D5CDD505-2E9C-101B-9397-08002B2CF9AE}" pid="4" name="MSIP_Label_4c8d6ef0-491d-4f17-aead-12ed260929f1_Method">
    <vt:lpwstr>Standard</vt:lpwstr>
  </property>
  <property fmtid="{D5CDD505-2E9C-101B-9397-08002B2CF9AE}" pid="5" name="MSIP_Label_4c8d6ef0-491d-4f17-aead-12ed260929f1_Name">
    <vt:lpwstr>Internal</vt:lpwstr>
  </property>
  <property fmtid="{D5CDD505-2E9C-101B-9397-08002B2CF9AE}" pid="6" name="MSIP_Label_4c8d6ef0-491d-4f17-aead-12ed260929f1_SiteId">
    <vt:lpwstr>f101208c-39d3-4c8a-8cc7-ad896b25954f</vt:lpwstr>
  </property>
  <property fmtid="{D5CDD505-2E9C-101B-9397-08002B2CF9AE}" pid="7" name="MSIP_Label_4c8d6ef0-491d-4f17-aead-12ed260929f1_ActionId">
    <vt:lpwstr>945e2b36-45ad-4e81-be1b-2bf4af86b1b1</vt:lpwstr>
  </property>
  <property fmtid="{D5CDD505-2E9C-101B-9397-08002B2CF9AE}" pid="8" name="MSIP_Label_4c8d6ef0-491d-4f17-aead-12ed260929f1_ContentBits">
    <vt:lpwstr>2</vt:lpwstr>
  </property>
  <property fmtid="{D5CDD505-2E9C-101B-9397-08002B2CF9AE}" pid="9" name="MSIP_Label_4c8d6ef0-491d-4f17-aead-12ed260929f1_Tag">
    <vt:lpwstr>10, 3, 0, 1</vt:lpwstr>
  </property>
  <property fmtid="{D5CDD505-2E9C-101B-9397-08002B2CF9AE}" pid="10" name="ClassificationContentMarkingFooterLocations">
    <vt:lpwstr>Office Theme:3</vt:lpwstr>
  </property>
  <property fmtid="{D5CDD505-2E9C-101B-9397-08002B2CF9AE}" pid="11" name="ClassificationContentMarkingFooterText">
    <vt:lpwstr>ESSITY INTERNAL</vt:lpwstr>
  </property>
</Properties>
</file>