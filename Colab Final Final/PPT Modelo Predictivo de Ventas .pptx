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5143500" type="screen16x9"/>
  <p:notesSz cx="51435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5" roundtripDataSignature="AMtx7miHMss5QFGsEwtXX7XmLwDZorCSn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C17A80-BBBF-421A-A5CC-24DABD9C2D8D}">
  <a:tblStyle styleId="{F6C17A80-BBBF-421A-A5CC-24DABD9C2D8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1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57400" y="685800"/>
            <a:ext cx="342915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
        <p:cNvGrpSpPr/>
        <p:nvPr/>
      </p:nvGrpSpPr>
      <p:grpSpPr>
        <a:xfrm>
          <a:off x="0" y="0"/>
          <a:ext cx="0" cy="0"/>
          <a:chOff x="0" y="0"/>
          <a:chExt cx="0" cy="0"/>
        </a:xfrm>
      </p:grpSpPr>
      <p:sp>
        <p:nvSpPr>
          <p:cNvPr id="9" name="Google Shape;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 name="Google Shape;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200"/>
              <a:t>El problema que se busca abordar es la dificultad de estimar las ventas futuras de un negocio antes de invertir en él. Muchas decisiones de apertura de locales o franquicias se toman con información limitada, lo que incrementa el riesgo financiero. El proyecto propone desarrollar un modelo de Machine Learning que permita predecir ventas en función de variables comerciales y contextuales.</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El dataset tiene 20 variables originales porpias del Dataset pero al procesarlas para el modelo se convierten en 30 features debido al encoding de las variables categóricas (Dummies)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a:p>
          <a:p>
            <a:pPr marL="0" lvl="0" indent="0" algn="l" rtl="0">
              <a:lnSpc>
                <a:spcPct val="100000"/>
              </a:lnSpc>
              <a:spcBef>
                <a:spcPts val="0"/>
              </a:spcBef>
              <a:spcAft>
                <a:spcPts val="0"/>
              </a:spcAft>
              <a:buClr>
                <a:schemeClr val="dk1"/>
              </a:buClr>
              <a:buSzPts val="1100"/>
              <a:buFont typeface="Arial"/>
              <a:buNone/>
            </a:pPr>
            <a:r>
              <a:rPr lang="en-US" sz="1200"/>
              <a:t>¿Por qué predecir Ventas y no EBITDA?</a:t>
            </a:r>
            <a:endParaRPr/>
          </a:p>
          <a:p>
            <a:pPr marL="0" lvl="0" indent="0" algn="l" rtl="0">
              <a:lnSpc>
                <a:spcPct val="100000"/>
              </a:lnSpc>
              <a:spcBef>
                <a:spcPts val="0"/>
              </a:spcBef>
              <a:spcAft>
                <a:spcPts val="0"/>
              </a:spcAft>
              <a:buClr>
                <a:schemeClr val="dk1"/>
              </a:buClr>
              <a:buSzPts val="1100"/>
              <a:buFont typeface="Arial"/>
              <a:buNone/>
            </a:pPr>
            <a:r>
              <a:rPr lang="en-US" sz="1200"/>
              <a:t>Elegimos ventas porque es el primer eslabón de la cadena de valor  Sin embargo, reconocemos que la rentabilidad es el objetivo final.</a:t>
            </a:r>
            <a:endParaRPr/>
          </a:p>
          <a:p>
            <a:pPr marL="0" lvl="0" indent="0" algn="l" rtl="0">
              <a:lnSpc>
                <a:spcPct val="100000"/>
              </a:lnSpc>
              <a:spcBef>
                <a:spcPts val="0"/>
              </a:spcBef>
              <a:spcAft>
                <a:spcPts val="0"/>
              </a:spcAft>
              <a:buClr>
                <a:schemeClr val="dk1"/>
              </a:buClr>
              <a:buSzPts val="1100"/>
              <a:buFont typeface="Arial"/>
              <a:buNone/>
            </a:pPr>
            <a:r>
              <a:rPr lang="en-US" sz="1200"/>
              <a:t>Solución: Como extensión, desarrollaremos un segundo modelo que estime el margen EBITDA por rubro y ubicación, y lo integraremos para que el usuario pueda calcular su EBITDA proyectado a partir de la predicción de ventas y sus costos estimados. Incluso podríamos ofrecer una calculadora de punto de equilibrio.</a:t>
            </a:r>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 Hipotesis del modelo: </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H1: Mayor antigüedad del negocio se asocia con mayores ventas.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H2: Ubicaciones con mayor flujo de personas generan mayores ventas.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H3: Un margen adecuado combinado con buen marketing incrementa ventas.</a:t>
            </a:r>
            <a:br>
              <a:rPr lang="en-US" sz="1200">
                <a:solidFill>
                  <a:schemeClr val="dk1"/>
                </a:solidFill>
              </a:rPr>
            </a:br>
            <a:r>
              <a:rPr lang="en-US" sz="1200">
                <a:solidFill>
                  <a:schemeClr val="dk1"/>
                </a:solidFill>
              </a:rPr>
              <a:t>H4: La relación entre variables no es completamente lineal.</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p:txBody>
      </p:sp>
      <p:sp>
        <p:nvSpPr>
          <p:cNvPr id="11" name="Google Shape;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2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 name="Google Shape;25;p2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26" name="Google Shape;26;p2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 name="Google Shape;60;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endParaRPr>
          </a:p>
          <a:p>
            <a:pPr marL="0" marR="0" lvl="0" indent="0" algn="l" rtl="0">
              <a:lnSpc>
                <a:spcPct val="100000"/>
              </a:lnSpc>
              <a:spcBef>
                <a:spcPts val="0"/>
              </a:spcBef>
              <a:spcAft>
                <a:spcPts val="0"/>
              </a:spcAft>
              <a:buSzPts val="1100"/>
              <a:buNone/>
            </a:pPr>
            <a:r>
              <a:rPr lang="en-US" sz="1200">
                <a:solidFill>
                  <a:schemeClr val="dk1"/>
                </a:solidFill>
              </a:rPr>
              <a:t>Naturaleza de los outliers dataset</a:t>
            </a:r>
            <a:endParaRPr sz="1200">
              <a:solidFill>
                <a:schemeClr val="dk1"/>
              </a:solidFill>
            </a:endParaRPr>
          </a:p>
          <a:p>
            <a:pPr marL="0" marR="0" lvl="0" indent="0" algn="l" rtl="0">
              <a:lnSpc>
                <a:spcPct val="100000"/>
              </a:lnSpc>
              <a:spcBef>
                <a:spcPts val="0"/>
              </a:spcBef>
              <a:spcAft>
                <a:spcPts val="0"/>
              </a:spcAft>
              <a:buSzPts val="1100"/>
              <a:buNone/>
            </a:pPr>
            <a:r>
              <a:rPr lang="en-US" sz="1200">
                <a:solidFill>
                  <a:schemeClr val="dk1"/>
                </a:solidFill>
              </a:rPr>
              <a:t>Los outliers detectados (en inversión CAPEX, marketing, alquiler, ventas) corresponden a locales premium legítimos: shoppings de lujo, grandes superficies, rubros de alta gama. Estos casos extremos son parte del fenómeno real y contienen información valiosa sobre la relación entre variables en el extremo superior del mercado.</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Outliers Detectados</a:t>
            </a:r>
            <a:br>
              <a:rPr lang="en-US" sz="1200" b="0">
                <a:solidFill>
                  <a:schemeClr val="dk1"/>
                </a:solidFill>
                <a:latin typeface="Arial"/>
                <a:ea typeface="Arial"/>
                <a:cs typeface="Arial"/>
                <a:sym typeface="Arial"/>
              </a:rPr>
            </a:br>
            <a:endParaRPr sz="1200" b="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#Inversión CAPEX: 108 outliers → Algunos locales invierten mucho más (locales premium)</a:t>
            </a:r>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#Marketing: 128 outliers → Estrategias agresivas de marketing</a:t>
            </a:r>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#Alquiler: 101 outliers → Locales en ubicaciones premium (shopping de lujo)</a:t>
            </a:r>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#Ticket Promedio: 40 outliers → Negocios de alta gama (joyerías, tecnología)</a:t>
            </a:r>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#Ventas: 66 outliers → Los locales top performers</a:t>
            </a:r>
            <a:endParaRPr sz="1200" b="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b="0">
                <a:solidFill>
                  <a:schemeClr val="dk1"/>
                </a:solidFill>
                <a:latin typeface="Arial"/>
                <a:ea typeface="Arial"/>
                <a:cs typeface="Arial"/>
                <a:sym typeface="Arial"/>
              </a:rPr>
              <a:t>#No los eliminaremos - ya que son casos de negocio legítimos (ej: una joyería en shopping ABC1 tendrá ventas muy superiores al promedio).</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61" name="Google Shape;61;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1: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 name="Google Shape;105;p21: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
        <p:nvSpPr>
          <p:cNvPr id="106" name="Google Shape;106;p2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fld id="{00000000-1234-1234-1234-123412341234}" type="slidenum">
              <a:rPr lang="en-U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4" name="Google Shape;134;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solidFill>
                  <a:schemeClr val="dk1"/>
                </a:solidFill>
              </a:rPr>
              <a:t>La estimación precisa de ventas es clave para:</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sz="1100">
                <a:solidFill>
                  <a:schemeClr val="dk1"/>
                </a:solidFill>
              </a:rPr>
              <a:t>Evaluar la rentabilidad potencial de un negocio.</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Reducir riesgo de inversión.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Determinar ubicaciones óptimas para franquicias.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Presentar proyecciones fundamentadas ante entidades financieras.</a:t>
            </a:r>
            <a:endParaRPr sz="1100">
              <a:solidFill>
                <a:schemeClr val="dk1"/>
              </a:solidFill>
            </a:endParaRPr>
          </a:p>
          <a:p>
            <a:pPr marL="0" lvl="0" indent="0" algn="l" rtl="0">
              <a:lnSpc>
                <a:spcPct val="115000"/>
              </a:lnSpc>
              <a:spcBef>
                <a:spcPts val="1200"/>
              </a:spcBef>
              <a:spcAft>
                <a:spcPts val="1200"/>
              </a:spcAft>
              <a:buSzPts val="1100"/>
              <a:buNone/>
            </a:pPr>
            <a:r>
              <a:rPr lang="en-US" sz="1100">
                <a:solidFill>
                  <a:schemeClr val="dk1"/>
                </a:solidFill>
              </a:rPr>
              <a:t>Un modelo predictivo aporta soporte cuantitativo a decisiones estratégicas.</a:t>
            </a:r>
            <a:endParaRPr sz="1200">
              <a:solidFill>
                <a:schemeClr val="dk1"/>
              </a:solidFill>
            </a:endParaRPr>
          </a:p>
        </p:txBody>
      </p:sp>
      <p:sp>
        <p:nvSpPr>
          <p:cNvPr id="135" name="Google Shape;135;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9554702cd6_0_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 name="Google Shape;156;g39554702cd6_0_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100">
                <a:solidFill>
                  <a:schemeClr val="dk1"/>
                </a:solidFill>
              </a:rPr>
              <a:t>La estimación precisa de ventas es clave para:</a:t>
            </a:r>
            <a:endParaRPr sz="11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sz="1100">
                <a:solidFill>
                  <a:schemeClr val="dk1"/>
                </a:solidFill>
              </a:rPr>
              <a:t>Evaluar la rentabilidad potencial de un negocio.</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Reducir riesgo de inversión.</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Determinar ubicaciones óptimas para franquicias.</a:t>
            </a:r>
            <a:endParaRPr sz="11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100">
                <a:solidFill>
                  <a:schemeClr val="dk1"/>
                </a:solidFill>
              </a:rPr>
              <a:t>Presentar proyecciones fundamentadas ante entidades financieras.</a:t>
            </a:r>
            <a:endParaRPr sz="1100">
              <a:solidFill>
                <a:schemeClr val="dk1"/>
              </a:solidFill>
            </a:endParaRPr>
          </a:p>
          <a:p>
            <a:pPr marL="0" lvl="0" indent="0" algn="l" rtl="0">
              <a:lnSpc>
                <a:spcPct val="115000"/>
              </a:lnSpc>
              <a:spcBef>
                <a:spcPts val="1200"/>
              </a:spcBef>
              <a:spcAft>
                <a:spcPts val="1200"/>
              </a:spcAft>
              <a:buSzPts val="1100"/>
              <a:buNone/>
            </a:pPr>
            <a:r>
              <a:rPr lang="en-US" sz="1100">
                <a:solidFill>
                  <a:schemeClr val="dk1"/>
                </a:solidFill>
              </a:rPr>
              <a:t>Un modelo predictivo aporta soporte cuantitativo a decisiones estratégicas.</a:t>
            </a:r>
            <a:endParaRPr sz="1200">
              <a:solidFill>
                <a:schemeClr val="dk1"/>
              </a:solidFill>
            </a:endParaRPr>
          </a:p>
        </p:txBody>
      </p:sp>
      <p:sp>
        <p:nvSpPr>
          <p:cNvPr id="157" name="Google Shape;157;g39554702cd6_0_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ca65b628b7_1_0:notes"/>
          <p:cNvSpPr>
            <a:spLocks noGrp="1" noRot="1" noChangeAspect="1"/>
          </p:cNvSpPr>
          <p:nvPr>
            <p:ph type="sldImg" idx="2"/>
          </p:nvPr>
        </p:nvSpPr>
        <p:spPr>
          <a:xfrm>
            <a:off x="-47625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ca65b628b7_1_0:notes"/>
          <p:cNvSpPr txBox="1">
            <a:spLocks noGrp="1"/>
          </p:cNvSpPr>
          <p:nvPr>
            <p:ph type="body" idx="1"/>
          </p:nvPr>
        </p:nvSpPr>
        <p:spPr>
          <a:xfrm>
            <a:off x="514350" y="4343400"/>
            <a:ext cx="41148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Solo mostrar si cuestionan </a:t>
            </a:r>
            <a:r>
              <a:rPr lang="en-US" sz="1200">
                <a:solidFill>
                  <a:schemeClr val="dk1"/>
                </a:solidFill>
              </a:rPr>
              <a:t>¿Cómo impactan esos outliers en el rendimiento de nuestros modelos, especialmente en el KNN? ya que como el KNN es muy sensible a la escala y a los outliers.</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 </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Conclusión: Los outliers son información valiosa y legítima. Random Forest ya es robusto a ellos (R² original 82.9%). Eliminarlos empobrece el modelo porque pierde capacidad de predecir los casos extremos, que son justamente los de mayor interés comercial.</a:t>
            </a: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Decisión: Mantenemos los outliers y aplicamos transformación logarítmica a la variable objetivo para comprimir la escala y mejorar la estabilidad sin perder información. Validamos que el modelo mantiene R² &gt; 80% en todos los segmentos.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2" name="Google Shape;172;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None/>
            </a:pPr>
            <a:r>
              <a:rPr lang="en-US">
                <a:solidFill>
                  <a:schemeClr val="dk1"/>
                </a:solidFill>
              </a:rPr>
              <a:t>A</a:t>
            </a:r>
            <a:r>
              <a:rPr lang="en-US"/>
              <a:t>ntes de modelar, analizamos cómo se comportan las ventas en términos generales. Esto nos permite entender dispersión y diferencias estructurales entre rubros, La media es ligeramente superior a la mediana, lo que indica una distribución asimétrica positiva: existen algunos locales con ventas muy altas que elevan el promedio, el rango es amplio — desde 115 mil hasta 1.8 millones — lo que confirma alta heterogeneidad en desempeño, La mayoría de los locales se concentra entre 300 mil y 700 mil dólares anuales. Sin embargo, existe una cola derecha que refleja casos de alto desempeño.</a:t>
            </a:r>
            <a:endParaRPr/>
          </a:p>
          <a:p>
            <a:pPr marL="0" lvl="0" indent="0" algn="l" rtl="0">
              <a:lnSpc>
                <a:spcPct val="100000"/>
              </a:lnSpc>
              <a:spcBef>
                <a:spcPts val="0"/>
              </a:spcBef>
              <a:spcAft>
                <a:spcPts val="0"/>
              </a:spcAft>
              <a:buSzPts val="1100"/>
              <a:buNone/>
            </a:pPr>
            <a:r>
              <a:rPr lang="en-US"/>
              <a:t>Observamos diferencias estructurales entre categorías. Tecnología y Farmacia lideran el promedio de ventas, mientras que rubros como Petshop o Librería operan en niveles significativamente menores. Esto te permite decir  El rubro establece un techo estructural de ingresos. No es solo ubicación: el sector condiciona el potencial máximo</a:t>
            </a:r>
            <a:endParaRPr sz="1100">
              <a:solidFill>
                <a:schemeClr val="dk1"/>
              </a:solidFill>
            </a:endParaRPr>
          </a:p>
          <a:p>
            <a:pPr marL="0" lvl="0" indent="0" algn="l" rtl="0">
              <a:lnSpc>
                <a:spcPct val="115000"/>
              </a:lnSpc>
              <a:spcBef>
                <a:spcPts val="1200"/>
              </a:spcBef>
              <a:spcAft>
                <a:spcPts val="0"/>
              </a:spcAft>
              <a:buSzPts val="1100"/>
              <a:buNone/>
            </a:pPr>
            <a:r>
              <a:rPr lang="en-US" sz="1100">
                <a:solidFill>
                  <a:srgbClr val="FF0000"/>
                </a:solidFill>
              </a:rPr>
              <a:t>si pregunta porque no una Red Neuronal!!</a:t>
            </a:r>
            <a:r>
              <a:rPr lang="en-US">
                <a:solidFill>
                  <a:srgbClr val="FF0000"/>
                </a:solidFill>
              </a:rPr>
              <a:t> </a:t>
            </a:r>
            <a:r>
              <a:rPr lang="en-US" sz="1100">
                <a:solidFill>
                  <a:srgbClr val="FF0000"/>
                </a:solidFill>
              </a:rPr>
              <a:t>Las RNN son modelos diseñados para capturar dependencias temporales en datos secuenciales. En este proyecto, el objetivo no es modelar una serie temporal de ventas históricas de un mismo negocio, sino predecir ventas en función de variables estructurales y comerciales comparables entre distintos casos. Por lo tanto, el problema se ajusta mejor a modelos supervisados de regresión para datos tabulares como Random Forest o KNN</a:t>
            </a:r>
            <a:endParaRPr sz="1100">
              <a:solidFill>
                <a:srgbClr val="FF0000"/>
              </a:solidFill>
            </a:endParaRPr>
          </a:p>
        </p:txBody>
      </p:sp>
      <p:sp>
        <p:nvSpPr>
          <p:cNvPr id="173" name="Google Shape;173;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8" name="Google Shape;19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endParaRPr>
          </a:p>
        </p:txBody>
      </p:sp>
      <p:sp>
        <p:nvSpPr>
          <p:cNvPr id="199" name="Google Shape;199;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211" name="Google Shape;211;p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10</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3" name="Google Shape;223;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a:solidFill>
                  <a:schemeClr val="dk1"/>
                </a:solidFill>
              </a:rPr>
              <a:t>Grafico 1 : Demuestra que existe una relación positiva consistente entre nivel socioeconómico y ventas promedio. A mayor poder adquisitivo del área de influencia, mayor facturación del local, es decir, que el poder de compra del entorno es un determinante estructural del potencial de ingresos.</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a:p>
            <a:pPr marL="0" marR="0" lvl="0" indent="0" algn="l" rtl="0">
              <a:lnSpc>
                <a:spcPct val="100000"/>
              </a:lnSpc>
              <a:spcBef>
                <a:spcPts val="0"/>
              </a:spcBef>
              <a:spcAft>
                <a:spcPts val="0"/>
              </a:spcAft>
              <a:buSzPts val="1100"/>
              <a:buNone/>
            </a:pPr>
            <a:r>
              <a:rPr lang="en-US" sz="1200">
                <a:solidFill>
                  <a:schemeClr val="dk1"/>
                </a:solidFill>
              </a:rPr>
              <a:t>Grafico 2 : Demuestra que tipo de ubicación también muestra diferencias significativas. Los shoppings lideran en ventas promedio, seguidos por centros comerciales, mientras que ubicaciones en barrios residenciales presentan los niveles más bajos Esto refleja el efecto de economías de aglomeración: mayor concentración de oferta y flujo genera mayor potencial de venta</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a:solidFill>
                  <a:schemeClr val="dk1"/>
                </a:solidFill>
              </a:rPr>
              <a:t>Los </a:t>
            </a:r>
            <a:r>
              <a:rPr lang="en-US" b="1">
                <a:solidFill>
                  <a:schemeClr val="dk1"/>
                </a:solidFill>
              </a:rPr>
              <a:t>% que aparecen dentro de las barras</a:t>
            </a:r>
            <a:r>
              <a:rPr lang="en-US">
                <a:solidFill>
                  <a:schemeClr val="dk1"/>
                </a:solidFill>
              </a:rPr>
              <a:t> son la </a:t>
            </a:r>
            <a:r>
              <a:rPr lang="en-US" b="1">
                <a:solidFill>
                  <a:schemeClr val="dk1"/>
                </a:solidFill>
              </a:rPr>
              <a:t>proporción de locales que pertenecen a cada categoría</a:t>
            </a:r>
            <a:r>
              <a:rPr lang="en-US">
                <a:solidFill>
                  <a:schemeClr val="dk1"/>
                </a:solidFill>
              </a:rPr>
              <a:t> dentro del dataset.</a:t>
            </a:r>
            <a:endParaRPr>
              <a:solidFill>
                <a:schemeClr val="dk1"/>
              </a:solidFill>
            </a:endParaRPr>
          </a:p>
          <a:p>
            <a:pPr marL="0" marR="0" lvl="0" indent="0" algn="l" rtl="0">
              <a:lnSpc>
                <a:spcPct val="100000"/>
              </a:lnSpc>
              <a:spcBef>
                <a:spcPts val="1200"/>
              </a:spcBef>
              <a:spcAft>
                <a:spcPts val="0"/>
              </a:spcAft>
              <a:buSzPts val="1100"/>
              <a:buNone/>
            </a:pPr>
            <a:r>
              <a:rPr lang="en-US" sz="1200">
                <a:solidFill>
                  <a:schemeClr val="dk1"/>
                </a:solidFill>
              </a:rPr>
              <a:t>Si bien los shoppings presentan el mayor nivel promedio de ventas, representan solo el 13% de la muestra. En cambio, las calles comerciales concentran el 43% de los locales, lo que indica que el formato dominante del mercado es distinto del formato de mayor promedio.</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a:p>
            <a:pPr marL="0" marR="0" lvl="0" indent="0" algn="l" rtl="0">
              <a:lnSpc>
                <a:spcPct val="100000"/>
              </a:lnSpc>
              <a:spcBef>
                <a:spcPts val="0"/>
              </a:spcBef>
              <a:spcAft>
                <a:spcPts val="0"/>
              </a:spcAft>
              <a:buSzPts val="1100"/>
              <a:buNone/>
            </a:pPr>
            <a:r>
              <a:rPr lang="en-US" sz="1200">
                <a:solidFill>
                  <a:schemeClr val="dk1"/>
                </a:solidFill>
              </a:rPr>
              <a:t>Esto me sirve para identificar según qué objetivo tengo, donde invertir: </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a:p>
            <a:pPr marL="0" marR="0" lvl="0" indent="0" algn="l" rtl="0">
              <a:lnSpc>
                <a:spcPct val="100000"/>
              </a:lnSpc>
              <a:spcBef>
                <a:spcPts val="0"/>
              </a:spcBef>
              <a:spcAft>
                <a:spcPts val="0"/>
              </a:spcAft>
              <a:buSzPts val="1100"/>
              <a:buNone/>
            </a:pPr>
            <a:r>
              <a:rPr lang="en-US" sz="1200">
                <a:solidFill>
                  <a:schemeClr val="dk1"/>
                </a:solidFill>
              </a:rPr>
              <a:t>Shopping = alto promedio, bajo volumen de mercado</a:t>
            </a:r>
            <a:br>
              <a:rPr lang="en-US" sz="1200">
                <a:solidFill>
                  <a:schemeClr val="dk1"/>
                </a:solidFill>
              </a:rPr>
            </a:br>
            <a:r>
              <a:rPr lang="en-US" sz="1200">
                <a:solidFill>
                  <a:schemeClr val="dk1"/>
                </a:solidFill>
              </a:rPr>
              <a:t> Calle = promedio menor, alto volumen de mercado</a:t>
            </a:r>
            <a:endParaRPr sz="12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200">
                <a:solidFill>
                  <a:schemeClr val="dk1"/>
                </a:solidFill>
              </a:rPr>
              <a:t>Eso cambia completamente la estrategia según objetivo:</a:t>
            </a:r>
            <a:endParaRPr sz="1200">
              <a:solidFill>
                <a:schemeClr val="dk1"/>
              </a:solidFill>
            </a:endParaRPr>
          </a:p>
          <a:p>
            <a:pPr marL="457200" lvl="0" indent="-298450" algn="l" rtl="0">
              <a:lnSpc>
                <a:spcPct val="115000"/>
              </a:lnSpc>
              <a:spcBef>
                <a:spcPts val="1200"/>
              </a:spcBef>
              <a:spcAft>
                <a:spcPts val="0"/>
              </a:spcAft>
              <a:buClr>
                <a:schemeClr val="dk1"/>
              </a:buClr>
              <a:buSzPts val="1100"/>
              <a:buChar char="●"/>
            </a:pPr>
            <a:r>
              <a:rPr lang="en-US" sz="1200">
                <a:solidFill>
                  <a:schemeClr val="dk1"/>
                </a:solidFill>
              </a:rPr>
              <a:t>Maximizar ingreso unitario → shopping</a:t>
            </a:r>
            <a:endParaRPr sz="1200">
              <a:solidFill>
                <a:schemeClr val="dk1"/>
              </a:solidFill>
            </a:endParaRPr>
          </a:p>
          <a:p>
            <a:pPr marL="457200" lvl="0" indent="-298450" algn="l" rtl="0">
              <a:lnSpc>
                <a:spcPct val="115000"/>
              </a:lnSpc>
              <a:spcBef>
                <a:spcPts val="0"/>
              </a:spcBef>
              <a:spcAft>
                <a:spcPts val="0"/>
              </a:spcAft>
              <a:buClr>
                <a:schemeClr val="dk1"/>
              </a:buClr>
              <a:buSzPts val="1100"/>
              <a:buChar char="●"/>
            </a:pPr>
            <a:r>
              <a:rPr lang="en-US" sz="1200">
                <a:solidFill>
                  <a:schemeClr val="dk1"/>
                </a:solidFill>
              </a:rPr>
              <a:t>Escalar red de locales → calle comercial</a:t>
            </a:r>
            <a:endParaRPr sz="1200">
              <a:solidFill>
                <a:schemeClr val="dk1"/>
              </a:solidFill>
            </a:endParaRPr>
          </a:p>
          <a:p>
            <a:pPr marL="0" marR="0" lvl="0" indent="0" algn="l" rtl="0">
              <a:lnSpc>
                <a:spcPct val="100000"/>
              </a:lnSpc>
              <a:spcBef>
                <a:spcPts val="1200"/>
              </a:spcBef>
              <a:spcAft>
                <a:spcPts val="0"/>
              </a:spcAft>
              <a:buSzPts val="1100"/>
              <a:buNone/>
            </a:pPr>
            <a:endParaRPr sz="1200">
              <a:solidFill>
                <a:schemeClr val="dk1"/>
              </a:solidFill>
            </a:endParaRPr>
          </a:p>
        </p:txBody>
      </p:sp>
      <p:sp>
        <p:nvSpPr>
          <p:cNvPr id="224" name="Google Shape;224;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11</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2" name="Google Shape;242;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a:t>En esta sección analizamos qué variables realmente explican las diferencias de desempeño entre locales. </a:t>
            </a: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a:t>El tránsito (0,123) muestra una correlación positiva, aunque moderada. Esto indica que mayor flujo ayuda, pero no garantiza ventas altas por sí solo. Es una condición necesaria, pero no suficiente</a:t>
            </a:r>
            <a:endParaRPr/>
          </a:p>
          <a:p>
            <a:pPr marL="0" marR="0" lvl="0" indent="0" algn="l" rtl="0">
              <a:lnSpc>
                <a:spcPct val="100000"/>
              </a:lnSpc>
              <a:spcBef>
                <a:spcPts val="0"/>
              </a:spcBef>
              <a:spcAft>
                <a:spcPts val="0"/>
              </a:spcAft>
              <a:buSzPts val="1100"/>
              <a:buNone/>
            </a:pPr>
            <a:r>
              <a:rPr lang="en-US" sz="1200"/>
              <a:t>Distnacia al ancla observamos una relación negativa clara (-0,307) : a mayor distancia del ancla, menores ventas. Esto confirma la importancia de las economías de aglomeración. La cercanía potencia la captación de demanda</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a:t>La densidad poblacional muestra relación negativa (-0,302). Esto puede parecer contraintuitivo, pero sugiere que en zonas extremadamente densas puede existir mayor competencia o saturación comercial y esta relacionado con nivel de facturación zonas D1 mas venta pero mas humides/ Precarias </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a:solidFill>
                  <a:schemeClr val="dk1"/>
                </a:solidFill>
                <a:latin typeface="Arial"/>
                <a:ea typeface="Arial"/>
                <a:cs typeface="Arial"/>
                <a:sym typeface="Arial"/>
              </a:rPr>
              <a:t>EBITDA </a:t>
            </a:r>
            <a:r>
              <a:rPr lang="en-US" sz="1200"/>
              <a:t>El rubro introduce una diferencia estructural en el techo de rentabilidad. A igual ubicación y tránsito, el margen cambia significativamente según la categoría. “Esto valida que la elección del rubro no es secundaria: condiciona tanto el nivel de ventas como la rentabilidad final.”</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a:t>Los resultados muestran que el desempeño no depende de un único factor, sino de la interacción entre ubicación estratégica y adecuación del rubro. El modelo captura precisamente esa combinación</a:t>
            </a:r>
            <a:endParaRPr sz="1200">
              <a:solidFill>
                <a:schemeClr val="dk1"/>
              </a:solidFill>
              <a:latin typeface="Arial"/>
              <a:ea typeface="Arial"/>
              <a:cs typeface="Arial"/>
              <a:sym typeface="Arial"/>
            </a:endParaRPr>
          </a:p>
        </p:txBody>
      </p:sp>
      <p:sp>
        <p:nvSpPr>
          <p:cNvPr id="243" name="Google Shape;243;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12</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5" name="Google Shape;25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b="1">
                <a:solidFill>
                  <a:schemeClr val="dk1"/>
                </a:solidFill>
              </a:rPr>
              <a:t>¿Qué variables influyen más en el nivel de ventas?</a:t>
            </a: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b="1">
                <a:solidFill>
                  <a:schemeClr val="dk1"/>
                </a:solidFill>
              </a:rPr>
              <a:t>¿Existe relación positiva entre antigüedad y ventas</a:t>
            </a: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b="1">
                <a:solidFill>
                  <a:schemeClr val="dk1"/>
                </a:solidFill>
              </a:rPr>
              <a:t>¿Cómo impacta la ubicación en el desempeño comercial?</a:t>
            </a:r>
            <a:endParaRPr sz="1200" b="1">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b="1">
                <a:solidFill>
                  <a:schemeClr val="dk1"/>
                </a:solidFill>
              </a:rPr>
              <a:t>¿Qué nivel de marketing mejora significativamente las ventas?</a:t>
            </a:r>
            <a:endParaRPr sz="1200" b="1">
              <a:solidFill>
                <a:schemeClr val="dk1"/>
              </a:solidFill>
            </a:endParaRPr>
          </a:p>
          <a:p>
            <a:pPr marL="0" lvl="0" indent="0" algn="l" rtl="0">
              <a:lnSpc>
                <a:spcPct val="100000"/>
              </a:lnSpc>
              <a:spcBef>
                <a:spcPts val="0"/>
              </a:spcBef>
              <a:spcAft>
                <a:spcPts val="0"/>
              </a:spcAft>
              <a:buSzPts val="1100"/>
              <a:buNone/>
            </a:pPr>
            <a:r>
              <a:rPr lang="en-US" sz="1200" b="1">
                <a:solidFill>
                  <a:schemeClr val="dk1"/>
                </a:solidFill>
              </a:rPr>
              <a:t>¿Cuál modelo ofrece mejor capacidad predictiva?</a:t>
            </a:r>
            <a:endParaRPr sz="1200" b="1">
              <a:solidFill>
                <a:schemeClr val="dk1"/>
              </a:solidFill>
            </a:endParaRPr>
          </a:p>
          <a:p>
            <a:pPr marL="0" marR="0" lvl="0" indent="0" algn="l" rtl="0">
              <a:lnSpc>
                <a:spcPct val="100000"/>
              </a:lnSpc>
              <a:spcBef>
                <a:spcPts val="0"/>
              </a:spcBef>
              <a:spcAft>
                <a:spcPts val="0"/>
              </a:spcAft>
              <a:buSzPts val="1100"/>
              <a:buNone/>
            </a:pPr>
            <a:endParaRPr sz="1200" b="1">
              <a:solidFill>
                <a:schemeClr val="dk1"/>
              </a:solidFill>
            </a:endParaRPr>
          </a:p>
          <a:p>
            <a:pPr marL="0" marR="0" lvl="0" indent="0" algn="l" rtl="0">
              <a:lnSpc>
                <a:spcPct val="100000"/>
              </a:lnSpc>
              <a:spcBef>
                <a:spcPts val="0"/>
              </a:spcBef>
              <a:spcAft>
                <a:spcPts val="0"/>
              </a:spcAft>
              <a:buSzPts val="1100"/>
              <a:buNone/>
            </a:pPr>
            <a:r>
              <a:rPr lang="en-US" sz="1200" b="1">
                <a:solidFill>
                  <a:schemeClr val="dk1"/>
                </a:solidFill>
              </a:rPr>
              <a:t>El</a:t>
            </a:r>
            <a:r>
              <a:rPr lang="en-US" sz="1200" b="1">
                <a:solidFill>
                  <a:schemeClr val="dk1"/>
                </a:solidFill>
                <a:latin typeface="Arial"/>
                <a:ea typeface="Arial"/>
                <a:cs typeface="Arial"/>
                <a:sym typeface="Arial"/>
              </a:rPr>
              <a:t> eje horizontal (Valor de K):</a:t>
            </a:r>
            <a:r>
              <a:rPr lang="en-US" sz="1200">
                <a:solidFill>
                  <a:schemeClr val="dk1"/>
                </a:solidFill>
                <a:latin typeface="Arial"/>
                <a:ea typeface="Arial"/>
                <a:cs typeface="Arial"/>
                <a:sym typeface="Arial"/>
              </a:rPr>
              <a:t> Representa el número de "vecinos" que el modelo consulta para tomar una decisión. Probaste desde $K=1$ hasta $K=30$.</a:t>
            </a:r>
            <a:endParaRPr/>
          </a:p>
          <a:p>
            <a:pPr marL="0" marR="0" lvl="0" indent="0" algn="l" rtl="0">
              <a:lnSpc>
                <a:spcPct val="100000"/>
              </a:lnSpc>
              <a:spcBef>
                <a:spcPts val="0"/>
              </a:spcBef>
              <a:spcAft>
                <a:spcPts val="0"/>
              </a:spcAft>
              <a:buSzPts val="1100"/>
              <a:buNone/>
            </a:pPr>
            <a:r>
              <a:rPr lang="en-US" sz="1200" b="1">
                <a:solidFill>
                  <a:schemeClr val="dk1"/>
                </a:solidFill>
                <a:latin typeface="Arial"/>
                <a:ea typeface="Arial"/>
                <a:cs typeface="Arial"/>
                <a:sym typeface="Arial"/>
              </a:rPr>
              <a:t>El eje vertical (RMSE):</a:t>
            </a:r>
            <a:r>
              <a:rPr lang="en-US" sz="1200">
                <a:solidFill>
                  <a:schemeClr val="dk1"/>
                </a:solidFill>
                <a:latin typeface="Arial"/>
                <a:ea typeface="Arial"/>
                <a:cs typeface="Arial"/>
                <a:sym typeface="Arial"/>
              </a:rPr>
              <a:t> Es el </a:t>
            </a:r>
            <a:r>
              <a:rPr lang="en-US" sz="1200" b="1">
                <a:solidFill>
                  <a:schemeClr val="dk1"/>
                </a:solidFill>
                <a:latin typeface="Arial"/>
                <a:ea typeface="Arial"/>
                <a:cs typeface="Arial"/>
                <a:sym typeface="Arial"/>
              </a:rPr>
              <a:t>Error Cuadrático Medio</a:t>
            </a:r>
            <a:r>
              <a:rPr lang="en-US" sz="1200">
                <a:solidFill>
                  <a:schemeClr val="dk1"/>
                </a:solidFill>
                <a:latin typeface="Arial"/>
                <a:ea typeface="Arial"/>
                <a:cs typeface="Arial"/>
                <a:sym typeface="Arial"/>
              </a:rPr>
              <a:t> expresado en dólares (USD). En términos simples: </a:t>
            </a:r>
            <a:r>
              <a:rPr lang="en-US" sz="1200" b="1">
                <a:solidFill>
                  <a:schemeClr val="dk1"/>
                </a:solidFill>
                <a:latin typeface="Arial"/>
                <a:ea typeface="Arial"/>
                <a:cs typeface="Arial"/>
                <a:sym typeface="Arial"/>
              </a:rPr>
              <a:t>mientras más baja esté la línea azul, mejor es el modelo</a:t>
            </a:r>
            <a:r>
              <a:rPr lang="en-US" sz="1200">
                <a:solidFill>
                  <a:schemeClr val="dk1"/>
                </a:solidFill>
                <a:latin typeface="Arial"/>
                <a:ea typeface="Arial"/>
                <a:cs typeface="Arial"/>
                <a:sym typeface="Arial"/>
              </a:rPr>
              <a:t>, porque significa que se equivoca por menos dinero.</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256" name="Google Shape;25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13</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0" name="Google Shape;300;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301" name="Google Shape;301;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14</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5" name="Google Shape;335;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US" sz="1200">
                <a:solidFill>
                  <a:schemeClr val="dk1"/>
                </a:solidFill>
              </a:rPr>
              <a:t>Importancia de las variables :</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Inversión en marketing es, con diferencia, la variable más importante (64% de la importancia total).</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Rubro_Farmacia es la segunda más importante lo que significa que los locales que son farmacia tienen un patrón de ventas muy diferente al resto.</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Luego vienen distancia al ancla (6.4%)</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Las demás variables tienen importancias mucho más bajas.</a:t>
            </a: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Por rubro </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Aunque la correlación lineal entre "ser farmacia" y ventas pueda ser baja (porque hay farmacias de todos los tamaños y ubicaciones), en el contexto de las demás variables, el modelo descubre que saber si un local es farmacia es crucial para ajustar la predicción.</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Por ejemplo: para un mismo nivel de inversión en marketing y misma ubicación, una farmacia puede vender sistemáticamente más (o de forma más predecible) que una librería. </a:t>
            </a: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Eso es porque el Modelo detecta que las farmacias tienen un comportamiento de ventas muy diferente al resto:</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Demanda estable y recurrente (salud, medicamentos) vs. otros rubros más estacionales (indumentaria, deportes).</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Menor sensibilidad a crisis económicas (productos de primera necesidad).</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Mayor ticket promedio en muchos casos (farmacias de cadenas, venta de productos de cuidado personal de alto valor).</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Ubicaciones estratégicas (cerca de centros de salud, gran afluencia).</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Esto hace que para el modelo, saber si un local es farmacia sea casi tan importante como cuánto invierte en marketing.</a:t>
            </a: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p:txBody>
      </p:sp>
      <p:sp>
        <p:nvSpPr>
          <p:cNvPr id="336" name="Google Shape;336;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15</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200">
                <a:solidFill>
                  <a:schemeClr val="dk1"/>
                </a:solidFill>
                <a:latin typeface="Arial"/>
                <a:ea typeface="Arial"/>
                <a:cs typeface="Arial"/>
                <a:sym typeface="Arial"/>
              </a:rPr>
              <a:t>R2 </a:t>
            </a:r>
            <a:r>
              <a:rPr lang="en-US" sz="1200"/>
              <a:t>Mi modelo explica el </a:t>
            </a:r>
            <a:r>
              <a:rPr lang="en-US" sz="1200" b="1"/>
              <a:t>82.8% de la variabilidad de las ventas</a:t>
            </a:r>
            <a:endParaRPr/>
          </a:p>
          <a:p>
            <a:pPr marL="0" marR="0" lvl="0" indent="0" algn="l" rtl="0">
              <a:lnSpc>
                <a:spcPct val="100000"/>
              </a:lnSpc>
              <a:spcBef>
                <a:spcPts val="0"/>
              </a:spcBef>
              <a:spcAft>
                <a:spcPts val="0"/>
              </a:spcAft>
              <a:buSzPts val="1100"/>
              <a:buNone/>
            </a:pPr>
            <a:r>
              <a:rPr lang="en-US" sz="1200" b="0" i="0" u="none" strike="noStrike" cap="none">
                <a:solidFill>
                  <a:schemeClr val="dk1"/>
                </a:solidFill>
                <a:latin typeface="Arial"/>
                <a:ea typeface="Arial"/>
                <a:cs typeface="Arial"/>
                <a:sym typeface="Arial"/>
              </a:rPr>
              <a:t>MAE </a:t>
            </a:r>
            <a:r>
              <a:rPr lang="en-US" sz="1200"/>
              <a:t>Si abrís un local proyectando ventas, deberías esperar un margen de error promedio cercano a $80 mil</a:t>
            </a:r>
            <a:endParaRPr/>
          </a:p>
          <a:p>
            <a:pPr marL="0" marR="0" lvl="0" indent="0" algn="l" rtl="0">
              <a:lnSpc>
                <a:spcPct val="100000"/>
              </a:lnSpc>
              <a:spcBef>
                <a:spcPts val="0"/>
              </a:spcBef>
              <a:spcAft>
                <a:spcPts val="0"/>
              </a:spcAft>
              <a:buSzPts val="1100"/>
              <a:buNone/>
            </a:pPr>
            <a:r>
              <a:rPr lang="en-US" sz="1200">
                <a:solidFill>
                  <a:schemeClr val="dk1"/>
                </a:solidFill>
                <a:latin typeface="Arial"/>
                <a:ea typeface="Arial"/>
                <a:cs typeface="Arial"/>
                <a:sym typeface="Arial"/>
              </a:rPr>
              <a:t>RMSE </a:t>
            </a:r>
            <a:r>
              <a:rPr lang="en-US" sz="1200"/>
              <a:t>Existen algunos casos donde el error es más grande (~100 mil o más). Es decir, hay decisiones donde el modelo puede fallar más fuerte.</a:t>
            </a:r>
            <a:endParaRPr/>
          </a:p>
          <a:p>
            <a:pPr marL="0" marR="0" lvl="0" indent="0" algn="l" rtl="0">
              <a:lnSpc>
                <a:spcPct val="100000"/>
              </a:lnSpc>
              <a:spcBef>
                <a:spcPts val="0"/>
              </a:spcBef>
              <a:spcAft>
                <a:spcPts val="0"/>
              </a:spcAft>
              <a:buSzPts val="1100"/>
              <a:buNone/>
            </a:pPr>
            <a:r>
              <a:rPr lang="en-US" sz="1200">
                <a:solidFill>
                  <a:schemeClr val="dk1"/>
                </a:solidFill>
                <a:latin typeface="Arial"/>
                <a:ea typeface="Arial"/>
                <a:cs typeface="Arial"/>
                <a:sym typeface="Arial"/>
              </a:rPr>
              <a:t>MAPE </a:t>
            </a:r>
            <a:r>
              <a:rPr lang="en-US" sz="1200"/>
              <a:t>En promedio, el modelo se equivoca un 15.8% respecto a la venta real.</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a:p>
            <a:pPr marL="0" marR="0" lvl="0" indent="0" algn="l" rtl="0">
              <a:lnSpc>
                <a:spcPct val="100000"/>
              </a:lnSpc>
              <a:spcBef>
                <a:spcPts val="0"/>
              </a:spcBef>
              <a:spcAft>
                <a:spcPts val="0"/>
              </a:spcAft>
              <a:buSzPts val="1100"/>
              <a:buNone/>
            </a:pPr>
            <a:r>
              <a:rPr lang="en-US" sz="1200"/>
              <a:t>La diferencia moderada entre MAE y RMSE indica que el modelo no presenta errores extremos significativos, lo que reduce el riesgo de decisiones estratégicas erróneas de gran magnitud</a:t>
            </a:r>
            <a:endParaRPr/>
          </a:p>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366" name="Google Shape;366;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16</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01" name="Google Shape;401;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r>
              <a:rPr lang="en-US" sz="1100">
                <a:solidFill>
                  <a:schemeClr val="dk1"/>
                </a:solidFill>
              </a:rPr>
              <a:t>¿Por qué el R² de KNN es 63.4% y no más alto?</a:t>
            </a:r>
            <a:endParaRPr sz="1100">
              <a:solidFill>
                <a:schemeClr val="dk1"/>
              </a:solidFill>
            </a:endParaRPr>
          </a:p>
          <a:p>
            <a:pPr marL="0" marR="0" lvl="0" indent="0" algn="l" rtl="0">
              <a:lnSpc>
                <a:spcPct val="100000"/>
              </a:lnSpc>
              <a:spcBef>
                <a:spcPts val="0"/>
              </a:spcBef>
              <a:spcAft>
                <a:spcPts val="0"/>
              </a:spcAft>
              <a:buSzPts val="1100"/>
              <a:buNone/>
            </a:pPr>
            <a:r>
              <a:rPr lang="en-US" sz="1100">
                <a:solidFill>
                  <a:schemeClr val="dk1"/>
                </a:solidFill>
              </a:rPr>
              <a:t>No es un error. KNN tiene una limitación real con este dataset: hay una variable dominante (Inversion_Marketing, correlación 0.77) y el resto son débiles. KNN trata todas las distancias por igual y le cuesta capturar esa dominancia. Por eso Random Forest lo supera ampliamente (82.9%) — porque puede ponderar la importancia de cada variable.</a:t>
            </a:r>
            <a:endParaRPr sz="1100"/>
          </a:p>
          <a:p>
            <a:pPr marL="0" marR="0" lvl="0" indent="0" algn="l" rtl="0">
              <a:lnSpc>
                <a:spcPct val="100000"/>
              </a:lnSpc>
              <a:spcBef>
                <a:spcPts val="0"/>
              </a:spcBef>
              <a:spcAft>
                <a:spcPts val="0"/>
              </a:spcAft>
              <a:buSzPts val="1100"/>
              <a:buNone/>
            </a:pPr>
            <a:endParaRPr sz="1100">
              <a:solidFill>
                <a:schemeClr val="dk1"/>
              </a:solidFill>
            </a:endParaRPr>
          </a:p>
          <a:p>
            <a:pPr marL="0" marR="0" lvl="0" indent="0" algn="l" rtl="0">
              <a:lnSpc>
                <a:spcPct val="100000"/>
              </a:lnSpc>
              <a:spcBef>
                <a:spcPts val="0"/>
              </a:spcBef>
              <a:spcAft>
                <a:spcPts val="0"/>
              </a:spcAft>
              <a:buSzPts val="1100"/>
              <a:buNone/>
            </a:pPr>
            <a:r>
              <a:rPr lang="en-US" sz="1100">
                <a:solidFill>
                  <a:schemeClr val="dk1"/>
                </a:solidFill>
              </a:rPr>
              <a:t> Mientras que el </a:t>
            </a:r>
            <a:r>
              <a:rPr lang="en-US" sz="1100" i="1">
                <a:solidFill>
                  <a:schemeClr val="dk1"/>
                </a:solidFill>
              </a:rPr>
              <a:t>R</a:t>
            </a:r>
            <a:r>
              <a:rPr lang="en-US" sz="1100">
                <a:solidFill>
                  <a:schemeClr val="dk1"/>
                </a:solidFill>
              </a:rPr>
              <a:t>2 te dice qué tan bueno es el modelo en general, estas estadísticas te dicen cuánto y cómo se equivoca en términos de dinero (USD).</a:t>
            </a:r>
            <a:endParaRPr sz="1100"/>
          </a:p>
          <a:p>
            <a:pPr marL="0" marR="0" lvl="0" indent="0" algn="l" rtl="0">
              <a:lnSpc>
                <a:spcPct val="100000"/>
              </a:lnSpc>
              <a:spcBef>
                <a:spcPts val="0"/>
              </a:spcBef>
              <a:spcAft>
                <a:spcPts val="0"/>
              </a:spcAft>
              <a:buSzPts val="1100"/>
              <a:buNone/>
            </a:pPr>
            <a:r>
              <a:rPr lang="en-US" sz="1100">
                <a:solidFill>
                  <a:schemeClr val="dk1"/>
                </a:solidFill>
              </a:rPr>
              <a:t>1. Error Medio (Sesgo)</a:t>
            </a:r>
            <a:endParaRPr sz="1100"/>
          </a:p>
          <a:p>
            <a:pPr marL="0" marR="0" lvl="0" indent="0" algn="l" rtl="0">
              <a:lnSpc>
                <a:spcPct val="100000"/>
              </a:lnSpc>
              <a:spcBef>
                <a:spcPts val="0"/>
              </a:spcBef>
              <a:spcAft>
                <a:spcPts val="0"/>
              </a:spcAft>
              <a:buSzPts val="1100"/>
              <a:buNone/>
            </a:pPr>
            <a:r>
              <a:rPr lang="en-US" sz="1100">
                <a:solidFill>
                  <a:schemeClr val="dk1"/>
                </a:solidFill>
              </a:rPr>
              <a:t>KNN (14,493): En promedio, este modelo tiende a sobreestimar el precio (predice valores más altos de lo que realmente son).</a:t>
            </a:r>
            <a:endParaRPr sz="1100"/>
          </a:p>
          <a:p>
            <a:pPr marL="0" marR="0" lvl="0" indent="0" algn="l" rtl="0">
              <a:lnSpc>
                <a:spcPct val="100000"/>
              </a:lnSpc>
              <a:spcBef>
                <a:spcPts val="0"/>
              </a:spcBef>
              <a:spcAft>
                <a:spcPts val="0"/>
              </a:spcAft>
              <a:buSzPts val="1100"/>
              <a:buNone/>
            </a:pPr>
            <a:r>
              <a:rPr lang="en-US" sz="1100">
                <a:solidFill>
                  <a:schemeClr val="dk1"/>
                </a:solidFill>
              </a:rPr>
              <a:t>Random Forest (−5,323): El error es negativo, lo que significa que tiende a subestimar ligeramente, pero el valor absoluto es mucho menor (-5.3 vs 14.493). Esto indica que Random Forest está más "centrado" en el valor real.</a:t>
            </a:r>
            <a:endParaRPr sz="1100">
              <a:solidFill>
                <a:schemeClr val="dk1"/>
              </a:solidFill>
            </a:endParaRPr>
          </a:p>
          <a:p>
            <a:pPr marL="0" marR="0" lvl="0" indent="0" algn="l" rtl="0">
              <a:lnSpc>
                <a:spcPct val="100000"/>
              </a:lnSpc>
              <a:spcBef>
                <a:spcPts val="0"/>
              </a:spcBef>
              <a:spcAft>
                <a:spcPts val="0"/>
              </a:spcAft>
              <a:buSzPts val="1100"/>
              <a:buNone/>
            </a:pPr>
            <a:endParaRPr sz="1100">
              <a:solidFill>
                <a:schemeClr val="dk1"/>
              </a:solidFill>
            </a:endParaRPr>
          </a:p>
          <a:p>
            <a:pPr marL="0" marR="0" lvl="0" indent="0" algn="l" rtl="0">
              <a:lnSpc>
                <a:spcPct val="100000"/>
              </a:lnSpc>
              <a:spcBef>
                <a:spcPts val="0"/>
              </a:spcBef>
              <a:spcAft>
                <a:spcPts val="0"/>
              </a:spcAft>
              <a:buSzPts val="1100"/>
              <a:buNone/>
            </a:pPr>
            <a:r>
              <a:rPr lang="en-US" sz="1100">
                <a:solidFill>
                  <a:schemeClr val="dk1"/>
                </a:solidFill>
              </a:rPr>
              <a:t>2. Desviación Estándar (Consistencia)</a:t>
            </a:r>
            <a:endParaRPr sz="1100"/>
          </a:p>
          <a:p>
            <a:pPr marL="0" marR="0" lvl="0" indent="0" algn="l" rtl="0">
              <a:lnSpc>
                <a:spcPct val="100000"/>
              </a:lnSpc>
              <a:spcBef>
                <a:spcPts val="0"/>
              </a:spcBef>
              <a:spcAft>
                <a:spcPts val="0"/>
              </a:spcAft>
              <a:buSzPts val="1100"/>
              <a:buNone/>
            </a:pPr>
            <a:r>
              <a:rPr lang="en-US" sz="1100">
                <a:solidFill>
                  <a:schemeClr val="dk1"/>
                </a:solidFill>
              </a:rPr>
              <a:t>Esta es la métrica más importante de tu tabla:</a:t>
            </a:r>
            <a:endParaRPr sz="1100"/>
          </a:p>
          <a:p>
            <a:pPr marL="0" marR="0" lvl="0" indent="0" algn="l" rtl="0">
              <a:lnSpc>
                <a:spcPct val="100000"/>
              </a:lnSpc>
              <a:spcBef>
                <a:spcPts val="0"/>
              </a:spcBef>
              <a:spcAft>
                <a:spcPts val="0"/>
              </a:spcAft>
              <a:buSzPts val="1100"/>
              <a:buNone/>
            </a:pPr>
            <a:r>
              <a:rPr lang="en-US" sz="1100">
                <a:solidFill>
                  <a:schemeClr val="dk1"/>
                </a:solidFill>
              </a:rPr>
              <a:t>KNN (150,650): Los errores varían muchísimo. A veces acierta y a veces se equivoca por una fortuna.</a:t>
            </a:r>
            <a:endParaRPr sz="1100"/>
          </a:p>
          <a:p>
            <a:pPr marL="0" marR="0" lvl="0" indent="0" algn="l" rtl="0">
              <a:lnSpc>
                <a:spcPct val="100000"/>
              </a:lnSpc>
              <a:spcBef>
                <a:spcPts val="0"/>
              </a:spcBef>
              <a:spcAft>
                <a:spcPts val="0"/>
              </a:spcAft>
              <a:buSzPts val="1100"/>
              <a:buNone/>
            </a:pPr>
            <a:r>
              <a:rPr lang="en-US" sz="1100">
                <a:solidFill>
                  <a:schemeClr val="dk1"/>
                </a:solidFill>
              </a:rPr>
              <a:t>Random Forest (102,537): Como bien anotaste, es más consistente. Sus errores están más agrupados; es decir, es un modelo más "predecible" en su margen de error.</a:t>
            </a:r>
            <a:endParaRPr sz="1100"/>
          </a:p>
          <a:p>
            <a:pPr marL="0" marR="0" lvl="0" indent="0" algn="l" rtl="0">
              <a:lnSpc>
                <a:spcPct val="100000"/>
              </a:lnSpc>
              <a:spcBef>
                <a:spcPts val="0"/>
              </a:spcBef>
              <a:spcAft>
                <a:spcPts val="0"/>
              </a:spcAft>
              <a:buSzPts val="1100"/>
              <a:buNone/>
            </a:pPr>
            <a:endParaRPr sz="1100">
              <a:solidFill>
                <a:schemeClr val="dk1"/>
              </a:solidFill>
            </a:endParaRPr>
          </a:p>
        </p:txBody>
      </p:sp>
      <p:sp>
        <p:nvSpPr>
          <p:cNvPr id="402" name="Google Shape;402;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17</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p2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34" name="Google Shape;434;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SzPts val="1100"/>
              <a:buNone/>
            </a:pPr>
            <a:endParaRPr sz="1200">
              <a:solidFill>
                <a:schemeClr val="dk1"/>
              </a:solidFill>
              <a:latin typeface="Arial"/>
              <a:ea typeface="Arial"/>
              <a:cs typeface="Arial"/>
              <a:sym typeface="Arial"/>
            </a:endParaRPr>
          </a:p>
        </p:txBody>
      </p:sp>
      <p:sp>
        <p:nvSpPr>
          <p:cNvPr id="435" name="Google Shape;435;p2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18</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2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200"/>
              <a:t>El problema que se busca abordar es la dificultad de estimar las ventas futuras de un negocio antes de invertir en él. Muchas decisiones de apertura de locales o franquicias se toman con información limitada, lo que incrementa el riesgo financiero. El proyecto propone desarrollar un modelo de Machine Learning que permita predecir ventas en función de variables comerciales y contextuales.</a:t>
            </a: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El dataset tiene 20 variables originales porpias del Dataset pero al procesarlas para el modelo se convierten en 30 features debido al encoding de las variables categóricas (Dummies)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endParaRPr sz="1200"/>
          </a:p>
          <a:p>
            <a:pPr marL="0" lvl="0" indent="0" algn="l" rtl="0">
              <a:lnSpc>
                <a:spcPct val="100000"/>
              </a:lnSpc>
              <a:spcBef>
                <a:spcPts val="0"/>
              </a:spcBef>
              <a:spcAft>
                <a:spcPts val="0"/>
              </a:spcAft>
              <a:buClr>
                <a:schemeClr val="dk1"/>
              </a:buClr>
              <a:buSzPts val="1100"/>
              <a:buFont typeface="Arial"/>
              <a:buNone/>
            </a:pPr>
            <a:r>
              <a:rPr lang="en-US" sz="1200"/>
              <a:t>¿Por qué predecir Ventas y no EBITDA?</a:t>
            </a:r>
            <a:endParaRPr/>
          </a:p>
          <a:p>
            <a:pPr marL="0" lvl="0" indent="0" algn="l" rtl="0">
              <a:lnSpc>
                <a:spcPct val="100000"/>
              </a:lnSpc>
              <a:spcBef>
                <a:spcPts val="0"/>
              </a:spcBef>
              <a:spcAft>
                <a:spcPts val="0"/>
              </a:spcAft>
              <a:buClr>
                <a:schemeClr val="dk1"/>
              </a:buClr>
              <a:buSzPts val="1100"/>
              <a:buFont typeface="Arial"/>
              <a:buNone/>
            </a:pPr>
            <a:r>
              <a:rPr lang="en-US" sz="1200"/>
              <a:t>Elegimos ventas porque es el primer eslabón de la cadena de valor  Sin embargo, reconocemos que la rentabilidad es el objetivo final.</a:t>
            </a:r>
            <a:endParaRPr/>
          </a:p>
          <a:p>
            <a:pPr marL="0" lvl="0" indent="0" algn="l" rtl="0">
              <a:lnSpc>
                <a:spcPct val="100000"/>
              </a:lnSpc>
              <a:spcBef>
                <a:spcPts val="0"/>
              </a:spcBef>
              <a:spcAft>
                <a:spcPts val="0"/>
              </a:spcAft>
              <a:buClr>
                <a:schemeClr val="dk1"/>
              </a:buClr>
              <a:buSzPts val="1100"/>
              <a:buFont typeface="Arial"/>
              <a:buNone/>
            </a:pPr>
            <a:r>
              <a:rPr lang="en-US" sz="1200"/>
              <a:t>Solución: Como extensión, desarrollaremos un segundo modelo que estime el margen EBITDA por rubro y ubicación, y lo integraremos para que el usuario pueda calcular su EBITDA proyectado a partir de la predicción de ventas y sus costos estimados. Incluso podríamos ofrecer una calculadora de punto de equilibrio.</a:t>
            </a:r>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endParaRPr sz="1200">
              <a:solidFill>
                <a:schemeClr val="dk1"/>
              </a:solidFill>
            </a:endParaRPr>
          </a:p>
          <a:p>
            <a:pPr marL="0" lvl="0" indent="0" algn="l" rtl="0">
              <a:lnSpc>
                <a:spcPct val="100000"/>
              </a:lnSpc>
              <a:spcBef>
                <a:spcPts val="0"/>
              </a:spcBef>
              <a:spcAft>
                <a:spcPts val="0"/>
              </a:spcAft>
              <a:buSzPts val="1100"/>
              <a:buNone/>
            </a:pPr>
            <a:r>
              <a:rPr lang="en-US" sz="1200">
                <a:solidFill>
                  <a:schemeClr val="dk1"/>
                </a:solidFill>
              </a:rPr>
              <a:t> Hipotesis del modelo: </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H1: Mayor antigüedad del negocio se asocia con mayores ventas.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H2: Ubicaciones con mayor flujo de personas generan mayores ventas.</a:t>
            </a:r>
            <a:endParaRPr sz="1200">
              <a:solidFill>
                <a:schemeClr val="dk1"/>
              </a:solidFill>
            </a:endParaRPr>
          </a:p>
          <a:p>
            <a:pPr marL="0" lvl="0" indent="0" algn="l" rtl="0">
              <a:lnSpc>
                <a:spcPct val="100000"/>
              </a:lnSpc>
              <a:spcBef>
                <a:spcPts val="0"/>
              </a:spcBef>
              <a:spcAft>
                <a:spcPts val="0"/>
              </a:spcAft>
              <a:buClr>
                <a:schemeClr val="dk1"/>
              </a:buClr>
              <a:buSzPts val="1100"/>
              <a:buFont typeface="Arial"/>
              <a:buNone/>
            </a:pPr>
            <a:r>
              <a:rPr lang="en-US" sz="1200">
                <a:solidFill>
                  <a:schemeClr val="dk1"/>
                </a:solidFill>
              </a:rPr>
              <a:t>H3: Un margen adecuado combinado con buen marketing incrementa ventas.</a:t>
            </a:r>
            <a:br>
              <a:rPr lang="en-US" sz="1200">
                <a:solidFill>
                  <a:schemeClr val="dk1"/>
                </a:solidFill>
              </a:rPr>
            </a:br>
            <a:r>
              <a:rPr lang="en-US" sz="1200">
                <a:solidFill>
                  <a:schemeClr val="dk1"/>
                </a:solidFill>
              </a:rPr>
              <a:t>H4: La relación entre variables no es completamente lineal.</a:t>
            </a:r>
            <a:endParaRPr sz="1200">
              <a:solidFill>
                <a:schemeClr val="dk1"/>
              </a:solidFill>
            </a:endParaRPr>
          </a:p>
          <a:p>
            <a:pPr marL="0" marR="0" lvl="0" indent="0" algn="l" rtl="0">
              <a:lnSpc>
                <a:spcPct val="100000"/>
              </a:lnSpc>
              <a:spcBef>
                <a:spcPts val="0"/>
              </a:spcBef>
              <a:spcAft>
                <a:spcPts val="0"/>
              </a:spcAft>
              <a:buSzPts val="1100"/>
              <a:buNone/>
            </a:pPr>
            <a:endParaRPr sz="1200">
              <a:solidFill>
                <a:schemeClr val="dk1"/>
              </a:solidFill>
            </a:endParaRPr>
          </a:p>
        </p:txBody>
      </p:sp>
      <p:sp>
        <p:nvSpPr>
          <p:cNvPr id="465" name="Google Shape;465;p2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fld id="{00000000-1234-1234-1234-123412341234}" type="slidenum">
              <a:rPr lang="en-US" sz="1800" b="0" i="0" u="none" strike="noStrike" cap="none">
                <a:solidFill>
                  <a:schemeClr val="dk1"/>
                </a:solidFill>
                <a:latin typeface="Arial"/>
                <a:ea typeface="Arial"/>
                <a:cs typeface="Arial"/>
                <a:sym typeface="Arial"/>
              </a:rPr>
              <a:t>19</a:t>
            </a:fld>
            <a:endParaRPr sz="1800" b="0" i="0" u="none" strike="noStrike" cap="non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1848"/>
        </a:solidFill>
        <a:effectLst/>
      </p:bgPr>
    </p:bg>
    <p:spTree>
      <p:nvGrpSpPr>
        <p:cNvPr id="1" name="Shape 12"/>
        <p:cNvGrpSpPr/>
        <p:nvPr/>
      </p:nvGrpSpPr>
      <p:grpSpPr>
        <a:xfrm>
          <a:off x="0" y="0"/>
          <a:ext cx="0" cy="0"/>
          <a:chOff x="0" y="0"/>
          <a:chExt cx="0" cy="0"/>
        </a:xfrm>
      </p:grpSpPr>
      <p:sp>
        <p:nvSpPr>
          <p:cNvPr id="13" name="Google Shape;13;p1"/>
          <p:cNvSpPr/>
          <p:nvPr/>
        </p:nvSpPr>
        <p:spPr>
          <a:xfrm>
            <a:off x="0" y="0"/>
            <a:ext cx="164592" cy="5143500"/>
          </a:xfrm>
          <a:prstGeom prst="rect">
            <a:avLst/>
          </a:prstGeom>
          <a:solidFill>
            <a:srgbClr val="D8D8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 name="Google Shape;14;p1"/>
          <p:cNvSpPr/>
          <p:nvPr/>
        </p:nvSpPr>
        <p:spPr>
          <a:xfrm>
            <a:off x="7059168" y="-571500"/>
            <a:ext cx="2926080" cy="2926080"/>
          </a:xfrm>
          <a:prstGeom prst="ellipse">
            <a:avLst/>
          </a:prstGeom>
          <a:solidFill>
            <a:srgbClr val="1A2E6E">
              <a:alpha val="70196"/>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 name="Google Shape;15;p1"/>
          <p:cNvSpPr/>
          <p:nvPr/>
        </p:nvSpPr>
        <p:spPr>
          <a:xfrm>
            <a:off x="8065008" y="3440431"/>
            <a:ext cx="1828800" cy="1828800"/>
          </a:xfrm>
          <a:prstGeom prst="ellipse">
            <a:avLst/>
          </a:prstGeom>
          <a:solidFill>
            <a:srgbClr val="0D2255">
              <a:alpha val="6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 name="Google Shape;16;p1"/>
          <p:cNvSpPr/>
          <p:nvPr/>
        </p:nvSpPr>
        <p:spPr>
          <a:xfrm>
            <a:off x="457200" y="1937388"/>
            <a:ext cx="7772400" cy="17373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4000" b="1" i="0" u="none" strike="noStrike" cap="none">
                <a:solidFill>
                  <a:srgbClr val="FFFFFF"/>
                </a:solidFill>
                <a:latin typeface="Calibri"/>
                <a:ea typeface="Calibri"/>
                <a:cs typeface="Calibri"/>
                <a:sym typeface="Calibri"/>
              </a:rPr>
              <a:t>Predicción de Ventas</a:t>
            </a:r>
            <a:endParaRPr sz="40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4200"/>
              <a:buFont typeface="Calibri"/>
              <a:buNone/>
            </a:pPr>
            <a:endParaRPr sz="4200" b="0" i="0" u="none" strike="noStrike" cap="none">
              <a:solidFill>
                <a:schemeClr val="dk1"/>
              </a:solidFill>
              <a:latin typeface="Calibri"/>
              <a:ea typeface="Calibri"/>
              <a:cs typeface="Calibri"/>
              <a:sym typeface="Calibri"/>
            </a:endParaRPr>
          </a:p>
        </p:txBody>
      </p:sp>
      <p:sp>
        <p:nvSpPr>
          <p:cNvPr id="17" name="Google Shape;17;p1"/>
          <p:cNvSpPr/>
          <p:nvPr/>
        </p:nvSpPr>
        <p:spPr>
          <a:xfrm>
            <a:off x="457200" y="4892040"/>
            <a:ext cx="8229600" cy="18288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7AB5"/>
              </a:buClr>
              <a:buSzPts val="850"/>
              <a:buFont typeface="Calibri"/>
              <a:buNone/>
            </a:pPr>
            <a:r>
              <a:rPr lang="en-US" sz="850" b="0" i="0" u="none" strike="noStrike" cap="none">
                <a:solidFill>
                  <a:srgbClr val="5A7AB5"/>
                </a:solidFill>
                <a:latin typeface="Calibri"/>
                <a:ea typeface="Calibri"/>
                <a:cs typeface="Calibri"/>
                <a:sym typeface="Calibri"/>
              </a:rPr>
              <a:t>Hackaton 2026 • Machine Learning Aplicado al Retail</a:t>
            </a:r>
            <a:endParaRPr sz="850" b="0" i="0" u="none" strike="noStrike" cap="none">
              <a:solidFill>
                <a:schemeClr val="dk1"/>
              </a:solidFill>
              <a:latin typeface="Calibri"/>
              <a:ea typeface="Calibri"/>
              <a:cs typeface="Calibri"/>
              <a:sym typeface="Calibri"/>
            </a:endParaRPr>
          </a:p>
        </p:txBody>
      </p:sp>
      <p:sp>
        <p:nvSpPr>
          <p:cNvPr id="18" name="Google Shape;18;p1"/>
          <p:cNvSpPr/>
          <p:nvPr/>
        </p:nvSpPr>
        <p:spPr>
          <a:xfrm>
            <a:off x="630936" y="2571750"/>
            <a:ext cx="731520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00"/>
              <a:buFont typeface="Arial"/>
              <a:buNone/>
            </a:pPr>
            <a:r>
              <a:rPr lang="en-US" sz="1700" b="0" i="0" u="none" strike="noStrike" cap="none">
                <a:solidFill>
                  <a:srgbClr val="A0B8C8"/>
                </a:solidFill>
                <a:latin typeface="Calibri"/>
                <a:ea typeface="Calibri"/>
                <a:cs typeface="Calibri"/>
                <a:sym typeface="Calibri"/>
              </a:rPr>
              <a:t>Usando Variables Estructurales y Machine Learning</a:t>
            </a:r>
            <a:endParaRPr sz="1700" b="0" i="0" u="none" strike="noStrike" cap="none">
              <a:solidFill>
                <a:srgbClr val="000000"/>
              </a:solidFill>
              <a:latin typeface="Arial"/>
              <a:ea typeface="Arial"/>
              <a:cs typeface="Arial"/>
              <a:sym typeface="Arial"/>
            </a:endParaRPr>
          </a:p>
        </p:txBody>
      </p:sp>
      <p:sp>
        <p:nvSpPr>
          <p:cNvPr id="19" name="Google Shape;19;p1"/>
          <p:cNvSpPr/>
          <p:nvPr/>
        </p:nvSpPr>
        <p:spPr>
          <a:xfrm>
            <a:off x="630936" y="1343024"/>
            <a:ext cx="731520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chemeClr val="lt1"/>
                </a:solidFill>
                <a:latin typeface="Calibri"/>
                <a:ea typeface="Calibri"/>
                <a:cs typeface="Calibri"/>
                <a:sym typeface="Calibri"/>
              </a:rPr>
              <a:t>MODELO PREDICTIVO DE NEGOCIOS</a:t>
            </a:r>
            <a:endParaRPr sz="1000" b="0" i="0" u="none" strike="noStrike" cap="none">
              <a:solidFill>
                <a:schemeClr val="lt1"/>
              </a:solidFill>
              <a:latin typeface="Arial"/>
              <a:ea typeface="Arial"/>
              <a:cs typeface="Arial"/>
              <a:sym typeface="Arial"/>
            </a:endParaRPr>
          </a:p>
        </p:txBody>
      </p:sp>
      <p:sp>
        <p:nvSpPr>
          <p:cNvPr id="20" name="Google Shape;20;p1"/>
          <p:cNvSpPr/>
          <p:nvPr/>
        </p:nvSpPr>
        <p:spPr>
          <a:xfrm>
            <a:off x="457200" y="1097280"/>
            <a:ext cx="54864" cy="2926080"/>
          </a:xfrm>
          <a:prstGeom prst="rect">
            <a:avLst/>
          </a:pr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1" name="Google Shape;21;p1"/>
          <p:cNvSpPr/>
          <p:nvPr/>
        </p:nvSpPr>
        <p:spPr>
          <a:xfrm>
            <a:off x="457200" y="4114800"/>
            <a:ext cx="8229600" cy="13716"/>
          </a:xfrm>
          <a:prstGeom prst="rect">
            <a:avLst/>
          </a:prstGeom>
          <a:solidFill>
            <a:srgbClr val="2A3E5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2" name="Google Shape;22;p1"/>
          <p:cNvSpPr/>
          <p:nvPr/>
        </p:nvSpPr>
        <p:spPr>
          <a:xfrm>
            <a:off x="484632" y="4128516"/>
            <a:ext cx="8229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US" sz="1100" b="0" i="0" u="none" strike="noStrike" cap="none">
                <a:solidFill>
                  <a:srgbClr val="5A7A8A"/>
                </a:solidFill>
                <a:latin typeface="Calibri"/>
                <a:ea typeface="Calibri"/>
                <a:cs typeface="Calibri"/>
                <a:sym typeface="Calibri"/>
              </a:rPr>
              <a:t>KNN  ·  Random Forest  ·  20 Variables Clave  ·  3,000 Locales Analizados</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
        <p:cNvGrpSpPr/>
        <p:nvPr/>
      </p:nvGrpSpPr>
      <p:grpSpPr>
        <a:xfrm>
          <a:off x="0" y="0"/>
          <a:ext cx="0" cy="0"/>
          <a:chOff x="0" y="0"/>
          <a:chExt cx="0" cy="0"/>
        </a:xfrm>
      </p:grpSpPr>
      <p:sp>
        <p:nvSpPr>
          <p:cNvPr id="28" name="Google Shape;28;p20"/>
          <p:cNvSpPr/>
          <p:nvPr/>
        </p:nvSpPr>
        <p:spPr>
          <a:xfrm>
            <a:off x="9144" y="-9144"/>
            <a:ext cx="9144000" cy="708660"/>
          </a:xfrm>
          <a:prstGeom prst="rect">
            <a:avLst/>
          </a:prstGeom>
          <a:solidFill>
            <a:srgbClr val="00184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29" name="Google Shape;29;p20"/>
          <p:cNvSpPr/>
          <p:nvPr/>
        </p:nvSpPr>
        <p:spPr>
          <a:xfrm>
            <a:off x="182880" y="-4572"/>
            <a:ext cx="8229600" cy="685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1" i="0" u="none" strike="noStrike" cap="none">
                <a:solidFill>
                  <a:srgbClr val="FFFFFF"/>
                </a:solidFill>
                <a:latin typeface="Calibri"/>
                <a:ea typeface="Calibri"/>
                <a:cs typeface="Calibri"/>
                <a:sym typeface="Calibri"/>
              </a:rPr>
              <a:t>El Problema · La Solución</a:t>
            </a:r>
            <a:endParaRPr sz="2600" b="0" i="0" u="none" strike="noStrike" cap="none">
              <a:solidFill>
                <a:srgbClr val="000000"/>
              </a:solidFill>
              <a:latin typeface="Arial"/>
              <a:ea typeface="Arial"/>
              <a:cs typeface="Arial"/>
              <a:sym typeface="Arial"/>
            </a:endParaRPr>
          </a:p>
        </p:txBody>
      </p:sp>
      <p:sp>
        <p:nvSpPr>
          <p:cNvPr id="30" name="Google Shape;30;p20"/>
          <p:cNvSpPr/>
          <p:nvPr/>
        </p:nvSpPr>
        <p:spPr>
          <a:xfrm>
            <a:off x="4526280" y="1005840"/>
            <a:ext cx="54864" cy="3575304"/>
          </a:xfrm>
          <a:prstGeom prst="rect">
            <a:avLst/>
          </a:prstGeom>
          <a:solidFill>
            <a:srgbClr val="D0DCE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 name="Google Shape;31;p20"/>
          <p:cNvSpPr/>
          <p:nvPr/>
        </p:nvSpPr>
        <p:spPr>
          <a:xfrm>
            <a:off x="365760" y="1051560"/>
            <a:ext cx="393192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C0392B"/>
                </a:solidFill>
                <a:latin typeface="Calibri"/>
                <a:ea typeface="Calibri"/>
                <a:cs typeface="Calibri"/>
                <a:sym typeface="Calibri"/>
              </a:rPr>
              <a:t>⚠  El Problema</a:t>
            </a:r>
            <a:endParaRPr sz="1500" b="0" i="0" u="none" strike="noStrike" cap="none">
              <a:solidFill>
                <a:srgbClr val="000000"/>
              </a:solidFill>
              <a:latin typeface="Arial"/>
              <a:ea typeface="Arial"/>
              <a:cs typeface="Arial"/>
              <a:sym typeface="Arial"/>
            </a:endParaRPr>
          </a:p>
        </p:txBody>
      </p:sp>
      <p:sp>
        <p:nvSpPr>
          <p:cNvPr id="32" name="Google Shape;32;p20"/>
          <p:cNvSpPr/>
          <p:nvPr/>
        </p:nvSpPr>
        <p:spPr>
          <a:xfrm>
            <a:off x="365760" y="1554480"/>
            <a:ext cx="393192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 name="Google Shape;33;p20"/>
          <p:cNvSpPr/>
          <p:nvPr/>
        </p:nvSpPr>
        <p:spPr>
          <a:xfrm>
            <a:off x="365760" y="1554480"/>
            <a:ext cx="54864" cy="914400"/>
          </a:xfrm>
          <a:prstGeom prst="rect">
            <a:avLst/>
          </a:prstGeom>
          <a:solidFill>
            <a:srgbClr val="C0392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 name="Google Shape;34;p20"/>
          <p:cNvSpPr/>
          <p:nvPr/>
        </p:nvSpPr>
        <p:spPr>
          <a:xfrm>
            <a:off x="530352" y="1618488"/>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Alta tasa de fracaso</a:t>
            </a:r>
            <a:endParaRPr sz="1200" b="0" i="0" u="none" strike="noStrike" cap="none">
              <a:solidFill>
                <a:srgbClr val="000000"/>
              </a:solidFill>
              <a:latin typeface="Arial"/>
              <a:ea typeface="Arial"/>
              <a:cs typeface="Arial"/>
              <a:sym typeface="Arial"/>
            </a:endParaRPr>
          </a:p>
        </p:txBody>
      </p:sp>
      <p:sp>
        <p:nvSpPr>
          <p:cNvPr id="35" name="Google Shape;35;p20"/>
          <p:cNvSpPr/>
          <p:nvPr/>
        </p:nvSpPr>
        <p:spPr>
          <a:xfrm>
            <a:off x="530352" y="1883664"/>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50–70% de los nuevos negocios cierra antes de los 5 años. Rubro y ubicación son factores decisivos.</a:t>
            </a:r>
            <a:endParaRPr sz="1050" b="0" i="0" u="none" strike="noStrike" cap="none">
              <a:solidFill>
                <a:srgbClr val="000000"/>
              </a:solidFill>
              <a:latin typeface="Arial"/>
              <a:ea typeface="Arial"/>
              <a:cs typeface="Arial"/>
              <a:sym typeface="Arial"/>
            </a:endParaRPr>
          </a:p>
        </p:txBody>
      </p:sp>
      <p:sp>
        <p:nvSpPr>
          <p:cNvPr id="36" name="Google Shape;36;p20"/>
          <p:cNvSpPr/>
          <p:nvPr/>
        </p:nvSpPr>
        <p:spPr>
          <a:xfrm>
            <a:off x="365760" y="2578608"/>
            <a:ext cx="393192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 name="Google Shape;37;p20"/>
          <p:cNvSpPr/>
          <p:nvPr/>
        </p:nvSpPr>
        <p:spPr>
          <a:xfrm>
            <a:off x="365760" y="2578608"/>
            <a:ext cx="54864" cy="914400"/>
          </a:xfrm>
          <a:prstGeom prst="rect">
            <a:avLst/>
          </a:prstGeom>
          <a:solidFill>
            <a:srgbClr val="C0392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 name="Google Shape;38;p20"/>
          <p:cNvSpPr/>
          <p:nvPr/>
        </p:nvSpPr>
        <p:spPr>
          <a:xfrm>
            <a:off x="530352" y="2642616"/>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Decisiones basadas en intuición</a:t>
            </a:r>
            <a:endParaRPr sz="1200" b="0" i="0" u="none" strike="noStrike" cap="none">
              <a:solidFill>
                <a:srgbClr val="000000"/>
              </a:solidFill>
              <a:latin typeface="Arial"/>
              <a:ea typeface="Arial"/>
              <a:cs typeface="Arial"/>
              <a:sym typeface="Arial"/>
            </a:endParaRPr>
          </a:p>
        </p:txBody>
      </p:sp>
      <p:sp>
        <p:nvSpPr>
          <p:cNvPr id="39" name="Google Shape;39;p20"/>
          <p:cNvSpPr/>
          <p:nvPr/>
        </p:nvSpPr>
        <p:spPr>
          <a:xfrm>
            <a:off x="530352" y="2907792"/>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Los propietarios invierten sin contar con datos objetivos que respalden la decisión.</a:t>
            </a:r>
            <a:endParaRPr sz="1050" b="0" i="0" u="none" strike="noStrike" cap="none">
              <a:solidFill>
                <a:srgbClr val="000000"/>
              </a:solidFill>
              <a:latin typeface="Arial"/>
              <a:ea typeface="Arial"/>
              <a:cs typeface="Arial"/>
              <a:sym typeface="Arial"/>
            </a:endParaRPr>
          </a:p>
        </p:txBody>
      </p:sp>
      <p:sp>
        <p:nvSpPr>
          <p:cNvPr id="40" name="Google Shape;40;p20"/>
          <p:cNvSpPr/>
          <p:nvPr/>
        </p:nvSpPr>
        <p:spPr>
          <a:xfrm>
            <a:off x="365760" y="3602736"/>
            <a:ext cx="393192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 name="Google Shape;41;p20"/>
          <p:cNvSpPr/>
          <p:nvPr/>
        </p:nvSpPr>
        <p:spPr>
          <a:xfrm>
            <a:off x="365760" y="3602736"/>
            <a:ext cx="54864" cy="914400"/>
          </a:xfrm>
          <a:prstGeom prst="rect">
            <a:avLst/>
          </a:prstGeom>
          <a:solidFill>
            <a:srgbClr val="C0392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 name="Google Shape;42;p20"/>
          <p:cNvSpPr/>
          <p:nvPr/>
        </p:nvSpPr>
        <p:spPr>
          <a:xfrm>
            <a:off x="530352" y="3666744"/>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Sin herramienta de estimación</a:t>
            </a:r>
            <a:endParaRPr sz="1200" b="0" i="0" u="none" strike="noStrike" cap="none">
              <a:solidFill>
                <a:srgbClr val="000000"/>
              </a:solidFill>
              <a:latin typeface="Arial"/>
              <a:ea typeface="Arial"/>
              <a:cs typeface="Arial"/>
              <a:sym typeface="Arial"/>
            </a:endParaRPr>
          </a:p>
        </p:txBody>
      </p:sp>
      <p:sp>
        <p:nvSpPr>
          <p:cNvPr id="43" name="Google Shape;43;p20"/>
          <p:cNvSpPr/>
          <p:nvPr/>
        </p:nvSpPr>
        <p:spPr>
          <a:xfrm>
            <a:off x="530352" y="3931920"/>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No existe una herramienta que calcule ventas esperadas antes de firmar un contrato de arrendamiento.</a:t>
            </a:r>
            <a:endParaRPr sz="1050" b="0" i="0" u="none" strike="noStrike" cap="none">
              <a:solidFill>
                <a:srgbClr val="000000"/>
              </a:solidFill>
              <a:latin typeface="Arial"/>
              <a:ea typeface="Arial"/>
              <a:cs typeface="Arial"/>
              <a:sym typeface="Arial"/>
            </a:endParaRPr>
          </a:p>
        </p:txBody>
      </p:sp>
      <p:sp>
        <p:nvSpPr>
          <p:cNvPr id="44" name="Google Shape;44;p20"/>
          <p:cNvSpPr/>
          <p:nvPr/>
        </p:nvSpPr>
        <p:spPr>
          <a:xfrm>
            <a:off x="4800600" y="1051560"/>
            <a:ext cx="397764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500" b="1" i="0" u="none" strike="noStrike" cap="none">
                <a:solidFill>
                  <a:srgbClr val="00855A"/>
                </a:solidFill>
                <a:latin typeface="Calibri"/>
                <a:ea typeface="Calibri"/>
                <a:cs typeface="Calibri"/>
                <a:sym typeface="Calibri"/>
              </a:rPr>
              <a:t>✓  La Solución</a:t>
            </a:r>
            <a:endParaRPr sz="1500" b="0" i="0" u="none" strike="noStrike" cap="none">
              <a:solidFill>
                <a:srgbClr val="000000"/>
              </a:solidFill>
              <a:latin typeface="Arial"/>
              <a:ea typeface="Arial"/>
              <a:cs typeface="Arial"/>
              <a:sym typeface="Arial"/>
            </a:endParaRPr>
          </a:p>
        </p:txBody>
      </p:sp>
      <p:sp>
        <p:nvSpPr>
          <p:cNvPr id="45" name="Google Shape;45;p20"/>
          <p:cNvSpPr/>
          <p:nvPr/>
        </p:nvSpPr>
        <p:spPr>
          <a:xfrm>
            <a:off x="4800600" y="1554480"/>
            <a:ext cx="397764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 name="Google Shape;46;p20"/>
          <p:cNvSpPr/>
          <p:nvPr/>
        </p:nvSpPr>
        <p:spPr>
          <a:xfrm>
            <a:off x="4800600" y="1554480"/>
            <a:ext cx="54864" cy="914400"/>
          </a:xfrm>
          <a:prstGeom prst="rect">
            <a:avLst/>
          </a:prstGeom>
          <a:solidFill>
            <a:srgbClr val="FFD9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 name="Google Shape;47;p20"/>
          <p:cNvSpPr/>
          <p:nvPr/>
        </p:nvSpPr>
        <p:spPr>
          <a:xfrm>
            <a:off x="4965192" y="1618488"/>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Algoritmos de ML entrenados</a:t>
            </a:r>
            <a:endParaRPr sz="1200" b="0" i="0" u="none" strike="noStrike" cap="none">
              <a:solidFill>
                <a:srgbClr val="000000"/>
              </a:solidFill>
              <a:latin typeface="Arial"/>
              <a:ea typeface="Arial"/>
              <a:cs typeface="Arial"/>
              <a:sym typeface="Arial"/>
            </a:endParaRPr>
          </a:p>
        </p:txBody>
      </p:sp>
      <p:sp>
        <p:nvSpPr>
          <p:cNvPr id="48" name="Google Shape;48;p20"/>
          <p:cNvSpPr/>
          <p:nvPr/>
        </p:nvSpPr>
        <p:spPr>
          <a:xfrm>
            <a:off x="4965192" y="1883664"/>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KNN y Random Forest entrenados con 3,000 locales para predecir ventas anuales con alta precisión.</a:t>
            </a:r>
            <a:endParaRPr sz="1050" b="0" i="0" u="none" strike="noStrike" cap="none">
              <a:solidFill>
                <a:srgbClr val="000000"/>
              </a:solidFill>
              <a:latin typeface="Arial"/>
              <a:ea typeface="Arial"/>
              <a:cs typeface="Arial"/>
              <a:sym typeface="Arial"/>
            </a:endParaRPr>
          </a:p>
        </p:txBody>
      </p:sp>
      <p:sp>
        <p:nvSpPr>
          <p:cNvPr id="49" name="Google Shape;49;p20"/>
          <p:cNvSpPr/>
          <p:nvPr/>
        </p:nvSpPr>
        <p:spPr>
          <a:xfrm>
            <a:off x="4800600" y="2578608"/>
            <a:ext cx="397764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 name="Google Shape;50;p20"/>
          <p:cNvSpPr/>
          <p:nvPr/>
        </p:nvSpPr>
        <p:spPr>
          <a:xfrm>
            <a:off x="4800600" y="2578608"/>
            <a:ext cx="54864" cy="914400"/>
          </a:xfrm>
          <a:prstGeom prst="rect">
            <a:avLst/>
          </a:prstGeom>
          <a:solidFill>
            <a:srgbClr val="FFD9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 name="Google Shape;51;p20"/>
          <p:cNvSpPr/>
          <p:nvPr/>
        </p:nvSpPr>
        <p:spPr>
          <a:xfrm>
            <a:off x="4965192" y="2642616"/>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20 variables estructurales</a:t>
            </a:r>
            <a:endParaRPr sz="1200" b="0" i="0" u="none" strike="noStrike" cap="none">
              <a:solidFill>
                <a:srgbClr val="000000"/>
              </a:solidFill>
              <a:latin typeface="Arial"/>
              <a:ea typeface="Arial"/>
              <a:cs typeface="Arial"/>
              <a:sym typeface="Arial"/>
            </a:endParaRPr>
          </a:p>
        </p:txBody>
      </p:sp>
      <p:sp>
        <p:nvSpPr>
          <p:cNvPr id="52" name="Google Shape;52;p20"/>
          <p:cNvSpPr/>
          <p:nvPr/>
        </p:nvSpPr>
        <p:spPr>
          <a:xfrm>
            <a:off x="4965192" y="2907792"/>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Ubicación, NSE, rubro, marketing, tránsito peatonal y más — capturan toda la complejidad del negocio.</a:t>
            </a:r>
            <a:endParaRPr sz="1050" b="0" i="0" u="none" strike="noStrike" cap="none">
              <a:solidFill>
                <a:srgbClr val="000000"/>
              </a:solidFill>
              <a:latin typeface="Arial"/>
              <a:ea typeface="Arial"/>
              <a:cs typeface="Arial"/>
              <a:sym typeface="Arial"/>
            </a:endParaRPr>
          </a:p>
        </p:txBody>
      </p:sp>
      <p:sp>
        <p:nvSpPr>
          <p:cNvPr id="53" name="Google Shape;53;p20"/>
          <p:cNvSpPr/>
          <p:nvPr/>
        </p:nvSpPr>
        <p:spPr>
          <a:xfrm>
            <a:off x="4800600" y="3602736"/>
            <a:ext cx="3977640" cy="914400"/>
          </a:xfrm>
          <a:prstGeom prst="rect">
            <a:avLst/>
          </a:prstGeom>
          <a:solidFill>
            <a:srgbClr val="FFFFFF"/>
          </a:solidFill>
          <a:ln w="9525" cap="flat" cmpd="sng">
            <a:solidFill>
              <a:srgbClr val="E8EDF2"/>
            </a:solidFill>
            <a:prstDash val="solid"/>
            <a:round/>
            <a:headEnd type="none" w="sm" len="sm"/>
            <a:tailEnd type="none" w="sm" len="sm"/>
          </a:ln>
          <a:effectLst>
            <a:outerShdw blurRad="50800" dist="254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 name="Google Shape;54;p20"/>
          <p:cNvSpPr/>
          <p:nvPr/>
        </p:nvSpPr>
        <p:spPr>
          <a:xfrm>
            <a:off x="4800600" y="3602736"/>
            <a:ext cx="54864" cy="914400"/>
          </a:xfrm>
          <a:prstGeom prst="rect">
            <a:avLst/>
          </a:prstGeom>
          <a:solidFill>
            <a:srgbClr val="FFD9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5" name="Google Shape;55;p20"/>
          <p:cNvSpPr/>
          <p:nvPr/>
        </p:nvSpPr>
        <p:spPr>
          <a:xfrm>
            <a:off x="4965192" y="3666744"/>
            <a:ext cx="3749040" cy="25603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2A"/>
                </a:solidFill>
                <a:latin typeface="Calibri"/>
                <a:ea typeface="Calibri"/>
                <a:cs typeface="Calibri"/>
                <a:sym typeface="Calibri"/>
              </a:rPr>
              <a:t>Estimación en segundos</a:t>
            </a:r>
            <a:endParaRPr sz="1200" b="0" i="0" u="none" strike="noStrike" cap="none">
              <a:solidFill>
                <a:srgbClr val="000000"/>
              </a:solidFill>
              <a:latin typeface="Arial"/>
              <a:ea typeface="Arial"/>
              <a:cs typeface="Arial"/>
              <a:sym typeface="Arial"/>
            </a:endParaRPr>
          </a:p>
        </p:txBody>
      </p:sp>
      <p:sp>
        <p:nvSpPr>
          <p:cNvPr id="56" name="Google Shape;56;p20"/>
          <p:cNvSpPr/>
          <p:nvPr/>
        </p:nvSpPr>
        <p:spPr>
          <a:xfrm>
            <a:off x="4965192" y="3931920"/>
            <a:ext cx="374904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50"/>
              <a:buFont typeface="Arial"/>
              <a:buNone/>
            </a:pPr>
            <a:r>
              <a:rPr lang="en-US" sz="1050" b="0" i="0" u="none" strike="noStrike" cap="none">
                <a:solidFill>
                  <a:srgbClr val="4A6070"/>
                </a:solidFill>
                <a:latin typeface="Calibri"/>
                <a:ea typeface="Calibri"/>
                <a:cs typeface="Calibri"/>
                <a:sym typeface="Calibri"/>
              </a:rPr>
              <a:t>Ingresás los datos del local y obtenés una estimación de ventas antes de comprometerte.</a:t>
            </a:r>
            <a:endParaRPr sz="1050" b="0" i="0" u="none" strike="noStrike" cap="none">
              <a:solidFill>
                <a:srgbClr val="000000"/>
              </a:solidFill>
              <a:latin typeface="Arial"/>
              <a:ea typeface="Arial"/>
              <a:cs typeface="Arial"/>
              <a:sym typeface="Arial"/>
            </a:endParaRPr>
          </a:p>
        </p:txBody>
      </p:sp>
      <p:sp>
        <p:nvSpPr>
          <p:cNvPr id="57" name="Google Shape;57;p20"/>
          <p:cNvSpPr/>
          <p:nvPr/>
        </p:nvSpPr>
        <p:spPr>
          <a:xfrm>
            <a:off x="521208" y="2303928"/>
            <a:ext cx="3886200" cy="183600"/>
          </a:xfrm>
          <a:prstGeom prst="rect">
            <a:avLst/>
          </a:prstGeom>
          <a:solidFill>
            <a:srgbClr val="EEF4FF"/>
          </a:solidFill>
          <a:ln>
            <a:noFill/>
          </a:ln>
        </p:spPr>
        <p:txBody>
          <a:bodyPr spcFirstLastPara="1" wrap="square" lIns="91425" tIns="30000" rIns="91425" bIns="30000" anchor="ctr" anchorCtr="0">
            <a:noAutofit/>
          </a:bodyPr>
          <a:lstStyle/>
          <a:p>
            <a:pPr marL="0" marR="0" lvl="0" indent="0" algn="l" rtl="0">
              <a:lnSpc>
                <a:spcPct val="100000"/>
              </a:lnSpc>
              <a:spcBef>
                <a:spcPts val="0"/>
              </a:spcBef>
              <a:spcAft>
                <a:spcPts val="0"/>
              </a:spcAft>
              <a:buClr>
                <a:srgbClr val="000000"/>
              </a:buClr>
              <a:buSzPts val="600"/>
              <a:buFont typeface="Arial"/>
              <a:buNone/>
            </a:pPr>
            <a:r>
              <a:rPr lang="en-US" sz="600" b="0" i="1" u="none" strike="noStrike" cap="none">
                <a:solidFill>
                  <a:srgbClr val="5070A0"/>
                </a:solidFill>
                <a:latin typeface="Calibri"/>
                <a:ea typeface="Calibri"/>
                <a:cs typeface="Calibri"/>
                <a:sym typeface="Calibri"/>
              </a:rPr>
              <a:t>Fuente: CAME 2025 – Argentina Relevamiento de emprendimientos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62"/>
        <p:cNvGrpSpPr/>
        <p:nvPr/>
      </p:nvGrpSpPr>
      <p:grpSpPr>
        <a:xfrm>
          <a:off x="0" y="0"/>
          <a:ext cx="0" cy="0"/>
          <a:chOff x="0" y="0"/>
          <a:chExt cx="0" cy="0"/>
        </a:xfrm>
      </p:grpSpPr>
      <p:sp>
        <p:nvSpPr>
          <p:cNvPr id="63" name="Google Shape;63;p3"/>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4" name="Google Shape;64;p3"/>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DETALLE DEL DATASET</a:t>
            </a:r>
            <a:endParaRPr sz="2200" b="0" i="0" u="none" strike="noStrike" cap="none">
              <a:solidFill>
                <a:schemeClr val="dk1"/>
              </a:solidFill>
              <a:latin typeface="Calibri"/>
              <a:ea typeface="Calibri"/>
              <a:cs typeface="Calibri"/>
              <a:sym typeface="Calibri"/>
            </a:endParaRPr>
          </a:p>
        </p:txBody>
      </p:sp>
      <p:sp>
        <p:nvSpPr>
          <p:cNvPr id="65" name="Google Shape;65;p3"/>
          <p:cNvSpPr/>
          <p:nvPr/>
        </p:nvSpPr>
        <p:spPr>
          <a:xfrm>
            <a:off x="0" y="777240"/>
            <a:ext cx="9144000" cy="54864"/>
          </a:xfrm>
          <a:prstGeom prst="rect">
            <a:avLst/>
          </a:prstGeom>
          <a:gradFill>
            <a:gsLst>
              <a:gs pos="0">
                <a:srgbClr val="DBDBDB"/>
              </a:gs>
              <a:gs pos="46000">
                <a:srgbClr val="A8A8A8"/>
              </a:gs>
              <a:gs pos="100000">
                <a:srgbClr val="636363"/>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66" name="Google Shape;66;p3"/>
          <p:cNvGrpSpPr/>
          <p:nvPr/>
        </p:nvGrpSpPr>
        <p:grpSpPr>
          <a:xfrm>
            <a:off x="1029947" y="1051560"/>
            <a:ext cx="1920240" cy="1005840"/>
            <a:chOff x="320040" y="1005840"/>
            <a:chExt cx="1920240" cy="1005840"/>
          </a:xfrm>
        </p:grpSpPr>
        <p:grpSp>
          <p:nvGrpSpPr>
            <p:cNvPr id="67" name="Google Shape;67;p3"/>
            <p:cNvGrpSpPr/>
            <p:nvPr/>
          </p:nvGrpSpPr>
          <p:grpSpPr>
            <a:xfrm>
              <a:off x="320040" y="1005840"/>
              <a:ext cx="1920240" cy="1005840"/>
              <a:chOff x="320040" y="1005840"/>
              <a:chExt cx="1920240" cy="1005840"/>
            </a:xfrm>
          </p:grpSpPr>
          <p:sp>
            <p:nvSpPr>
              <p:cNvPr id="68" name="Google Shape;68;p3"/>
              <p:cNvSpPr/>
              <p:nvPr/>
            </p:nvSpPr>
            <p:spPr>
              <a:xfrm>
                <a:off x="320040" y="1005840"/>
                <a:ext cx="1920240" cy="10058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9" name="Google Shape;69;p3"/>
              <p:cNvSpPr/>
              <p:nvPr/>
            </p:nvSpPr>
            <p:spPr>
              <a:xfrm>
                <a:off x="320040" y="1115568"/>
                <a:ext cx="19202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65C0"/>
                  </a:buClr>
                  <a:buSzPts val="2800"/>
                  <a:buFont typeface="Calibri"/>
                  <a:buNone/>
                </a:pPr>
                <a:r>
                  <a:rPr lang="en-US" sz="2800" b="1" i="0" u="none" strike="noStrike" cap="none">
                    <a:solidFill>
                      <a:srgbClr val="1565C0"/>
                    </a:solidFill>
                    <a:latin typeface="Calibri"/>
                    <a:ea typeface="Calibri"/>
                    <a:cs typeface="Calibri"/>
                    <a:sym typeface="Calibri"/>
                  </a:rPr>
                  <a:t>3,000</a:t>
                </a:r>
                <a:endParaRPr sz="2800" b="0" i="0" u="none" strike="noStrike" cap="none">
                  <a:solidFill>
                    <a:schemeClr val="dk1"/>
                  </a:solidFill>
                  <a:latin typeface="Calibri"/>
                  <a:ea typeface="Calibri"/>
                  <a:cs typeface="Calibri"/>
                  <a:sym typeface="Calibri"/>
                </a:endParaRPr>
              </a:p>
            </p:txBody>
          </p:sp>
          <p:sp>
            <p:nvSpPr>
              <p:cNvPr id="70" name="Google Shape;70;p3"/>
              <p:cNvSpPr/>
              <p:nvPr/>
            </p:nvSpPr>
            <p:spPr>
              <a:xfrm>
                <a:off x="320040" y="1609344"/>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Registros totales</a:t>
                </a:r>
                <a:endParaRPr sz="950" b="0" i="0" u="none" strike="noStrike" cap="none">
                  <a:solidFill>
                    <a:schemeClr val="dk1"/>
                  </a:solidFill>
                  <a:latin typeface="Calibri"/>
                  <a:ea typeface="Calibri"/>
                  <a:cs typeface="Calibri"/>
                  <a:sym typeface="Calibri"/>
                </a:endParaRPr>
              </a:p>
            </p:txBody>
          </p:sp>
        </p:grpSp>
        <p:sp>
          <p:nvSpPr>
            <p:cNvPr id="71" name="Google Shape;71;p3"/>
            <p:cNvSpPr/>
            <p:nvPr/>
          </p:nvSpPr>
          <p:spPr>
            <a:xfrm>
              <a:off x="320040" y="1005840"/>
              <a:ext cx="1920240" cy="64008"/>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nvGrpSpPr>
          <p:cNvPr id="72" name="Google Shape;72;p3"/>
          <p:cNvGrpSpPr/>
          <p:nvPr/>
        </p:nvGrpSpPr>
        <p:grpSpPr>
          <a:xfrm>
            <a:off x="3538729" y="1060704"/>
            <a:ext cx="1920240" cy="1005840"/>
            <a:chOff x="2496312" y="1005840"/>
            <a:chExt cx="1920240" cy="1005840"/>
          </a:xfrm>
        </p:grpSpPr>
        <p:sp>
          <p:nvSpPr>
            <p:cNvPr id="73" name="Google Shape;73;p3"/>
            <p:cNvSpPr/>
            <p:nvPr/>
          </p:nvSpPr>
          <p:spPr>
            <a:xfrm>
              <a:off x="2496312" y="1005840"/>
              <a:ext cx="1920240" cy="10058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74;p3"/>
            <p:cNvSpPr/>
            <p:nvPr/>
          </p:nvSpPr>
          <p:spPr>
            <a:xfrm>
              <a:off x="2496312" y="1005840"/>
              <a:ext cx="1920240" cy="64008"/>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5" name="Google Shape;75;p3"/>
            <p:cNvSpPr/>
            <p:nvPr/>
          </p:nvSpPr>
          <p:spPr>
            <a:xfrm>
              <a:off x="2496312" y="1115568"/>
              <a:ext cx="19202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65C0"/>
                </a:buClr>
                <a:buSzPts val="2800"/>
                <a:buFont typeface="Calibri"/>
                <a:buNone/>
              </a:pPr>
              <a:r>
                <a:rPr lang="en-US" sz="2800" b="1" i="0" u="none" strike="noStrike" cap="none">
                  <a:solidFill>
                    <a:srgbClr val="1565C0"/>
                  </a:solidFill>
                  <a:latin typeface="Calibri"/>
                  <a:ea typeface="Calibri"/>
                  <a:cs typeface="Calibri"/>
                  <a:sym typeface="Calibri"/>
                </a:rPr>
                <a:t>20</a:t>
              </a:r>
              <a:endParaRPr sz="2800" b="0" i="0" u="none" strike="noStrike" cap="none">
                <a:solidFill>
                  <a:schemeClr val="dk1"/>
                </a:solidFill>
                <a:latin typeface="Calibri"/>
                <a:ea typeface="Calibri"/>
                <a:cs typeface="Calibri"/>
                <a:sym typeface="Calibri"/>
              </a:endParaRPr>
            </a:p>
          </p:txBody>
        </p:sp>
        <p:sp>
          <p:nvSpPr>
            <p:cNvPr id="76" name="Google Shape;76;p3"/>
            <p:cNvSpPr/>
            <p:nvPr/>
          </p:nvSpPr>
          <p:spPr>
            <a:xfrm>
              <a:off x="2496312" y="1609344"/>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Variables</a:t>
              </a:r>
              <a:endParaRPr sz="950" b="0" i="0" u="none" strike="noStrike" cap="none">
                <a:solidFill>
                  <a:schemeClr val="dk1"/>
                </a:solidFill>
                <a:latin typeface="Calibri"/>
                <a:ea typeface="Calibri"/>
                <a:cs typeface="Calibri"/>
                <a:sym typeface="Calibri"/>
              </a:endParaRPr>
            </a:p>
          </p:txBody>
        </p:sp>
      </p:grpSp>
      <p:grpSp>
        <p:nvGrpSpPr>
          <p:cNvPr id="77" name="Google Shape;77;p3"/>
          <p:cNvGrpSpPr/>
          <p:nvPr/>
        </p:nvGrpSpPr>
        <p:grpSpPr>
          <a:xfrm>
            <a:off x="6118999" y="1037844"/>
            <a:ext cx="1920240" cy="1005840"/>
            <a:chOff x="6193814" y="987552"/>
            <a:chExt cx="1920240" cy="1005840"/>
          </a:xfrm>
        </p:grpSpPr>
        <p:sp>
          <p:nvSpPr>
            <p:cNvPr id="78" name="Google Shape;78;p3"/>
            <p:cNvSpPr/>
            <p:nvPr/>
          </p:nvSpPr>
          <p:spPr>
            <a:xfrm>
              <a:off x="6193814" y="987552"/>
              <a:ext cx="1920240" cy="10058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79" name="Google Shape;79;p3"/>
            <p:cNvGrpSpPr/>
            <p:nvPr/>
          </p:nvGrpSpPr>
          <p:grpSpPr>
            <a:xfrm>
              <a:off x="6193814" y="996696"/>
              <a:ext cx="1920240" cy="859536"/>
              <a:chOff x="4672584" y="1005840"/>
              <a:chExt cx="1920240" cy="859536"/>
            </a:xfrm>
          </p:grpSpPr>
          <p:sp>
            <p:nvSpPr>
              <p:cNvPr id="80" name="Google Shape;80;p3"/>
              <p:cNvSpPr/>
              <p:nvPr/>
            </p:nvSpPr>
            <p:spPr>
              <a:xfrm>
                <a:off x="4672584" y="1005840"/>
                <a:ext cx="1920240" cy="64008"/>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1" name="Google Shape;81;p3"/>
              <p:cNvSpPr/>
              <p:nvPr/>
            </p:nvSpPr>
            <p:spPr>
              <a:xfrm>
                <a:off x="4672584" y="1115568"/>
                <a:ext cx="19202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65C0"/>
                  </a:buClr>
                  <a:buSzPts val="2800"/>
                  <a:buFont typeface="Calibri"/>
                  <a:buNone/>
                </a:pPr>
                <a:r>
                  <a:rPr lang="en-US" sz="2800" b="1" i="0" u="none" strike="noStrike" cap="none">
                    <a:solidFill>
                      <a:srgbClr val="1565C0"/>
                    </a:solidFill>
                    <a:latin typeface="Calibri"/>
                    <a:ea typeface="Calibri"/>
                    <a:cs typeface="Calibri"/>
                    <a:sym typeface="Calibri"/>
                  </a:rPr>
                  <a:t>0</a:t>
                </a:r>
                <a:endParaRPr sz="2800" b="0" i="0" u="none" strike="noStrike" cap="none">
                  <a:solidFill>
                    <a:schemeClr val="dk1"/>
                  </a:solidFill>
                  <a:latin typeface="Calibri"/>
                  <a:ea typeface="Calibri"/>
                  <a:cs typeface="Calibri"/>
                  <a:sym typeface="Calibri"/>
                </a:endParaRPr>
              </a:p>
            </p:txBody>
          </p:sp>
          <p:sp>
            <p:nvSpPr>
              <p:cNvPr id="82" name="Google Shape;82;p3"/>
              <p:cNvSpPr/>
              <p:nvPr/>
            </p:nvSpPr>
            <p:spPr>
              <a:xfrm>
                <a:off x="4672584" y="1609344"/>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950"/>
                  <a:buFont typeface="Calibri"/>
                  <a:buNone/>
                </a:pPr>
                <a:r>
                  <a:rPr lang="en-US" sz="950" b="0" i="0" u="none" strike="noStrike" cap="none">
                    <a:solidFill>
                      <a:srgbClr val="64748B"/>
                    </a:solidFill>
                    <a:latin typeface="Calibri"/>
                    <a:ea typeface="Calibri"/>
                    <a:cs typeface="Calibri"/>
                    <a:sym typeface="Calibri"/>
                  </a:rPr>
                  <a:t>Valores nulos y Duplicados</a:t>
                </a:r>
                <a:endParaRPr sz="950" b="0" i="0" u="none" strike="noStrike" cap="none">
                  <a:solidFill>
                    <a:schemeClr val="dk1"/>
                  </a:solidFill>
                  <a:latin typeface="Calibri"/>
                  <a:ea typeface="Calibri"/>
                  <a:cs typeface="Calibri"/>
                  <a:sym typeface="Calibri"/>
                </a:endParaRPr>
              </a:p>
            </p:txBody>
          </p:sp>
        </p:grpSp>
      </p:grpSp>
      <p:sp>
        <p:nvSpPr>
          <p:cNvPr id="83" name="Google Shape;83;p3"/>
          <p:cNvSpPr/>
          <p:nvPr/>
        </p:nvSpPr>
        <p:spPr>
          <a:xfrm>
            <a:off x="6848856" y="1115568"/>
            <a:ext cx="19202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2800"/>
              <a:buFont typeface="Calibri"/>
              <a:buNone/>
            </a:pPr>
            <a:endParaRPr sz="2800" b="0" i="0" u="none" strike="noStrike" cap="none">
              <a:solidFill>
                <a:schemeClr val="dk1"/>
              </a:solidFill>
              <a:latin typeface="Calibri"/>
              <a:ea typeface="Calibri"/>
              <a:cs typeface="Calibri"/>
              <a:sym typeface="Calibri"/>
            </a:endParaRPr>
          </a:p>
        </p:txBody>
      </p:sp>
      <p:sp>
        <p:nvSpPr>
          <p:cNvPr id="84" name="Google Shape;84;p3"/>
          <p:cNvSpPr/>
          <p:nvPr/>
        </p:nvSpPr>
        <p:spPr>
          <a:xfrm>
            <a:off x="320040" y="2176272"/>
            <a:ext cx="822960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400"/>
              <a:buFont typeface="Calibri"/>
              <a:buNone/>
            </a:pPr>
            <a:r>
              <a:rPr lang="en-US" sz="1400" b="1" i="0" u="none" strike="noStrike" cap="none">
                <a:solidFill>
                  <a:srgbClr val="0D1B4B"/>
                </a:solidFill>
                <a:latin typeface="Calibri"/>
                <a:ea typeface="Calibri"/>
                <a:cs typeface="Calibri"/>
                <a:sym typeface="Calibri"/>
              </a:rPr>
              <a:t>📋  Variables del Dataset</a:t>
            </a:r>
            <a:endParaRPr sz="1400" b="0" i="0" u="none" strike="noStrike" cap="none">
              <a:solidFill>
                <a:schemeClr val="dk1"/>
              </a:solidFill>
              <a:latin typeface="Calibri"/>
              <a:ea typeface="Calibri"/>
              <a:cs typeface="Calibri"/>
              <a:sym typeface="Calibri"/>
            </a:endParaRPr>
          </a:p>
        </p:txBody>
      </p:sp>
      <p:sp>
        <p:nvSpPr>
          <p:cNvPr id="85" name="Google Shape;85;p3"/>
          <p:cNvSpPr/>
          <p:nvPr/>
        </p:nvSpPr>
        <p:spPr>
          <a:xfrm>
            <a:off x="320040" y="2542032"/>
            <a:ext cx="1920240" cy="2331720"/>
          </a:xfrm>
          <a:prstGeom prst="rect">
            <a:avLst/>
          </a:prstGeom>
          <a:solidFill>
            <a:srgbClr val="FFFFFF"/>
          </a:solidFill>
          <a:ln>
            <a:noFill/>
          </a:ln>
          <a:effectLst>
            <a:outerShdw blurRad="762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86;p3"/>
          <p:cNvSpPr/>
          <p:nvPr/>
        </p:nvSpPr>
        <p:spPr>
          <a:xfrm>
            <a:off x="320040" y="2542032"/>
            <a:ext cx="1920240" cy="329184"/>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87;p3"/>
          <p:cNvSpPr/>
          <p:nvPr/>
        </p:nvSpPr>
        <p:spPr>
          <a:xfrm>
            <a:off x="320040" y="2542032"/>
            <a:ext cx="1920240" cy="32918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Operativas</a:t>
            </a:r>
            <a:endParaRPr sz="950" b="0" i="0" u="none" strike="noStrike" cap="none">
              <a:solidFill>
                <a:schemeClr val="dk1"/>
              </a:solidFill>
              <a:latin typeface="Calibri"/>
              <a:ea typeface="Calibri"/>
              <a:cs typeface="Calibri"/>
              <a:sym typeface="Calibri"/>
            </a:endParaRPr>
          </a:p>
        </p:txBody>
      </p:sp>
      <p:sp>
        <p:nvSpPr>
          <p:cNvPr id="88" name="Google Shape;88;p3"/>
          <p:cNvSpPr/>
          <p:nvPr/>
        </p:nvSpPr>
        <p:spPr>
          <a:xfrm>
            <a:off x="393192" y="2926080"/>
            <a:ext cx="1783080" cy="18288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Superficie_m2</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Metros_Vidriera</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Antiguedad_Anios</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Inversion_CAPEX_USD</a:t>
            </a:r>
            <a:endParaRPr sz="900" b="0" i="0" u="none" strike="noStrike" cap="none">
              <a:solidFill>
                <a:srgbClr val="333333"/>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Venta_Online_Pct </a:t>
            </a:r>
            <a:r>
              <a:rPr lang="en-US" sz="900" b="0" i="0" u="none" strike="noStrike" cap="none">
                <a:solidFill>
                  <a:srgbClr val="1976D2"/>
                </a:solidFill>
                <a:latin typeface="Calibri"/>
                <a:ea typeface="Calibri"/>
                <a:cs typeface="Calibri"/>
                <a:sym typeface="Calibri"/>
              </a:rPr>
              <a:t>(Data Leakage - excluida)</a:t>
            </a:r>
            <a:endParaRPr sz="900" b="0" i="0" u="none" strike="noStrike" cap="none">
              <a:solidFill>
                <a:srgbClr val="1976D2"/>
              </a:solidFill>
              <a:latin typeface="Calibri"/>
              <a:ea typeface="Calibri"/>
              <a:cs typeface="Calibri"/>
              <a:sym typeface="Calibri"/>
            </a:endParaRPr>
          </a:p>
          <a:p>
            <a:pPr marL="342900" marR="0" lvl="0" indent="-342900" algn="l" rtl="0">
              <a:lnSpc>
                <a:spcPct val="100000"/>
              </a:lnSpc>
              <a:spcBef>
                <a:spcPts val="0"/>
              </a:spcBef>
              <a:spcAft>
                <a:spcPts val="0"/>
              </a:spcAft>
              <a:buClr>
                <a:schemeClr val="dk1"/>
              </a:buClr>
              <a:buSzPts val="900"/>
              <a:buFont typeface="Calibri"/>
              <a:buChar char="•"/>
            </a:pPr>
            <a:r>
              <a:rPr lang="en-US" sz="900" b="0" i="0" u="none" strike="noStrike" cap="none">
                <a:solidFill>
                  <a:schemeClr val="dk1"/>
                </a:solidFill>
                <a:latin typeface="Calibri"/>
                <a:ea typeface="Calibri"/>
                <a:cs typeface="Calibri"/>
                <a:sym typeface="Calibri"/>
              </a:rPr>
              <a:t>Ventas </a:t>
            </a:r>
            <a:r>
              <a:rPr lang="en-US" sz="900" b="1" i="0" u="none" strike="noStrike" cap="none">
                <a:solidFill>
                  <a:srgbClr val="C55A11"/>
                </a:solidFill>
                <a:latin typeface="Calibri"/>
                <a:ea typeface="Calibri"/>
                <a:cs typeface="Calibri"/>
                <a:sym typeface="Calibri"/>
              </a:rPr>
              <a:t>(Var Predictoria)</a:t>
            </a:r>
            <a:endParaRPr sz="1400" b="0" i="0" u="none" strike="noStrike" cap="none">
              <a:solidFill>
                <a:srgbClr val="000000"/>
              </a:solidFill>
              <a:latin typeface="Arial"/>
              <a:ea typeface="Arial"/>
              <a:cs typeface="Arial"/>
              <a:sym typeface="Arial"/>
            </a:endParaRPr>
          </a:p>
        </p:txBody>
      </p:sp>
      <p:sp>
        <p:nvSpPr>
          <p:cNvPr id="89" name="Google Shape;89;p3"/>
          <p:cNvSpPr/>
          <p:nvPr/>
        </p:nvSpPr>
        <p:spPr>
          <a:xfrm>
            <a:off x="2496312" y="2542032"/>
            <a:ext cx="1920240" cy="2331720"/>
          </a:xfrm>
          <a:prstGeom prst="rect">
            <a:avLst/>
          </a:prstGeom>
          <a:solidFill>
            <a:srgbClr val="FFFFFF"/>
          </a:solidFill>
          <a:ln>
            <a:noFill/>
          </a:ln>
          <a:effectLst>
            <a:outerShdw blurRad="762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0" name="Google Shape;90;p3"/>
          <p:cNvSpPr/>
          <p:nvPr/>
        </p:nvSpPr>
        <p:spPr>
          <a:xfrm>
            <a:off x="2496312" y="2542032"/>
            <a:ext cx="1920240" cy="329184"/>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1" name="Google Shape;91;p3"/>
          <p:cNvSpPr/>
          <p:nvPr/>
        </p:nvSpPr>
        <p:spPr>
          <a:xfrm>
            <a:off x="2496312" y="2542032"/>
            <a:ext cx="1920240" cy="32918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Marketing &amp; Financiero</a:t>
            </a:r>
            <a:endParaRPr sz="950" b="0" i="0" u="none" strike="noStrike" cap="none">
              <a:solidFill>
                <a:schemeClr val="dk1"/>
              </a:solidFill>
              <a:latin typeface="Calibri"/>
              <a:ea typeface="Calibri"/>
              <a:cs typeface="Calibri"/>
              <a:sym typeface="Calibri"/>
            </a:endParaRPr>
          </a:p>
        </p:txBody>
      </p:sp>
      <p:sp>
        <p:nvSpPr>
          <p:cNvPr id="92" name="Google Shape;92;p3"/>
          <p:cNvSpPr/>
          <p:nvPr/>
        </p:nvSpPr>
        <p:spPr>
          <a:xfrm>
            <a:off x="2496312" y="2926080"/>
            <a:ext cx="2002537" cy="18288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Inversion_Marketing_Mensual</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Alquiler_Mensual_USD</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Ticket_Promedio_USD</a:t>
            </a:r>
            <a:r>
              <a:rPr lang="en-US" sz="900" b="0" i="0" u="none" strike="noStrike" cap="none">
                <a:solidFill>
                  <a:srgbClr val="1976D2"/>
                </a:solidFill>
                <a:latin typeface="Calibri"/>
                <a:ea typeface="Calibri"/>
                <a:cs typeface="Calibri"/>
                <a:sym typeface="Calibri"/>
              </a:rPr>
              <a:t>(Data Leakage - excluida)</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Margen_EBITDA_Pct </a:t>
            </a:r>
            <a:r>
              <a:rPr lang="en-US" sz="900" b="0" i="0" u="none" strike="noStrike" cap="none">
                <a:solidFill>
                  <a:srgbClr val="1976D2"/>
                </a:solidFill>
                <a:latin typeface="Calibri"/>
                <a:ea typeface="Calibri"/>
                <a:cs typeface="Calibri"/>
                <a:sym typeface="Calibri"/>
              </a:rPr>
              <a:t>(Data Leakage - excluida)</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Posicionamiento</a:t>
            </a:r>
            <a:r>
              <a:rPr lang="en-US" sz="700" b="0" i="0" u="none" strike="noStrike" cap="none">
                <a:solidFill>
                  <a:srgbClr val="BFBFBF"/>
                </a:solidFill>
                <a:latin typeface="Calibri"/>
                <a:ea typeface="Calibri"/>
                <a:cs typeface="Calibri"/>
                <a:sym typeface="Calibri"/>
              </a:rPr>
              <a:t> (CAT)</a:t>
            </a:r>
            <a:endParaRPr sz="900" b="0" i="0" u="none" strike="noStrike" cap="none">
              <a:solidFill>
                <a:srgbClr val="BFBFBF"/>
              </a:solidFill>
              <a:latin typeface="Calibri"/>
              <a:ea typeface="Calibri"/>
              <a:cs typeface="Calibri"/>
              <a:sym typeface="Calibri"/>
            </a:endParaRPr>
          </a:p>
        </p:txBody>
      </p:sp>
      <p:sp>
        <p:nvSpPr>
          <p:cNvPr id="93" name="Google Shape;93;p3"/>
          <p:cNvSpPr/>
          <p:nvPr/>
        </p:nvSpPr>
        <p:spPr>
          <a:xfrm>
            <a:off x="4672584" y="2542032"/>
            <a:ext cx="1920240" cy="2331720"/>
          </a:xfrm>
          <a:prstGeom prst="rect">
            <a:avLst/>
          </a:prstGeom>
          <a:solidFill>
            <a:srgbClr val="FFFFFF"/>
          </a:solidFill>
          <a:ln>
            <a:noFill/>
          </a:ln>
          <a:effectLst>
            <a:outerShdw blurRad="762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4" name="Google Shape;94;p3"/>
          <p:cNvSpPr/>
          <p:nvPr/>
        </p:nvSpPr>
        <p:spPr>
          <a:xfrm>
            <a:off x="4672584" y="2542032"/>
            <a:ext cx="1920240" cy="329184"/>
          </a:xfrm>
          <a:prstGeom prst="rect">
            <a:avLst/>
          </a:prstGeom>
          <a:solidFill>
            <a:srgbClr val="E651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5" name="Google Shape;95;p3"/>
          <p:cNvSpPr/>
          <p:nvPr/>
        </p:nvSpPr>
        <p:spPr>
          <a:xfrm>
            <a:off x="4672584" y="2542032"/>
            <a:ext cx="1920240" cy="32918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Ubicación</a:t>
            </a:r>
            <a:endParaRPr sz="950" b="0" i="0" u="none" strike="noStrike" cap="none">
              <a:solidFill>
                <a:schemeClr val="dk1"/>
              </a:solidFill>
              <a:latin typeface="Calibri"/>
              <a:ea typeface="Calibri"/>
              <a:cs typeface="Calibri"/>
              <a:sym typeface="Calibri"/>
            </a:endParaRPr>
          </a:p>
        </p:txBody>
      </p:sp>
      <p:sp>
        <p:nvSpPr>
          <p:cNvPr id="96" name="Google Shape;96;p3"/>
          <p:cNvSpPr/>
          <p:nvPr/>
        </p:nvSpPr>
        <p:spPr>
          <a:xfrm>
            <a:off x="4745736" y="2926080"/>
            <a:ext cx="1783080" cy="18288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Tipo_Ubicacion </a:t>
            </a:r>
            <a:r>
              <a:rPr lang="en-US" sz="800" b="0" i="0" u="none" strike="noStrike" cap="none">
                <a:solidFill>
                  <a:srgbClr val="BFBFBF"/>
                </a:solidFill>
                <a:latin typeface="Calibri"/>
                <a:ea typeface="Calibri"/>
                <a:cs typeface="Calibri"/>
                <a:sym typeface="Calibri"/>
              </a:rPr>
              <a:t> (CAT)</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Ubicacion_Esquina</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Distancia_Ancla_Metros</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Transito_Peatonal_Pico</a:t>
            </a:r>
            <a:endParaRPr sz="900" b="0" i="0" u="none" strike="noStrike" cap="none">
              <a:solidFill>
                <a:srgbClr val="333333"/>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900"/>
              <a:buFont typeface="Arial"/>
              <a:buNone/>
            </a:pPr>
            <a:endParaRPr sz="900" b="0" i="0" u="none" strike="noStrike" cap="none">
              <a:solidFill>
                <a:schemeClr val="dk1"/>
              </a:solidFill>
              <a:latin typeface="Calibri"/>
              <a:ea typeface="Calibri"/>
              <a:cs typeface="Calibri"/>
              <a:sym typeface="Calibri"/>
            </a:endParaRPr>
          </a:p>
        </p:txBody>
      </p:sp>
      <p:sp>
        <p:nvSpPr>
          <p:cNvPr id="97" name="Google Shape;97;p3"/>
          <p:cNvSpPr/>
          <p:nvPr/>
        </p:nvSpPr>
        <p:spPr>
          <a:xfrm>
            <a:off x="6840202" y="2697480"/>
            <a:ext cx="1920240" cy="2331720"/>
          </a:xfrm>
          <a:prstGeom prst="rect">
            <a:avLst/>
          </a:prstGeom>
          <a:solidFill>
            <a:srgbClr val="FFFFFF"/>
          </a:solidFill>
          <a:ln>
            <a:noFill/>
          </a:ln>
          <a:effectLst>
            <a:outerShdw blurRad="762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8" name="Google Shape;98;p3"/>
          <p:cNvSpPr/>
          <p:nvPr/>
        </p:nvSpPr>
        <p:spPr>
          <a:xfrm>
            <a:off x="6848856" y="2542032"/>
            <a:ext cx="1920240" cy="329184"/>
          </a:xfrm>
          <a:prstGeom prst="rect">
            <a:avLst/>
          </a:prstGeom>
          <a:solidFill>
            <a:srgbClr val="6A1B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9" name="Google Shape;99;p3"/>
          <p:cNvSpPr/>
          <p:nvPr/>
        </p:nvSpPr>
        <p:spPr>
          <a:xfrm>
            <a:off x="6848856" y="2542032"/>
            <a:ext cx="1920240" cy="32918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950"/>
              <a:buFont typeface="Calibri"/>
              <a:buNone/>
            </a:pPr>
            <a:r>
              <a:rPr lang="en-US" sz="950" b="1" i="0" u="none" strike="noStrike" cap="none">
                <a:solidFill>
                  <a:srgbClr val="FFFFFF"/>
                </a:solidFill>
                <a:latin typeface="Calibri"/>
                <a:ea typeface="Calibri"/>
                <a:cs typeface="Calibri"/>
                <a:sym typeface="Calibri"/>
              </a:rPr>
              <a:t>Contexto</a:t>
            </a:r>
            <a:endParaRPr sz="950" b="0" i="0" u="none" strike="noStrike" cap="none">
              <a:solidFill>
                <a:schemeClr val="dk1"/>
              </a:solidFill>
              <a:latin typeface="Calibri"/>
              <a:ea typeface="Calibri"/>
              <a:cs typeface="Calibri"/>
              <a:sym typeface="Calibri"/>
            </a:endParaRPr>
          </a:p>
        </p:txBody>
      </p:sp>
      <p:sp>
        <p:nvSpPr>
          <p:cNvPr id="100" name="Google Shape;100;p3"/>
          <p:cNvSpPr/>
          <p:nvPr/>
        </p:nvSpPr>
        <p:spPr>
          <a:xfrm>
            <a:off x="6922008" y="2926080"/>
            <a:ext cx="1938528" cy="182880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Nivel_Socioeconomico </a:t>
            </a:r>
            <a:r>
              <a:rPr lang="en-US" sz="800" b="0" i="0" u="none" strike="noStrike" cap="none">
                <a:solidFill>
                  <a:srgbClr val="BFBFBF"/>
                </a:solidFill>
                <a:latin typeface="Calibri"/>
                <a:ea typeface="Calibri"/>
                <a:cs typeface="Calibri"/>
                <a:sym typeface="Calibri"/>
              </a:rPr>
              <a:t>(CAT)</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Densidad_Poblacional</a:t>
            </a:r>
            <a:endParaRPr sz="900" b="0" i="0" u="none" strike="noStrike" cap="none">
              <a:solidFill>
                <a:srgbClr val="333333"/>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Puntos de Interes proximos</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Densidad_Competencia</a:t>
            </a:r>
            <a:endParaRPr sz="900" b="0" i="0" u="none" strike="noStrike" cap="none">
              <a:solidFill>
                <a:srgbClr val="333333"/>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Rubro </a:t>
            </a:r>
            <a:r>
              <a:rPr lang="en-US" sz="900" b="0" i="0" u="none" strike="noStrike" cap="none">
                <a:solidFill>
                  <a:srgbClr val="BFBFBF"/>
                </a:solidFill>
                <a:latin typeface="Calibri"/>
                <a:ea typeface="Calibri"/>
                <a:cs typeface="Calibri"/>
                <a:sym typeface="Calibri"/>
              </a:rPr>
              <a:t>(CAT)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chemeClr val="dk1"/>
              </a:solidFill>
              <a:latin typeface="Calibri"/>
              <a:ea typeface="Calibri"/>
              <a:cs typeface="Calibri"/>
              <a:sym typeface="Calibri"/>
            </a:endParaRPr>
          </a:p>
        </p:txBody>
      </p:sp>
      <p:sp>
        <p:nvSpPr>
          <p:cNvPr id="101" name="Google Shape;101;p3"/>
          <p:cNvSpPr/>
          <p:nvPr/>
        </p:nvSpPr>
        <p:spPr>
          <a:xfrm>
            <a:off x="320040" y="4828032"/>
            <a:ext cx="8503920" cy="201168"/>
          </a:xfrm>
          <a:prstGeom prst="rect">
            <a:avLst/>
          </a:prstGeom>
          <a:solidFill>
            <a:srgbClr val="FFF8E1"/>
          </a:solidFill>
          <a:ln w="9525" cap="flat" cmpd="sng">
            <a:solidFill>
              <a:srgbClr val="FFB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2" name="Google Shape;102;p3"/>
          <p:cNvSpPr/>
          <p:nvPr/>
        </p:nvSpPr>
        <p:spPr>
          <a:xfrm>
            <a:off x="411480" y="4837176"/>
            <a:ext cx="8321040" cy="17373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B5800"/>
              </a:buClr>
              <a:buSzPts val="850"/>
              <a:buFont typeface="Calibri"/>
              <a:buNone/>
            </a:pPr>
            <a:r>
              <a:rPr lang="en-US" sz="850" b="0" i="0" u="none" strike="noStrike" cap="none">
                <a:solidFill>
                  <a:srgbClr val="7B5800"/>
                </a:solidFill>
                <a:latin typeface="Calibri"/>
                <a:ea typeface="Calibri"/>
                <a:cs typeface="Calibri"/>
                <a:sym typeface="Calibri"/>
              </a:rPr>
              <a:t>⚠  Outliers detectados en CAPEX (108), Marketing (128), Alquiler (101) y Ventas (66) — conservados por ser casos de negocio legítimos</a:t>
            </a:r>
            <a:endParaRPr sz="85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1"/>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09" name="Google Shape;109;p21"/>
          <p:cNvSpPr/>
          <p:nvPr/>
        </p:nvSpPr>
        <p:spPr>
          <a:xfrm>
            <a:off x="0" y="777240"/>
            <a:ext cx="9144000" cy="54864"/>
          </a:xfrm>
          <a:prstGeom prst="rect">
            <a:avLst/>
          </a:prstGeom>
          <a:solidFill>
            <a:srgbClr val="88888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0" name="Google Shape;110;p21"/>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FFFFFF"/>
                </a:solidFill>
                <a:latin typeface="Calibri"/>
                <a:ea typeface="Calibri"/>
                <a:cs typeface="Calibri"/>
                <a:sym typeface="Calibri"/>
              </a:rPr>
              <a:t>Evidencia Académica de Selección de Variables</a:t>
            </a:r>
            <a:endParaRPr/>
          </a:p>
        </p:txBody>
      </p:sp>
      <p:sp>
        <p:nvSpPr>
          <p:cNvPr id="111" name="Google Shape;111;p21"/>
          <p:cNvSpPr/>
          <p:nvPr/>
        </p:nvSpPr>
        <p:spPr>
          <a:xfrm>
            <a:off x="274320" y="900000"/>
            <a:ext cx="3886200" cy="3657600"/>
          </a:xfrm>
          <a:prstGeom prst="rect">
            <a:avLst/>
          </a:prstGeom>
          <a:solidFill>
            <a:srgbClr val="FFFFFF"/>
          </a:solidFill>
          <a:ln w="9525" cap="flat" cmpd="sng">
            <a:solidFill>
              <a:srgbClr val="DDE6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2" name="Google Shape;112;p21"/>
          <p:cNvSpPr/>
          <p:nvPr/>
        </p:nvSpPr>
        <p:spPr>
          <a:xfrm>
            <a:off x="274320" y="900000"/>
            <a:ext cx="3886200" cy="6096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3" name="Google Shape;113;p21"/>
          <p:cNvSpPr/>
          <p:nvPr/>
        </p:nvSpPr>
        <p:spPr>
          <a:xfrm>
            <a:off x="365760" y="991440"/>
            <a:ext cx="3657600" cy="330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0D1B4B"/>
                </a:solidFill>
                <a:latin typeface="Calibri"/>
                <a:ea typeface="Calibri"/>
                <a:cs typeface="Calibri"/>
                <a:sym typeface="Calibri"/>
              </a:rPr>
              <a:t>📌  Variables Estructurales del Modelo</a:t>
            </a:r>
            <a:endParaRPr/>
          </a:p>
        </p:txBody>
      </p:sp>
      <p:sp>
        <p:nvSpPr>
          <p:cNvPr id="114" name="Google Shape;114;p21"/>
          <p:cNvSpPr/>
          <p:nvPr/>
        </p:nvSpPr>
        <p:spPr>
          <a:xfrm>
            <a:off x="365760" y="1382400"/>
            <a:ext cx="182880" cy="228600"/>
          </a:xfrm>
          <a:prstGeom prst="rect">
            <a:avLst/>
          </a:prstGeom>
          <a:solidFill>
            <a:srgbClr val="1976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5" name="Google Shape;115;p21"/>
          <p:cNvSpPr/>
          <p:nvPr/>
        </p:nvSpPr>
        <p:spPr>
          <a:xfrm>
            <a:off x="594360" y="1368600"/>
            <a:ext cx="3429000" cy="3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Zona / Tipo de Ubicación</a:t>
            </a:r>
            <a:r>
              <a:rPr lang="en-US" sz="1000" b="0" i="0" u="none" strike="noStrike" cap="none">
                <a:solidFill>
                  <a:srgbClr val="6080A0"/>
                </a:solidFill>
                <a:latin typeface="Calibri"/>
                <a:ea typeface="Calibri"/>
                <a:cs typeface="Calibri"/>
                <a:sym typeface="Calibri"/>
              </a:rPr>
              <a:t>  — define el flujo potencial</a:t>
            </a:r>
            <a:endParaRPr/>
          </a:p>
        </p:txBody>
      </p:sp>
      <p:sp>
        <p:nvSpPr>
          <p:cNvPr id="116" name="Google Shape;116;p21"/>
          <p:cNvSpPr/>
          <p:nvPr/>
        </p:nvSpPr>
        <p:spPr>
          <a:xfrm>
            <a:off x="365760" y="1749600"/>
            <a:ext cx="182880" cy="228600"/>
          </a:xfrm>
          <a:prstGeom prst="rect">
            <a:avLst/>
          </a:prstGeom>
          <a:solidFill>
            <a:srgbClr val="6A1B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7" name="Google Shape;117;p21"/>
          <p:cNvSpPr/>
          <p:nvPr/>
        </p:nvSpPr>
        <p:spPr>
          <a:xfrm>
            <a:off x="594360" y="1735800"/>
            <a:ext cx="3429000" cy="3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Nivel Socioeconómico (NSE)</a:t>
            </a:r>
            <a:r>
              <a:rPr lang="en-US" sz="1000" b="0" i="0" u="none" strike="noStrike" cap="none">
                <a:solidFill>
                  <a:srgbClr val="6080A0"/>
                </a:solidFill>
                <a:latin typeface="Calibri"/>
                <a:ea typeface="Calibri"/>
                <a:cs typeface="Calibri"/>
                <a:sym typeface="Calibri"/>
              </a:rPr>
              <a:t>  — poder adquisitivo del entorno</a:t>
            </a:r>
            <a:endParaRPr/>
          </a:p>
        </p:txBody>
      </p:sp>
      <p:sp>
        <p:nvSpPr>
          <p:cNvPr id="118" name="Google Shape;118;p21"/>
          <p:cNvSpPr/>
          <p:nvPr/>
        </p:nvSpPr>
        <p:spPr>
          <a:xfrm>
            <a:off x="365760" y="2116800"/>
            <a:ext cx="182880" cy="228600"/>
          </a:xfrm>
          <a:prstGeom prst="rect">
            <a:avLst/>
          </a:prstGeom>
          <a:solidFill>
            <a:srgbClr val="00838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19" name="Google Shape;119;p21"/>
          <p:cNvSpPr/>
          <p:nvPr/>
        </p:nvSpPr>
        <p:spPr>
          <a:xfrm>
            <a:off x="594360" y="2103000"/>
            <a:ext cx="3429000" cy="3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Tipo de ubicación</a:t>
            </a:r>
            <a:r>
              <a:rPr lang="en-US" sz="1000" b="0" i="0" u="none" strike="noStrike" cap="none">
                <a:solidFill>
                  <a:srgbClr val="6080A0"/>
                </a:solidFill>
                <a:latin typeface="Calibri"/>
                <a:ea typeface="Calibri"/>
                <a:cs typeface="Calibri"/>
                <a:sym typeface="Calibri"/>
              </a:rPr>
              <a:t>  — formato del canal</a:t>
            </a:r>
            <a:endParaRPr/>
          </a:p>
        </p:txBody>
      </p:sp>
      <p:sp>
        <p:nvSpPr>
          <p:cNvPr id="120" name="Google Shape;120;p21"/>
          <p:cNvSpPr/>
          <p:nvPr/>
        </p:nvSpPr>
        <p:spPr>
          <a:xfrm>
            <a:off x="365760" y="2484000"/>
            <a:ext cx="182880" cy="228600"/>
          </a:xfrm>
          <a:prstGeom prst="rect">
            <a:avLst/>
          </a:prstGeom>
          <a:solidFill>
            <a:srgbClr val="C6282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21" name="Google Shape;121;p21"/>
          <p:cNvSpPr/>
          <p:nvPr/>
        </p:nvSpPr>
        <p:spPr>
          <a:xfrm>
            <a:off x="594360" y="2470200"/>
            <a:ext cx="3429000" cy="3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Rubro del Negocio</a:t>
            </a:r>
            <a:r>
              <a:rPr lang="en-US" sz="1000" b="0" i="0" u="none" strike="noStrike" cap="none">
                <a:solidFill>
                  <a:srgbClr val="6080A0"/>
                </a:solidFill>
                <a:latin typeface="Calibri"/>
                <a:ea typeface="Calibri"/>
                <a:cs typeface="Calibri"/>
                <a:sym typeface="Calibri"/>
              </a:rPr>
              <a:t>  — techo estructural de ingresos</a:t>
            </a:r>
            <a:endParaRPr/>
          </a:p>
        </p:txBody>
      </p:sp>
      <p:sp>
        <p:nvSpPr>
          <p:cNvPr id="122" name="Google Shape;122;p21"/>
          <p:cNvSpPr/>
          <p:nvPr/>
        </p:nvSpPr>
        <p:spPr>
          <a:xfrm>
            <a:off x="365760" y="2851200"/>
            <a:ext cx="182880" cy="22860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23" name="Google Shape;123;p21"/>
          <p:cNvSpPr/>
          <p:nvPr/>
        </p:nvSpPr>
        <p:spPr>
          <a:xfrm>
            <a:off x="594360" y="2837400"/>
            <a:ext cx="3429000" cy="3048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Tránsito Peatonal y Marketing</a:t>
            </a:r>
            <a:r>
              <a:rPr lang="en-US" sz="1000" b="0" i="0" u="none" strike="noStrike" cap="none">
                <a:solidFill>
                  <a:srgbClr val="6080A0"/>
                </a:solidFill>
                <a:latin typeface="Calibri"/>
                <a:ea typeface="Calibri"/>
                <a:cs typeface="Calibri"/>
                <a:sym typeface="Calibri"/>
              </a:rPr>
              <a:t>  — captación y conversión</a:t>
            </a:r>
            <a:endParaRPr/>
          </a:p>
        </p:txBody>
      </p:sp>
      <p:sp>
        <p:nvSpPr>
          <p:cNvPr id="124" name="Google Shape;124;p21"/>
          <p:cNvSpPr/>
          <p:nvPr/>
        </p:nvSpPr>
        <p:spPr>
          <a:xfrm>
            <a:off x="4663200" y="900000"/>
            <a:ext cx="4205520" cy="330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0D1B4B"/>
                </a:solidFill>
                <a:latin typeface="Calibri"/>
                <a:ea typeface="Calibri"/>
                <a:cs typeface="Calibri"/>
                <a:sym typeface="Calibri"/>
              </a:rPr>
              <a:t>💬  Respaldo de la Elección de Variables</a:t>
            </a:r>
            <a:endParaRPr/>
          </a:p>
        </p:txBody>
      </p:sp>
      <p:sp>
        <p:nvSpPr>
          <p:cNvPr id="125" name="Google Shape;125;p21"/>
          <p:cNvSpPr/>
          <p:nvPr/>
        </p:nvSpPr>
        <p:spPr>
          <a:xfrm>
            <a:off x="4663200" y="1280400"/>
            <a:ext cx="4205520" cy="1295400"/>
          </a:xfrm>
          <a:prstGeom prst="rect">
            <a:avLst/>
          </a:prstGeom>
          <a:solidFill>
            <a:srgbClr val="EEF4FF"/>
          </a:solidFill>
          <a:ln w="9525" cap="flat" cmpd="sng">
            <a:solidFill>
              <a:srgbClr val="C8D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126" name="Google Shape;126;p21"/>
          <p:cNvSpPr/>
          <p:nvPr/>
        </p:nvSpPr>
        <p:spPr>
          <a:xfrm>
            <a:off x="4708800" y="1280400"/>
            <a:ext cx="365760" cy="548640"/>
          </a:xfrm>
          <a:prstGeom prst="rect">
            <a:avLst/>
          </a:prstGeom>
          <a:noFill/>
          <a:ln>
            <a:noFill/>
          </a:ln>
        </p:spPr>
        <p:txBody>
          <a:bodyPr spcFirstLastPara="1" wrap="square" lIns="91425" tIns="4570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1976D2"/>
                </a:solidFill>
                <a:latin typeface="Georgia"/>
                <a:ea typeface="Georgia"/>
                <a:cs typeface="Georgia"/>
                <a:sym typeface="Georgia"/>
              </a:rPr>
              <a:t>“</a:t>
            </a:r>
            <a:endParaRPr/>
          </a:p>
        </p:txBody>
      </p:sp>
      <p:sp>
        <p:nvSpPr>
          <p:cNvPr id="127" name="Google Shape;127;p21"/>
          <p:cNvSpPr/>
          <p:nvPr/>
        </p:nvSpPr>
        <p:spPr>
          <a:xfrm>
            <a:off x="5120640" y="1350000"/>
            <a:ext cx="3657600" cy="1097280"/>
          </a:xfrm>
          <a:prstGeom prst="rect">
            <a:avLst/>
          </a:prstGeom>
          <a:noFill/>
          <a:ln>
            <a:noFill/>
          </a:ln>
        </p:spPr>
        <p:txBody>
          <a:bodyPr spcFirstLastPara="1" wrap="square" lIns="0" tIns="0" rIns="91425" bIns="4570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100" b="0" i="1" u="none" strike="noStrike" cap="none">
                <a:solidFill>
                  <a:srgbClr val="1A3A6E"/>
                </a:solidFill>
                <a:latin typeface="Georgia"/>
                <a:ea typeface="Georgia"/>
                <a:cs typeface="Georgia"/>
                <a:sym typeface="Georgia"/>
              </a:rPr>
              <a:t>El desempeño de una empresa está sistemáticamente determinado por variables estructurales: industria, ubicación y contexto de mercado.</a:t>
            </a:r>
            <a:endParaRPr/>
          </a:p>
          <a:p>
            <a:pPr marL="0" marR="0" lvl="0" indent="0" algn="l" rtl="0">
              <a:lnSpc>
                <a:spcPct val="100000"/>
              </a:lnSpc>
              <a:spcBef>
                <a:spcPts val="200"/>
              </a:spcBef>
              <a:spcAft>
                <a:spcPts val="0"/>
              </a:spcAft>
              <a:buClr>
                <a:srgbClr val="000000"/>
              </a:buClr>
              <a:buSzPts val="950"/>
              <a:buFont typeface="Arial"/>
              <a:buNone/>
            </a:pPr>
            <a:r>
              <a:rPr lang="en-US" sz="950" b="1" i="0" u="none" strike="noStrike" cap="none">
                <a:solidFill>
                  <a:srgbClr val="1976D2"/>
                </a:solidFill>
                <a:latin typeface="Calibri"/>
                <a:ea typeface="Calibri"/>
                <a:cs typeface="Calibri"/>
                <a:sym typeface="Calibri"/>
              </a:rPr>
              <a:t>— Michael E. Porter</a:t>
            </a:r>
            <a:r>
              <a:rPr lang="en-US" sz="950" b="0" i="0" u="none" strike="noStrike" cap="none">
                <a:solidFill>
                  <a:srgbClr val="7090B0"/>
                </a:solidFill>
                <a:latin typeface="Calibri"/>
                <a:ea typeface="Calibri"/>
                <a:cs typeface="Calibri"/>
                <a:sym typeface="Calibri"/>
              </a:rPr>
              <a:t>  |  Competitive Strategy, Harvard (1980)</a:t>
            </a:r>
            <a:endParaRPr/>
          </a:p>
        </p:txBody>
      </p:sp>
      <p:sp>
        <p:nvSpPr>
          <p:cNvPr id="128" name="Google Shape;128;p21"/>
          <p:cNvSpPr/>
          <p:nvPr/>
        </p:nvSpPr>
        <p:spPr>
          <a:xfrm>
            <a:off x="4663200" y="2666400"/>
            <a:ext cx="4205520" cy="1295400"/>
          </a:xfrm>
          <a:prstGeom prst="rect">
            <a:avLst/>
          </a:prstGeom>
          <a:solidFill>
            <a:srgbClr val="F1F8F1"/>
          </a:solidFill>
          <a:ln w="9525" cap="flat" cmpd="sng">
            <a:solidFill>
              <a:srgbClr val="A5D6A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dirty="0">
              <a:solidFill>
                <a:srgbClr val="000000"/>
              </a:solidFill>
              <a:latin typeface="Arial"/>
              <a:ea typeface="Arial"/>
              <a:cs typeface="Arial"/>
              <a:sym typeface="Arial"/>
            </a:endParaRPr>
          </a:p>
        </p:txBody>
      </p:sp>
      <p:sp>
        <p:nvSpPr>
          <p:cNvPr id="129" name="Google Shape;129;p21"/>
          <p:cNvSpPr/>
          <p:nvPr/>
        </p:nvSpPr>
        <p:spPr>
          <a:xfrm>
            <a:off x="4708800" y="2666400"/>
            <a:ext cx="365760" cy="548640"/>
          </a:xfrm>
          <a:prstGeom prst="rect">
            <a:avLst/>
          </a:prstGeom>
          <a:noFill/>
          <a:ln>
            <a:noFill/>
          </a:ln>
        </p:spPr>
        <p:txBody>
          <a:bodyPr spcFirstLastPara="1" wrap="square" lIns="91425" tIns="45700" rIns="0" bIns="0" anchor="t"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rgbClr val="2E7D32"/>
                </a:solidFill>
                <a:latin typeface="Georgia"/>
                <a:ea typeface="Georgia"/>
                <a:cs typeface="Georgia"/>
                <a:sym typeface="Georgia"/>
              </a:rPr>
              <a:t>“</a:t>
            </a:r>
            <a:endParaRPr/>
          </a:p>
        </p:txBody>
      </p:sp>
      <p:sp>
        <p:nvSpPr>
          <p:cNvPr id="130" name="Google Shape;130;p21"/>
          <p:cNvSpPr/>
          <p:nvPr/>
        </p:nvSpPr>
        <p:spPr>
          <a:xfrm>
            <a:off x="5120640" y="2736000"/>
            <a:ext cx="3657600" cy="1097280"/>
          </a:xfrm>
          <a:prstGeom prst="rect">
            <a:avLst/>
          </a:prstGeom>
          <a:noFill/>
          <a:ln>
            <a:noFill/>
          </a:ln>
        </p:spPr>
        <p:txBody>
          <a:bodyPr spcFirstLastPara="1" wrap="square" lIns="0" tIns="0" rIns="91425" bIns="45700"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100" b="0" i="1" u="none" strike="noStrike" cap="none">
                <a:solidFill>
                  <a:srgbClr val="1B5E20"/>
                </a:solidFill>
                <a:latin typeface="Georgia"/>
                <a:ea typeface="Georgia"/>
                <a:cs typeface="Georgia"/>
                <a:sym typeface="Georgia"/>
              </a:rPr>
              <a:t>Las variables estructurales —ubicación, rubro y contexto socioeconómico— son los predictores más robustos del desempeño comercial en etapa temprana.</a:t>
            </a:r>
            <a:endParaRPr/>
          </a:p>
          <a:p>
            <a:pPr marL="0" marR="0" lvl="0" indent="0" algn="l" rtl="0">
              <a:lnSpc>
                <a:spcPct val="100000"/>
              </a:lnSpc>
              <a:spcBef>
                <a:spcPts val="200"/>
              </a:spcBef>
              <a:spcAft>
                <a:spcPts val="0"/>
              </a:spcAft>
              <a:buClr>
                <a:srgbClr val="000000"/>
              </a:buClr>
              <a:buSzPts val="950"/>
              <a:buFont typeface="Arial"/>
              <a:buNone/>
            </a:pPr>
            <a:r>
              <a:rPr lang="en-US" sz="950" b="1" i="0" u="none" strike="noStrike" cap="none">
                <a:solidFill>
                  <a:srgbClr val="2E7D32"/>
                </a:solidFill>
                <a:latin typeface="Calibri"/>
                <a:ea typeface="Calibri"/>
                <a:cs typeface="Calibri"/>
                <a:sym typeface="Calibri"/>
              </a:rPr>
              <a:t>— Zambrano Farias et al.</a:t>
            </a:r>
            <a:r>
              <a:rPr lang="en-US" sz="950" b="0" i="0" u="none" strike="noStrike" cap="none">
                <a:solidFill>
                  <a:srgbClr val="5A8A5C"/>
                </a:solidFill>
                <a:latin typeface="Calibri"/>
                <a:ea typeface="Calibri"/>
                <a:cs typeface="Calibri"/>
                <a:sym typeface="Calibri"/>
              </a:rPr>
              <a:t>  |  Journal of Business Venturing (2021)</a:t>
            </a:r>
            <a:endParaRPr/>
          </a:p>
        </p:txBody>
      </p:sp>
      <p:sp>
        <p:nvSpPr>
          <p:cNvPr id="131" name="Google Shape;131;p21"/>
          <p:cNvSpPr/>
          <p:nvPr/>
        </p:nvSpPr>
        <p:spPr>
          <a:xfrm>
            <a:off x="4663263" y="1169300"/>
            <a:ext cx="4205400" cy="60900"/>
          </a:xfrm>
          <a:prstGeom prst="rect">
            <a:avLst/>
          </a:prstGeom>
          <a:noFill/>
          <a:ln>
            <a:noFill/>
          </a:ln>
        </p:spPr>
        <p:txBody>
          <a:bodyPr spcFirstLastPara="1" wrap="square" lIns="91425" tIns="0" rIns="91425"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en-US" sz="700" b="1" i="0" u="none" strike="noStrike" cap="none">
                <a:solidFill>
                  <a:srgbClr val="8090B0"/>
                </a:solidFill>
                <a:latin typeface="Calibri"/>
                <a:ea typeface="Calibri"/>
                <a:cs typeface="Calibri"/>
                <a:sym typeface="Calibri"/>
              </a:rPr>
              <a:t>ESTRATEGIA COMPETITIVA  •  EVIDENCIA EMPÍRICA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136"/>
        <p:cNvGrpSpPr/>
        <p:nvPr/>
      </p:nvGrpSpPr>
      <p:grpSpPr>
        <a:xfrm>
          <a:off x="0" y="0"/>
          <a:ext cx="0" cy="0"/>
          <a:chOff x="0" y="0"/>
          <a:chExt cx="0" cy="0"/>
        </a:xfrm>
      </p:grpSpPr>
      <p:sp>
        <p:nvSpPr>
          <p:cNvPr id="137" name="Google Shape;137;p14"/>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38" name="Google Shape;138;p14"/>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APLICACIÓN PRÁCTICA</a:t>
            </a:r>
            <a:endParaRPr sz="2200" b="0" i="0" u="none" strike="noStrike" cap="none">
              <a:solidFill>
                <a:schemeClr val="dk1"/>
              </a:solidFill>
              <a:latin typeface="Calibri"/>
              <a:ea typeface="Calibri"/>
              <a:cs typeface="Calibri"/>
              <a:sym typeface="Calibri"/>
            </a:endParaRPr>
          </a:p>
        </p:txBody>
      </p:sp>
      <p:sp>
        <p:nvSpPr>
          <p:cNvPr id="139" name="Google Shape;139;p14"/>
          <p:cNvSpPr/>
          <p:nvPr/>
        </p:nvSpPr>
        <p:spPr>
          <a:xfrm>
            <a:off x="0" y="777240"/>
            <a:ext cx="9144000" cy="54864"/>
          </a:xfrm>
          <a:prstGeom prst="rect">
            <a:avLst/>
          </a:prstGeom>
          <a:gradFill>
            <a:gsLst>
              <a:gs pos="0">
                <a:srgbClr val="DBDBDB"/>
              </a:gs>
              <a:gs pos="46000">
                <a:srgbClr val="A8A8A8"/>
              </a:gs>
              <a:gs pos="100000">
                <a:srgbClr val="636363"/>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0" name="Google Shape;140;p14"/>
          <p:cNvSpPr/>
          <p:nvPr/>
        </p:nvSpPr>
        <p:spPr>
          <a:xfrm>
            <a:off x="320040" y="960120"/>
            <a:ext cx="2697480" cy="35204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1" name="Google Shape;141;p14"/>
          <p:cNvSpPr/>
          <p:nvPr/>
        </p:nvSpPr>
        <p:spPr>
          <a:xfrm>
            <a:off x="320040" y="960120"/>
            <a:ext cx="2697480" cy="411480"/>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2" name="Google Shape;142;p14"/>
          <p:cNvSpPr/>
          <p:nvPr/>
        </p:nvSpPr>
        <p:spPr>
          <a:xfrm>
            <a:off x="411480" y="987552"/>
            <a:ext cx="251460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  Apertura de Locales</a:t>
            </a:r>
            <a:endParaRPr sz="1100" b="0" i="0" u="none" strike="noStrike" cap="none">
              <a:solidFill>
                <a:schemeClr val="dk1"/>
              </a:solidFill>
              <a:latin typeface="Calibri"/>
              <a:ea typeface="Calibri"/>
              <a:cs typeface="Calibri"/>
              <a:sym typeface="Calibri"/>
            </a:endParaRPr>
          </a:p>
        </p:txBody>
      </p:sp>
      <p:sp>
        <p:nvSpPr>
          <p:cNvPr id="143" name="Google Shape;143;p14"/>
          <p:cNvSpPr/>
          <p:nvPr/>
        </p:nvSpPr>
        <p:spPr>
          <a:xfrm>
            <a:off x="429775" y="1417324"/>
            <a:ext cx="2496300" cy="2359800"/>
          </a:xfrm>
          <a:prstGeom prst="rect">
            <a:avLst/>
          </a:prstGeom>
          <a:noFill/>
          <a:ln>
            <a:noFill/>
          </a:ln>
        </p:spPr>
        <p:txBody>
          <a:bodyPr spcFirstLastPara="1" wrap="square" lIns="91425" tIns="45700" rIns="91425" bIns="45700" anchor="ctr" anchorCtr="0">
            <a:noAutofit/>
          </a:bodyPr>
          <a:lstStyle/>
          <a:p>
            <a:pPr marL="342900" marR="0" lvl="0" indent="-355600" algn="l" rtl="0">
              <a:lnSpc>
                <a:spcPct val="100000"/>
              </a:lnSpc>
              <a:spcBef>
                <a:spcPts val="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Predecir ventas esperadas antes de firmar contrato de alquiler</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Comparar escenarios: Shopping  vs Calle Comercial C2</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Estimar ROI de la inversión CAPEX inicial</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Decidir el rubro óptimo según zona y nivel socioeconómico</a:t>
            </a:r>
            <a:endParaRPr sz="1100" b="0" i="0" u="none" strike="noStrike" cap="none">
              <a:solidFill>
                <a:schemeClr val="dk1"/>
              </a:solidFill>
              <a:latin typeface="Calibri"/>
              <a:ea typeface="Calibri"/>
              <a:cs typeface="Calibri"/>
              <a:sym typeface="Calibri"/>
            </a:endParaRPr>
          </a:p>
        </p:txBody>
      </p:sp>
      <p:sp>
        <p:nvSpPr>
          <p:cNvPr id="144" name="Google Shape;144;p14"/>
          <p:cNvSpPr/>
          <p:nvPr/>
        </p:nvSpPr>
        <p:spPr>
          <a:xfrm>
            <a:off x="3264408" y="960120"/>
            <a:ext cx="2697480" cy="35204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5" name="Google Shape;145;p14"/>
          <p:cNvSpPr/>
          <p:nvPr/>
        </p:nvSpPr>
        <p:spPr>
          <a:xfrm>
            <a:off x="3264408" y="960120"/>
            <a:ext cx="2697480" cy="41148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6" name="Google Shape;146;p14"/>
          <p:cNvSpPr/>
          <p:nvPr/>
        </p:nvSpPr>
        <p:spPr>
          <a:xfrm>
            <a:off x="3355848" y="987552"/>
            <a:ext cx="251460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  Optimización Operativa</a:t>
            </a:r>
            <a:endParaRPr sz="1100" b="0" i="0" u="none" strike="noStrike" cap="none">
              <a:solidFill>
                <a:schemeClr val="dk1"/>
              </a:solidFill>
              <a:latin typeface="Calibri"/>
              <a:ea typeface="Calibri"/>
              <a:cs typeface="Calibri"/>
              <a:sym typeface="Calibri"/>
            </a:endParaRPr>
          </a:p>
        </p:txBody>
      </p:sp>
      <p:sp>
        <p:nvSpPr>
          <p:cNvPr id="147" name="Google Shape;147;p14"/>
          <p:cNvSpPr/>
          <p:nvPr/>
        </p:nvSpPr>
        <p:spPr>
          <a:xfrm>
            <a:off x="3374125" y="1417324"/>
            <a:ext cx="2496300" cy="2436900"/>
          </a:xfrm>
          <a:prstGeom prst="rect">
            <a:avLst/>
          </a:prstGeom>
          <a:noFill/>
          <a:ln>
            <a:noFill/>
          </a:ln>
        </p:spPr>
        <p:txBody>
          <a:bodyPr spcFirstLastPara="1" wrap="square" lIns="91425" tIns="45700" rIns="91425" bIns="45700" anchor="ctr" anchorCtr="0">
            <a:noAutofit/>
          </a:bodyPr>
          <a:lstStyle/>
          <a:p>
            <a:pPr marL="342900" marR="0" lvl="0" indent="-355600" algn="l" rtl="0">
              <a:lnSpc>
                <a:spcPct val="100000"/>
              </a:lnSpc>
              <a:spcBef>
                <a:spcPts val="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Simular el impacto de aumentar inversión en marketing</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Evaluar si vale la pena mudarse a una ubicación en esquina (+14%)</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Definir el presupuesto de marketing mensual óptimo</a:t>
            </a:r>
            <a:endParaRPr sz="1100" b="0" i="0" u="none" strike="noStrike" cap="none">
              <a:solidFill>
                <a:schemeClr val="dk1"/>
              </a:solidFill>
              <a:latin typeface="Calibri"/>
              <a:ea typeface="Calibri"/>
              <a:cs typeface="Calibri"/>
              <a:sym typeface="Calibri"/>
            </a:endParaRPr>
          </a:p>
          <a:p>
            <a:pPr marL="342900" marR="0" lvl="0" indent="-355600" algn="l" rtl="0">
              <a:lnSpc>
                <a:spcPct val="100000"/>
              </a:lnSpc>
              <a:spcBef>
                <a:spcPts val="500"/>
              </a:spcBef>
              <a:spcAft>
                <a:spcPts val="0"/>
              </a:spcAft>
              <a:buClr>
                <a:srgbClr val="333333"/>
              </a:buClr>
              <a:buSzPts val="1100"/>
              <a:buFont typeface="Calibri"/>
              <a:buChar char="•"/>
            </a:pPr>
            <a:r>
              <a:rPr lang="en-US" sz="1100" b="0" i="0" u="none" strike="noStrike" cap="none">
                <a:solidFill>
                  <a:srgbClr val="333333"/>
                </a:solidFill>
                <a:latin typeface="Calibri"/>
                <a:ea typeface="Calibri"/>
                <a:cs typeface="Calibri"/>
                <a:sym typeface="Calibri"/>
              </a:rPr>
              <a:t>Identificar locales bajo-performance respecto a su predicción</a:t>
            </a:r>
            <a:endParaRPr sz="1100" b="0" i="0" u="none" strike="noStrike" cap="none">
              <a:solidFill>
                <a:schemeClr val="dk1"/>
              </a:solidFill>
              <a:latin typeface="Calibri"/>
              <a:ea typeface="Calibri"/>
              <a:cs typeface="Calibri"/>
              <a:sym typeface="Calibri"/>
            </a:endParaRPr>
          </a:p>
        </p:txBody>
      </p:sp>
      <p:sp>
        <p:nvSpPr>
          <p:cNvPr id="148" name="Google Shape;148;p14"/>
          <p:cNvSpPr/>
          <p:nvPr/>
        </p:nvSpPr>
        <p:spPr>
          <a:xfrm>
            <a:off x="6208776" y="960120"/>
            <a:ext cx="2697480" cy="352044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49" name="Google Shape;149;p14"/>
          <p:cNvSpPr/>
          <p:nvPr/>
        </p:nvSpPr>
        <p:spPr>
          <a:xfrm>
            <a:off x="6208776" y="960120"/>
            <a:ext cx="2697480" cy="411480"/>
          </a:xfrm>
          <a:prstGeom prst="rect">
            <a:avLst/>
          </a:prstGeom>
          <a:solidFill>
            <a:srgbClr val="6A1B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0" name="Google Shape;150;p14"/>
          <p:cNvSpPr/>
          <p:nvPr/>
        </p:nvSpPr>
        <p:spPr>
          <a:xfrm>
            <a:off x="6300216" y="987552"/>
            <a:ext cx="2514600" cy="3657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  Decisiones Financieras</a:t>
            </a:r>
            <a:endParaRPr sz="1100" b="0" i="0" u="none" strike="noStrike" cap="none">
              <a:solidFill>
                <a:schemeClr val="dk1"/>
              </a:solidFill>
              <a:latin typeface="Calibri"/>
              <a:ea typeface="Calibri"/>
              <a:cs typeface="Calibri"/>
              <a:sym typeface="Calibri"/>
            </a:endParaRPr>
          </a:p>
        </p:txBody>
      </p:sp>
      <p:sp>
        <p:nvSpPr>
          <p:cNvPr id="151" name="Google Shape;151;p14"/>
          <p:cNvSpPr/>
          <p:nvPr/>
        </p:nvSpPr>
        <p:spPr>
          <a:xfrm>
            <a:off x="6318500" y="1417325"/>
            <a:ext cx="2496300" cy="2359800"/>
          </a:xfrm>
          <a:prstGeom prst="rect">
            <a:avLst/>
          </a:prstGeom>
          <a:noFill/>
          <a:ln>
            <a:noFill/>
          </a:ln>
        </p:spPr>
        <p:txBody>
          <a:bodyPr spcFirstLastPara="1" wrap="square" lIns="91425" tIns="45700" rIns="91425" bIns="45700" anchor="ctr" anchorCtr="0">
            <a:noAutofit/>
          </a:bodyPr>
          <a:lstStyle/>
          <a:p>
            <a:pPr marL="342900" marR="0" lvl="0" indent="-361950" algn="l" rtl="0">
              <a:lnSpc>
                <a:spcPct val="100000"/>
              </a:lnSpc>
              <a:spcBef>
                <a:spcPts val="0"/>
              </a:spcBef>
              <a:spcAft>
                <a:spcPts val="0"/>
              </a:spcAft>
              <a:buClr>
                <a:srgbClr val="333333"/>
              </a:buClr>
              <a:buSzPts val="1200"/>
              <a:buFont typeface="Calibri"/>
              <a:buChar char="•"/>
            </a:pPr>
            <a:r>
              <a:rPr lang="en-US" sz="1200" b="0" i="0" u="none" strike="noStrike" cap="none">
                <a:solidFill>
                  <a:srgbClr val="333333"/>
                </a:solidFill>
                <a:latin typeface="Calibri"/>
                <a:ea typeface="Calibri"/>
                <a:cs typeface="Calibri"/>
                <a:sym typeface="Calibri"/>
              </a:rPr>
              <a:t>Proyecciones de flujo de caja para inversores</a:t>
            </a:r>
            <a:endParaRPr sz="1200" b="0" i="0" u="none" strike="noStrike" cap="none">
              <a:solidFill>
                <a:schemeClr val="dk1"/>
              </a:solidFill>
              <a:latin typeface="Calibri"/>
              <a:ea typeface="Calibri"/>
              <a:cs typeface="Calibri"/>
              <a:sym typeface="Calibri"/>
            </a:endParaRPr>
          </a:p>
          <a:p>
            <a:pPr marL="342900" marR="0" lvl="0" indent="-361950" algn="l" rtl="0">
              <a:lnSpc>
                <a:spcPct val="100000"/>
              </a:lnSpc>
              <a:spcBef>
                <a:spcPts val="500"/>
              </a:spcBef>
              <a:spcAft>
                <a:spcPts val="0"/>
              </a:spcAft>
              <a:buClr>
                <a:srgbClr val="333333"/>
              </a:buClr>
              <a:buSzPts val="1200"/>
              <a:buFont typeface="Calibri"/>
              <a:buChar char="•"/>
            </a:pPr>
            <a:r>
              <a:rPr lang="en-US" sz="1200" b="0" i="0" u="none" strike="noStrike" cap="none">
                <a:solidFill>
                  <a:srgbClr val="333333"/>
                </a:solidFill>
                <a:latin typeface="Calibri"/>
                <a:ea typeface="Calibri"/>
                <a:cs typeface="Calibri"/>
                <a:sym typeface="Calibri"/>
              </a:rPr>
              <a:t>Valuar el portfolio de locales de una cadena</a:t>
            </a:r>
            <a:endParaRPr sz="1200" b="0" i="0" u="none" strike="noStrike" cap="none">
              <a:solidFill>
                <a:schemeClr val="dk1"/>
              </a:solidFill>
              <a:latin typeface="Calibri"/>
              <a:ea typeface="Calibri"/>
              <a:cs typeface="Calibri"/>
              <a:sym typeface="Calibri"/>
            </a:endParaRPr>
          </a:p>
          <a:p>
            <a:pPr marL="342900" marR="0" lvl="0" indent="-361950" algn="l" rtl="0">
              <a:lnSpc>
                <a:spcPct val="100000"/>
              </a:lnSpc>
              <a:spcBef>
                <a:spcPts val="500"/>
              </a:spcBef>
              <a:spcAft>
                <a:spcPts val="0"/>
              </a:spcAft>
              <a:buClr>
                <a:srgbClr val="333333"/>
              </a:buClr>
              <a:buSzPts val="1200"/>
              <a:buFont typeface="Calibri"/>
              <a:buChar char="•"/>
            </a:pPr>
            <a:r>
              <a:rPr lang="en-US" sz="1200" b="0" i="0" u="none" strike="noStrike" cap="none">
                <a:solidFill>
                  <a:srgbClr val="333333"/>
                </a:solidFill>
                <a:latin typeface="Calibri"/>
                <a:ea typeface="Calibri"/>
                <a:cs typeface="Calibri"/>
                <a:sym typeface="Calibri"/>
              </a:rPr>
              <a:t>Presentar proyecciones fundamentadas ante entidades financieras.</a:t>
            </a:r>
            <a:endParaRPr sz="1700" b="0" i="0" u="none" strike="noStrike" cap="none">
              <a:solidFill>
                <a:srgbClr val="000000"/>
              </a:solidFill>
              <a:latin typeface="Arial"/>
              <a:ea typeface="Arial"/>
              <a:cs typeface="Arial"/>
              <a:sym typeface="Arial"/>
            </a:endParaRPr>
          </a:p>
          <a:p>
            <a:pPr marL="342900" marR="0" lvl="0" indent="-285750" algn="l" rtl="0">
              <a:lnSpc>
                <a:spcPct val="100000"/>
              </a:lnSpc>
              <a:spcBef>
                <a:spcPts val="500"/>
              </a:spcBef>
              <a:spcAft>
                <a:spcPts val="0"/>
              </a:spcAft>
              <a:buClr>
                <a:srgbClr val="333333"/>
              </a:buClr>
              <a:buSzPts val="900"/>
              <a:buFont typeface="Calibri"/>
              <a:buNone/>
            </a:pPr>
            <a:endParaRPr sz="900" b="0" i="0" u="none" strike="noStrike" cap="none">
              <a:solidFill>
                <a:schemeClr val="dk1"/>
              </a:solidFill>
              <a:latin typeface="Calibri"/>
              <a:ea typeface="Calibri"/>
              <a:cs typeface="Calibri"/>
              <a:sym typeface="Calibri"/>
            </a:endParaRPr>
          </a:p>
        </p:txBody>
      </p:sp>
      <p:sp>
        <p:nvSpPr>
          <p:cNvPr id="152" name="Google Shape;152;p14"/>
          <p:cNvSpPr/>
          <p:nvPr/>
        </p:nvSpPr>
        <p:spPr>
          <a:xfrm>
            <a:off x="320040" y="4572000"/>
            <a:ext cx="8503920" cy="502920"/>
          </a:xfrm>
          <a:prstGeom prst="rect">
            <a:avLst/>
          </a:prstGeom>
          <a:solidFill>
            <a:srgbClr val="FFF8E1"/>
          </a:solidFill>
          <a:ln w="12700" cap="flat" cmpd="sng">
            <a:solidFill>
              <a:srgbClr val="FFB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53" name="Google Shape;153;p14"/>
          <p:cNvSpPr/>
          <p:nvPr/>
        </p:nvSpPr>
        <p:spPr>
          <a:xfrm>
            <a:off x="411480" y="4571988"/>
            <a:ext cx="8321100" cy="457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B5800"/>
              </a:buClr>
              <a:buSzPts val="1000"/>
              <a:buFont typeface="Calibri"/>
              <a:buNone/>
            </a:pPr>
            <a:r>
              <a:rPr lang="en-US" sz="1000" b="0" i="0" u="none" strike="noStrike" cap="none">
                <a:solidFill>
                  <a:srgbClr val="7B5800"/>
                </a:solidFill>
                <a:latin typeface="Calibri"/>
                <a:ea typeface="Calibri"/>
                <a:cs typeface="Calibri"/>
                <a:sym typeface="Calibri"/>
              </a:rPr>
              <a:t>📌  Ejemplo: Local de Tecnología | Shopping | ABC1 | 150m² | Marketing $5,000/mes → Predicción RF: ~$875,000–$920,000 anuales</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F8FBFF"/>
        </a:solidFill>
        <a:effectLst/>
      </p:bgPr>
    </p:bg>
    <p:spTree>
      <p:nvGrpSpPr>
        <p:cNvPr id="1" name="Shape 158"/>
        <p:cNvGrpSpPr/>
        <p:nvPr/>
      </p:nvGrpSpPr>
      <p:grpSpPr>
        <a:xfrm>
          <a:off x="0" y="0"/>
          <a:ext cx="0" cy="0"/>
          <a:chOff x="0" y="0"/>
          <a:chExt cx="0" cy="0"/>
        </a:xfrm>
      </p:grpSpPr>
      <p:pic>
        <p:nvPicPr>
          <p:cNvPr id="159" name="Google Shape;159;g39554702cd6_0_15"/>
          <p:cNvPicPr preferRelativeResize="0"/>
          <p:nvPr/>
        </p:nvPicPr>
        <p:blipFill rotWithShape="1">
          <a:blip r:embed="rId3">
            <a:alphaModFix/>
          </a:blip>
          <a:srcRect/>
          <a:stretch/>
        </p:blipFill>
        <p:spPr>
          <a:xfrm>
            <a:off x="2091650" y="219265"/>
            <a:ext cx="4508263" cy="40065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63"/>
        <p:cNvGrpSpPr/>
        <p:nvPr/>
      </p:nvGrpSpPr>
      <p:grpSpPr>
        <a:xfrm>
          <a:off x="0" y="0"/>
          <a:ext cx="0" cy="0"/>
          <a:chOff x="0" y="0"/>
          <a:chExt cx="0" cy="0"/>
        </a:xfrm>
      </p:grpSpPr>
      <p:sp>
        <p:nvSpPr>
          <p:cNvPr id="164" name="Google Shape;164;g3ca65b628b7_1_0"/>
          <p:cNvSpPr/>
          <p:nvPr/>
        </p:nvSpPr>
        <p:spPr>
          <a:xfrm>
            <a:off x="0" y="0"/>
            <a:ext cx="9144000" cy="77730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5" name="Google Shape;165;g3ca65b628b7_1_0"/>
          <p:cNvSpPr/>
          <p:nvPr/>
        </p:nvSpPr>
        <p:spPr>
          <a:xfrm>
            <a:off x="365760" y="0"/>
            <a:ext cx="8229600" cy="777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Wo Outliers - Experiment</a:t>
            </a:r>
            <a:endParaRPr sz="2200" b="0" i="0" u="none" strike="noStrike" cap="none">
              <a:solidFill>
                <a:schemeClr val="dk1"/>
              </a:solidFill>
              <a:latin typeface="Calibri"/>
              <a:ea typeface="Calibri"/>
              <a:cs typeface="Calibri"/>
              <a:sym typeface="Calibri"/>
            </a:endParaRPr>
          </a:p>
        </p:txBody>
      </p:sp>
      <p:sp>
        <p:nvSpPr>
          <p:cNvPr id="166" name="Google Shape;166;g3ca65b628b7_1_0"/>
          <p:cNvSpPr/>
          <p:nvPr/>
        </p:nvSpPr>
        <p:spPr>
          <a:xfrm>
            <a:off x="0" y="777240"/>
            <a:ext cx="9144000" cy="54900"/>
          </a:xfrm>
          <a:prstGeom prst="rect">
            <a:avLst/>
          </a:prstGeom>
          <a:gradFill>
            <a:gsLst>
              <a:gs pos="0">
                <a:srgbClr val="DBDBDB"/>
              </a:gs>
              <a:gs pos="46000">
                <a:srgbClr val="A8A8A8"/>
              </a:gs>
              <a:gs pos="100000">
                <a:srgbClr val="636363"/>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67" name="Google Shape;167;g3ca65b628b7_1_0"/>
          <p:cNvSpPr txBox="1"/>
          <p:nvPr/>
        </p:nvSpPr>
        <p:spPr>
          <a:xfrm>
            <a:off x="113199" y="910899"/>
            <a:ext cx="3923707" cy="1200288"/>
          </a:xfrm>
          <a:prstGeom prst="rect">
            <a:avLst/>
          </a:prstGeom>
          <a:gradFill>
            <a:gsLst>
              <a:gs pos="0">
                <a:srgbClr val="A6B6DE"/>
              </a:gs>
              <a:gs pos="50000">
                <a:srgbClr val="98AAD9"/>
              </a:gs>
              <a:gs pos="100000">
                <a:srgbClr val="859CD7"/>
              </a:gs>
            </a:gsLst>
            <a:lin ang="5400012" scaled="0"/>
          </a:gradFill>
          <a:ln w="9525" cap="flat" cmpd="sng">
            <a:solidFill>
              <a:schemeClr val="accent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1200" b="0" i="0" u="none" strike="noStrike" cap="none">
                <a:solidFill>
                  <a:schemeClr val="dk1"/>
                </a:solidFill>
                <a:latin typeface="Calibri"/>
                <a:ea typeface="Calibri"/>
                <a:cs typeface="Calibri"/>
                <a:sym typeface="Calibri"/>
              </a:rPr>
              <a:t>Configuración del experimento</a:t>
            </a:r>
            <a:endParaRPr sz="1200" b="0" i="0" u="none" strike="noStrike" cap="none">
              <a:solidFill>
                <a:schemeClr val="dk1"/>
              </a:solidFill>
              <a:latin typeface="Calibri"/>
              <a:ea typeface="Calibri"/>
              <a:cs typeface="Calibri"/>
              <a:sym typeface="Calibri"/>
            </a:endParaRPr>
          </a:p>
          <a:p>
            <a:pPr marL="457200" marR="0" lvl="0" indent="-279400" algn="l" rtl="0">
              <a:lnSpc>
                <a:spcPct val="100000"/>
              </a:lnSpc>
              <a:spcBef>
                <a:spcPts val="0"/>
              </a:spcBef>
              <a:spcAft>
                <a:spcPts val="0"/>
              </a:spcAft>
              <a:buClr>
                <a:srgbClr val="1E4E79"/>
              </a:buClr>
              <a:buSzPts val="800"/>
              <a:buFont typeface="Calibri"/>
              <a:buChar char="●"/>
            </a:pPr>
            <a:r>
              <a:rPr lang="en-US" sz="800" b="0" i="0" u="none" strike="noStrike" cap="none">
                <a:solidFill>
                  <a:schemeClr val="dk1"/>
                </a:solidFill>
                <a:latin typeface="Calibri"/>
                <a:ea typeface="Calibri"/>
                <a:cs typeface="Calibri"/>
                <a:sym typeface="Calibri"/>
              </a:rPr>
              <a:t>Dataset original: 3,000 locales.</a:t>
            </a:r>
            <a:endParaRPr sz="800" b="0" i="0" u="none" strike="noStrike" cap="none">
              <a:solidFill>
                <a:schemeClr val="dk1"/>
              </a:solidFill>
              <a:latin typeface="Calibri"/>
              <a:ea typeface="Calibri"/>
              <a:cs typeface="Calibri"/>
              <a:sym typeface="Calibri"/>
            </a:endParaRPr>
          </a:p>
          <a:p>
            <a:pPr marL="457200" marR="0" lvl="0" indent="-279400" algn="l" rtl="0">
              <a:lnSpc>
                <a:spcPct val="100000"/>
              </a:lnSpc>
              <a:spcBef>
                <a:spcPts val="0"/>
              </a:spcBef>
              <a:spcAft>
                <a:spcPts val="0"/>
              </a:spcAft>
              <a:buClr>
                <a:srgbClr val="1E4E79"/>
              </a:buClr>
              <a:buSzPts val="800"/>
              <a:buFont typeface="Calibri"/>
              <a:buChar char="●"/>
            </a:pPr>
            <a:r>
              <a:rPr lang="en-US" sz="800" b="0" i="0" u="none" strike="noStrike" cap="none">
                <a:solidFill>
                  <a:schemeClr val="dk1"/>
                </a:solidFill>
                <a:latin typeface="Calibri"/>
                <a:ea typeface="Calibri"/>
                <a:cs typeface="Calibri"/>
                <a:sym typeface="Calibri"/>
              </a:rPr>
              <a:t>Outliers detectados: 305 registros (10.2%) en variables clave (inversión CAPEX, marketing, alquiler, ventas).</a:t>
            </a:r>
            <a:endParaRPr sz="800" b="0" i="0" u="none" strike="noStrike" cap="none">
              <a:solidFill>
                <a:schemeClr val="dk1"/>
              </a:solidFill>
              <a:latin typeface="Calibri"/>
              <a:ea typeface="Calibri"/>
              <a:cs typeface="Calibri"/>
              <a:sym typeface="Calibri"/>
            </a:endParaRPr>
          </a:p>
          <a:p>
            <a:pPr marL="457200" marR="0" lvl="0" indent="-279400" algn="l" rtl="0">
              <a:lnSpc>
                <a:spcPct val="100000"/>
              </a:lnSpc>
              <a:spcBef>
                <a:spcPts val="0"/>
              </a:spcBef>
              <a:spcAft>
                <a:spcPts val="0"/>
              </a:spcAft>
              <a:buClr>
                <a:srgbClr val="1E4E79"/>
              </a:buClr>
              <a:buSzPts val="800"/>
              <a:buFont typeface="Calibri"/>
              <a:buChar char="●"/>
            </a:pPr>
            <a:r>
              <a:rPr lang="en-US" sz="800" b="0" i="0" u="none" strike="noStrike" cap="none">
                <a:solidFill>
                  <a:schemeClr val="dk1"/>
                </a:solidFill>
                <a:latin typeface="Calibri"/>
                <a:ea typeface="Calibri"/>
                <a:cs typeface="Calibri"/>
                <a:sym typeface="Calibri"/>
              </a:rPr>
              <a:t>Modelos comparados: KNN (con búsqueda de k óptimo) y Random Forest.</a:t>
            </a:r>
            <a:endParaRPr sz="800" b="0" i="0" u="none" strike="noStrike" cap="none">
              <a:solidFill>
                <a:schemeClr val="dk1"/>
              </a:solidFill>
              <a:latin typeface="Calibri"/>
              <a:ea typeface="Calibri"/>
              <a:cs typeface="Calibri"/>
              <a:sym typeface="Calibri"/>
            </a:endParaRPr>
          </a:p>
          <a:p>
            <a:pPr marL="457200" marR="0" lvl="0" indent="-279400" algn="l" rtl="0">
              <a:lnSpc>
                <a:spcPct val="100000"/>
              </a:lnSpc>
              <a:spcBef>
                <a:spcPts val="0"/>
              </a:spcBef>
              <a:spcAft>
                <a:spcPts val="0"/>
              </a:spcAft>
              <a:buClr>
                <a:srgbClr val="1E4E79"/>
              </a:buClr>
              <a:buSzPts val="800"/>
              <a:buFont typeface="Calibri"/>
              <a:buChar char="●"/>
            </a:pPr>
            <a:r>
              <a:rPr lang="en-US" sz="800" b="0" i="0" u="none" strike="noStrike" cap="none">
                <a:solidFill>
                  <a:schemeClr val="dk1"/>
                </a:solidFill>
                <a:latin typeface="Calibri"/>
                <a:ea typeface="Calibri"/>
                <a:cs typeface="Calibri"/>
                <a:sym typeface="Calibri"/>
              </a:rPr>
              <a:t>Métrica principal: R² (coeficiente de determinación) y MAE (error absoluto medio)</a:t>
            </a:r>
            <a:endParaRPr sz="800" b="0" i="0" u="none" strike="noStrike" cap="none">
              <a:solidFill>
                <a:schemeClr val="dk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200"/>
              <a:buFont typeface="Arial"/>
              <a:buNone/>
            </a:pPr>
            <a:endParaRPr sz="1200" b="0" i="0" u="none" strike="noStrike" cap="none">
              <a:solidFill>
                <a:srgbClr val="1E4E79"/>
              </a:solidFill>
              <a:latin typeface="Calibri"/>
              <a:ea typeface="Calibri"/>
              <a:cs typeface="Calibri"/>
              <a:sym typeface="Calibri"/>
            </a:endParaRPr>
          </a:p>
        </p:txBody>
      </p:sp>
      <p:sp>
        <p:nvSpPr>
          <p:cNvPr id="168" name="Google Shape;168;g3ca65b628b7_1_0"/>
          <p:cNvSpPr txBox="1"/>
          <p:nvPr/>
        </p:nvSpPr>
        <p:spPr>
          <a:xfrm>
            <a:off x="4658300" y="910904"/>
            <a:ext cx="4172400" cy="1200600"/>
          </a:xfrm>
          <a:prstGeom prst="rect">
            <a:avLst/>
          </a:prstGeom>
          <a:gradFill>
            <a:gsLst>
              <a:gs pos="0">
                <a:srgbClr val="B4D4A5"/>
              </a:gs>
              <a:gs pos="50000">
                <a:srgbClr val="A8CD97"/>
              </a:gs>
              <a:gs pos="100000">
                <a:srgbClr val="9BC985"/>
              </a:gs>
            </a:gsLst>
            <a:lin ang="5400700" scaled="0"/>
          </a:gradFill>
          <a:ln w="9525" cap="flat" cmpd="sng">
            <a:solidFill>
              <a:srgbClr val="2EC643"/>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US" sz="900" b="0" i="0" u="none" strike="noStrike" cap="none">
                <a:solidFill>
                  <a:schemeClr val="dk1"/>
                </a:solidFill>
                <a:latin typeface="Calibri"/>
                <a:ea typeface="Calibri"/>
                <a:cs typeface="Calibri"/>
                <a:sym typeface="Calibri"/>
              </a:rPr>
              <a:t>Hallazgos clave</a:t>
            </a:r>
            <a:endParaRPr sz="1100" b="0" i="0" u="none" strike="noStrike" cap="none">
              <a:solidFill>
                <a:schemeClr val="dk1"/>
              </a:solidFill>
              <a:latin typeface="Arial"/>
              <a:ea typeface="Arial"/>
              <a:cs typeface="Arial"/>
              <a:sym typeface="Arial"/>
            </a:endParaRPr>
          </a:p>
          <a:p>
            <a:pPr marL="457200" marR="0" lvl="0" indent="-285750" algn="l" rtl="0">
              <a:lnSpc>
                <a:spcPct val="100000"/>
              </a:lnSpc>
              <a:spcBef>
                <a:spcPts val="0"/>
              </a:spcBef>
              <a:spcAft>
                <a:spcPts val="0"/>
              </a:spcAft>
              <a:buClr>
                <a:srgbClr val="548135"/>
              </a:buClr>
              <a:buSzPts val="900"/>
              <a:buFont typeface="Calibri"/>
              <a:buChar char="●"/>
            </a:pPr>
            <a:r>
              <a:rPr lang="en-US" sz="900" b="0" i="0" u="none" strike="noStrike" cap="none">
                <a:solidFill>
                  <a:schemeClr val="dk1"/>
                </a:solidFill>
                <a:latin typeface="Calibri"/>
                <a:ea typeface="Calibri"/>
                <a:cs typeface="Calibri"/>
                <a:sym typeface="Calibri"/>
              </a:rPr>
              <a:t>Random Forest es robusto a outliers: su rendimiento apenas empeora al eliminarlos (R²: 0.8288 → 0.759 (-6.9%). Esto indica que los casos extremos (locales premium) contienen información valiosa que el modelo aprovecha.</a:t>
            </a:r>
            <a:endParaRPr sz="900" b="0" i="0" u="none" strike="noStrike" cap="none">
              <a:solidFill>
                <a:schemeClr val="dk1"/>
              </a:solidFill>
              <a:latin typeface="Calibri"/>
              <a:ea typeface="Calibri"/>
              <a:cs typeface="Calibri"/>
              <a:sym typeface="Calibri"/>
            </a:endParaRPr>
          </a:p>
          <a:p>
            <a:pPr marL="457200" marR="0" lvl="0" indent="-285750" algn="l" rtl="0">
              <a:lnSpc>
                <a:spcPct val="100000"/>
              </a:lnSpc>
              <a:spcBef>
                <a:spcPts val="0"/>
              </a:spcBef>
              <a:spcAft>
                <a:spcPts val="0"/>
              </a:spcAft>
              <a:buClr>
                <a:srgbClr val="548135"/>
              </a:buClr>
              <a:buSzPts val="900"/>
              <a:buFont typeface="Calibri"/>
              <a:buChar char="●"/>
            </a:pPr>
            <a:r>
              <a:rPr lang="en-US" sz="900" b="0" i="0" u="none" strike="noStrike" cap="none">
                <a:solidFill>
                  <a:schemeClr val="dk1"/>
                </a:solidFill>
                <a:latin typeface="Calibri"/>
                <a:ea typeface="Calibri"/>
                <a:cs typeface="Calibri"/>
                <a:sym typeface="Calibri"/>
              </a:rPr>
              <a:t>KNN es más sensible: R²: 0.638 → 0.585 (-10.0%) y su error aumenta proporcionalmente.</a:t>
            </a:r>
            <a:endParaRPr sz="900" b="0" i="0" u="none" strike="noStrike" cap="none">
              <a:solidFill>
                <a:schemeClr val="dk1"/>
              </a:solidFill>
              <a:latin typeface="Calibri"/>
              <a:ea typeface="Calibri"/>
              <a:cs typeface="Calibri"/>
              <a:sym typeface="Calibri"/>
            </a:endParaRPr>
          </a:p>
          <a:p>
            <a:pPr marL="457200" marR="0" lvl="0" indent="-285750" algn="l" rtl="0">
              <a:lnSpc>
                <a:spcPct val="100000"/>
              </a:lnSpc>
              <a:spcBef>
                <a:spcPts val="0"/>
              </a:spcBef>
              <a:spcAft>
                <a:spcPts val="0"/>
              </a:spcAft>
              <a:buClr>
                <a:srgbClr val="548135"/>
              </a:buClr>
              <a:buSzPts val="900"/>
              <a:buFont typeface="Calibri"/>
              <a:buChar char="●"/>
            </a:pPr>
            <a:r>
              <a:rPr lang="en-US" sz="900" b="0" i="0" u="none" strike="noStrike" cap="none">
                <a:solidFill>
                  <a:schemeClr val="dk1"/>
                </a:solidFill>
                <a:latin typeface="Calibri"/>
                <a:ea typeface="Calibri"/>
                <a:cs typeface="Calibri"/>
                <a:sym typeface="Calibri"/>
              </a:rPr>
              <a:t>El mejor modelo sigue siendo Random Forest con outliers: R² = 0.8288 (82.9% de precisión)</a:t>
            </a:r>
            <a:endParaRPr sz="900" b="0" i="0" u="none" strike="noStrike" cap="none">
              <a:solidFill>
                <a:schemeClr val="dk1"/>
              </a:solidFill>
              <a:latin typeface="Calibri"/>
              <a:ea typeface="Calibri"/>
              <a:cs typeface="Calibri"/>
              <a:sym typeface="Calibri"/>
            </a:endParaRPr>
          </a:p>
        </p:txBody>
      </p:sp>
      <p:pic>
        <p:nvPicPr>
          <p:cNvPr id="169" name="Google Shape;169;g3ca65b628b7_1_0"/>
          <p:cNvPicPr preferRelativeResize="0"/>
          <p:nvPr/>
        </p:nvPicPr>
        <p:blipFill rotWithShape="1">
          <a:blip r:embed="rId3">
            <a:alphaModFix/>
          </a:blip>
          <a:srcRect/>
          <a:stretch/>
        </p:blipFill>
        <p:spPr>
          <a:xfrm>
            <a:off x="310763" y="2190250"/>
            <a:ext cx="8522487" cy="28124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174"/>
        <p:cNvGrpSpPr/>
        <p:nvPr/>
      </p:nvGrpSpPr>
      <p:grpSpPr>
        <a:xfrm>
          <a:off x="0" y="0"/>
          <a:ext cx="0" cy="0"/>
          <a:chOff x="0" y="0"/>
          <a:chExt cx="0" cy="0"/>
        </a:xfrm>
      </p:grpSpPr>
      <p:sp>
        <p:nvSpPr>
          <p:cNvPr id="175" name="Google Shape;175;p4"/>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6" name="Google Shape;176;p4"/>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ANÁLISIS EXPLORATORIO DE DATOS</a:t>
            </a:r>
            <a:endParaRPr sz="2200" b="0" i="0" u="none" strike="noStrike" cap="none">
              <a:solidFill>
                <a:schemeClr val="dk1"/>
              </a:solidFill>
              <a:latin typeface="Calibri"/>
              <a:ea typeface="Calibri"/>
              <a:cs typeface="Calibri"/>
              <a:sym typeface="Calibri"/>
            </a:endParaRPr>
          </a:p>
        </p:txBody>
      </p:sp>
      <p:sp>
        <p:nvSpPr>
          <p:cNvPr id="177" name="Google Shape;177;p4"/>
          <p:cNvSpPr/>
          <p:nvPr/>
        </p:nvSpPr>
        <p:spPr>
          <a:xfrm>
            <a:off x="0" y="777240"/>
            <a:ext cx="9144000" cy="54864"/>
          </a:xfrm>
          <a:prstGeom prst="rect">
            <a:avLst/>
          </a:prstGeom>
          <a:gradFill>
            <a:gsLst>
              <a:gs pos="0">
                <a:srgbClr val="929292"/>
              </a:gs>
              <a:gs pos="23000">
                <a:srgbClr val="929292"/>
              </a:gs>
              <a:gs pos="69000">
                <a:srgbClr val="7B7B7B"/>
              </a:gs>
              <a:gs pos="97000">
                <a:srgbClr val="737373"/>
              </a:gs>
              <a:gs pos="100000">
                <a:srgbClr val="737373"/>
              </a:gs>
            </a:gsLst>
            <a:path path="circle">
              <a:fillToRect l="50000" t="50000" r="50000" b="50000"/>
            </a:path>
            <a:tileRect/>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8" name="Google Shape;178;p4"/>
          <p:cNvSpPr/>
          <p:nvPr/>
        </p:nvSpPr>
        <p:spPr>
          <a:xfrm>
            <a:off x="320040" y="960120"/>
            <a:ext cx="1920240" cy="640080"/>
          </a:xfrm>
          <a:prstGeom prst="rect">
            <a:avLst/>
          </a:prstGeom>
          <a:solidFill>
            <a:srgbClr val="1565C0"/>
          </a:solidFill>
          <a:ln>
            <a:noFill/>
          </a:ln>
          <a:effectLst>
            <a:outerShdw blurRad="63500" dist="25400" dir="8100000" algn="bl" rotWithShape="0">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79" name="Google Shape;179;p4"/>
          <p:cNvSpPr/>
          <p:nvPr/>
        </p:nvSpPr>
        <p:spPr>
          <a:xfrm>
            <a:off x="320040" y="987552"/>
            <a:ext cx="1920240" cy="34747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$555,814</a:t>
            </a:r>
            <a:endParaRPr sz="1600" b="0" i="0" u="none" strike="noStrike" cap="none">
              <a:solidFill>
                <a:schemeClr val="dk1"/>
              </a:solidFill>
              <a:latin typeface="Calibri"/>
              <a:ea typeface="Calibri"/>
              <a:cs typeface="Calibri"/>
              <a:sym typeface="Calibri"/>
            </a:endParaRPr>
          </a:p>
        </p:txBody>
      </p:sp>
      <p:sp>
        <p:nvSpPr>
          <p:cNvPr id="180" name="Google Shape;180;p4"/>
          <p:cNvSpPr/>
          <p:nvPr/>
        </p:nvSpPr>
        <p:spPr>
          <a:xfrm>
            <a:off x="320040" y="133502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3D1FF"/>
              </a:buClr>
              <a:buSzPts val="900"/>
              <a:buFont typeface="Calibri"/>
              <a:buNone/>
            </a:pPr>
            <a:r>
              <a:rPr lang="en-US" sz="900" b="0" i="0" u="none" strike="noStrike" cap="none">
                <a:solidFill>
                  <a:srgbClr val="B3D1FF"/>
                </a:solidFill>
                <a:latin typeface="Calibri"/>
                <a:ea typeface="Calibri"/>
                <a:cs typeface="Calibri"/>
                <a:sym typeface="Calibri"/>
              </a:rPr>
              <a:t>Venta Media</a:t>
            </a:r>
            <a:endParaRPr sz="900" b="0" i="0" u="none" strike="noStrike" cap="none">
              <a:solidFill>
                <a:schemeClr val="dk1"/>
              </a:solidFill>
              <a:latin typeface="Calibri"/>
              <a:ea typeface="Calibri"/>
              <a:cs typeface="Calibri"/>
              <a:sym typeface="Calibri"/>
            </a:endParaRPr>
          </a:p>
        </p:txBody>
      </p:sp>
      <p:sp>
        <p:nvSpPr>
          <p:cNvPr id="181" name="Google Shape;181;p4"/>
          <p:cNvSpPr/>
          <p:nvPr/>
        </p:nvSpPr>
        <p:spPr>
          <a:xfrm>
            <a:off x="2496312" y="960120"/>
            <a:ext cx="1920240" cy="640080"/>
          </a:xfrm>
          <a:prstGeom prst="rect">
            <a:avLst/>
          </a:prstGeom>
          <a:solidFill>
            <a:srgbClr val="1565C0"/>
          </a:solidFill>
          <a:ln>
            <a:noFill/>
          </a:ln>
          <a:effectLst>
            <a:outerShdw blurRad="63500" dist="25400" dir="8100000" algn="bl" rotWithShape="0">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2" name="Google Shape;182;p4"/>
          <p:cNvSpPr/>
          <p:nvPr/>
        </p:nvSpPr>
        <p:spPr>
          <a:xfrm>
            <a:off x="2496312" y="987552"/>
            <a:ext cx="1920240" cy="34747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$511,957</a:t>
            </a:r>
            <a:endParaRPr sz="1600" b="0" i="0" u="none" strike="noStrike" cap="none">
              <a:solidFill>
                <a:schemeClr val="dk1"/>
              </a:solidFill>
              <a:latin typeface="Calibri"/>
              <a:ea typeface="Calibri"/>
              <a:cs typeface="Calibri"/>
              <a:sym typeface="Calibri"/>
            </a:endParaRPr>
          </a:p>
        </p:txBody>
      </p:sp>
      <p:sp>
        <p:nvSpPr>
          <p:cNvPr id="183" name="Google Shape;183;p4"/>
          <p:cNvSpPr/>
          <p:nvPr/>
        </p:nvSpPr>
        <p:spPr>
          <a:xfrm>
            <a:off x="2496312" y="133502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3D1FF"/>
              </a:buClr>
              <a:buSzPts val="900"/>
              <a:buFont typeface="Calibri"/>
              <a:buNone/>
            </a:pPr>
            <a:r>
              <a:rPr lang="en-US" sz="900" b="0" i="0" u="none" strike="noStrike" cap="none">
                <a:solidFill>
                  <a:srgbClr val="B3D1FF"/>
                </a:solidFill>
                <a:latin typeface="Calibri"/>
                <a:ea typeface="Calibri"/>
                <a:cs typeface="Calibri"/>
                <a:sym typeface="Calibri"/>
              </a:rPr>
              <a:t>Mediana</a:t>
            </a:r>
            <a:endParaRPr sz="900" b="0" i="0" u="none" strike="noStrike" cap="none">
              <a:solidFill>
                <a:schemeClr val="dk1"/>
              </a:solidFill>
              <a:latin typeface="Calibri"/>
              <a:ea typeface="Calibri"/>
              <a:cs typeface="Calibri"/>
              <a:sym typeface="Calibri"/>
            </a:endParaRPr>
          </a:p>
        </p:txBody>
      </p:sp>
      <p:sp>
        <p:nvSpPr>
          <p:cNvPr id="184" name="Google Shape;184;p4"/>
          <p:cNvSpPr/>
          <p:nvPr/>
        </p:nvSpPr>
        <p:spPr>
          <a:xfrm>
            <a:off x="4672584" y="960120"/>
            <a:ext cx="1920240" cy="640080"/>
          </a:xfrm>
          <a:prstGeom prst="rect">
            <a:avLst/>
          </a:prstGeom>
          <a:solidFill>
            <a:srgbClr val="1565C0"/>
          </a:solidFill>
          <a:ln>
            <a:noFill/>
          </a:ln>
          <a:effectLst>
            <a:outerShdw blurRad="63500" dist="25400" dir="8100000" algn="bl" rotWithShape="0">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5" name="Google Shape;185;p4"/>
          <p:cNvSpPr/>
          <p:nvPr/>
        </p:nvSpPr>
        <p:spPr>
          <a:xfrm>
            <a:off x="4672584" y="987552"/>
            <a:ext cx="1920240" cy="34747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$115,674</a:t>
            </a:r>
            <a:endParaRPr sz="1600" b="0" i="0" u="none" strike="noStrike" cap="none">
              <a:solidFill>
                <a:schemeClr val="dk1"/>
              </a:solidFill>
              <a:latin typeface="Calibri"/>
              <a:ea typeface="Calibri"/>
              <a:cs typeface="Calibri"/>
              <a:sym typeface="Calibri"/>
            </a:endParaRPr>
          </a:p>
        </p:txBody>
      </p:sp>
      <p:sp>
        <p:nvSpPr>
          <p:cNvPr id="186" name="Google Shape;186;p4"/>
          <p:cNvSpPr/>
          <p:nvPr/>
        </p:nvSpPr>
        <p:spPr>
          <a:xfrm>
            <a:off x="4672584" y="133502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3D1FF"/>
              </a:buClr>
              <a:buSzPts val="900"/>
              <a:buFont typeface="Calibri"/>
              <a:buNone/>
            </a:pPr>
            <a:r>
              <a:rPr lang="en-US" sz="900" b="0" i="0" u="none" strike="noStrike" cap="none">
                <a:solidFill>
                  <a:srgbClr val="B3D1FF"/>
                </a:solidFill>
                <a:latin typeface="Calibri"/>
                <a:ea typeface="Calibri"/>
                <a:cs typeface="Calibri"/>
                <a:sym typeface="Calibri"/>
              </a:rPr>
              <a:t>Mínimo</a:t>
            </a:r>
            <a:endParaRPr sz="900" b="0" i="0" u="none" strike="noStrike" cap="none">
              <a:solidFill>
                <a:schemeClr val="dk1"/>
              </a:solidFill>
              <a:latin typeface="Calibri"/>
              <a:ea typeface="Calibri"/>
              <a:cs typeface="Calibri"/>
              <a:sym typeface="Calibri"/>
            </a:endParaRPr>
          </a:p>
        </p:txBody>
      </p:sp>
      <p:sp>
        <p:nvSpPr>
          <p:cNvPr id="187" name="Google Shape;187;p4"/>
          <p:cNvSpPr/>
          <p:nvPr/>
        </p:nvSpPr>
        <p:spPr>
          <a:xfrm>
            <a:off x="6848856" y="960120"/>
            <a:ext cx="1920240" cy="640080"/>
          </a:xfrm>
          <a:prstGeom prst="rect">
            <a:avLst/>
          </a:prstGeom>
          <a:solidFill>
            <a:srgbClr val="1565C0"/>
          </a:solidFill>
          <a:ln>
            <a:noFill/>
          </a:ln>
          <a:effectLst>
            <a:outerShdw blurRad="63500" dist="25400" dir="8100000" algn="bl" rotWithShape="0">
              <a:srgbClr val="000000">
                <a:alpha val="14901"/>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88" name="Google Shape;188;p4"/>
          <p:cNvSpPr/>
          <p:nvPr/>
        </p:nvSpPr>
        <p:spPr>
          <a:xfrm>
            <a:off x="6848856" y="987552"/>
            <a:ext cx="1920240" cy="34747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$1,853,638</a:t>
            </a:r>
            <a:endParaRPr sz="1600" b="0" i="0" u="none" strike="noStrike" cap="none">
              <a:solidFill>
                <a:schemeClr val="dk1"/>
              </a:solidFill>
              <a:latin typeface="Calibri"/>
              <a:ea typeface="Calibri"/>
              <a:cs typeface="Calibri"/>
              <a:sym typeface="Calibri"/>
            </a:endParaRPr>
          </a:p>
        </p:txBody>
      </p:sp>
      <p:sp>
        <p:nvSpPr>
          <p:cNvPr id="189" name="Google Shape;189;p4"/>
          <p:cNvSpPr/>
          <p:nvPr/>
        </p:nvSpPr>
        <p:spPr>
          <a:xfrm>
            <a:off x="6848856" y="133502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B3D1FF"/>
              </a:buClr>
              <a:buSzPts val="900"/>
              <a:buFont typeface="Calibri"/>
              <a:buNone/>
            </a:pPr>
            <a:r>
              <a:rPr lang="en-US" sz="900" b="0" i="0" u="none" strike="noStrike" cap="none">
                <a:solidFill>
                  <a:srgbClr val="B3D1FF"/>
                </a:solidFill>
                <a:latin typeface="Calibri"/>
                <a:ea typeface="Calibri"/>
                <a:cs typeface="Calibri"/>
                <a:sym typeface="Calibri"/>
              </a:rPr>
              <a:t>Máximo</a:t>
            </a:r>
            <a:endParaRPr sz="900" b="0" i="0" u="none" strike="noStrike" cap="none">
              <a:solidFill>
                <a:schemeClr val="dk1"/>
              </a:solidFill>
              <a:latin typeface="Calibri"/>
              <a:ea typeface="Calibri"/>
              <a:cs typeface="Calibri"/>
              <a:sym typeface="Calibri"/>
            </a:endParaRPr>
          </a:p>
        </p:txBody>
      </p:sp>
      <p:sp>
        <p:nvSpPr>
          <p:cNvPr id="190" name="Google Shape;190;p4"/>
          <p:cNvSpPr/>
          <p:nvPr/>
        </p:nvSpPr>
        <p:spPr>
          <a:xfrm>
            <a:off x="320040" y="4407408"/>
            <a:ext cx="429768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Distribución de Ventas Anuales</a:t>
            </a:r>
            <a:endParaRPr sz="900" b="0" i="0" u="none" strike="noStrike" cap="none">
              <a:solidFill>
                <a:schemeClr val="dk1"/>
              </a:solidFill>
              <a:latin typeface="Calibri"/>
              <a:ea typeface="Calibri"/>
              <a:cs typeface="Calibri"/>
              <a:sym typeface="Calibri"/>
            </a:endParaRPr>
          </a:p>
        </p:txBody>
      </p:sp>
      <p:pic>
        <p:nvPicPr>
          <p:cNvPr id="191" name="Google Shape;191;p4" descr="preencoded.png"/>
          <p:cNvPicPr preferRelativeResize="0"/>
          <p:nvPr/>
        </p:nvPicPr>
        <p:blipFill rotWithShape="1">
          <a:blip r:embed="rId3">
            <a:alphaModFix/>
          </a:blip>
          <a:srcRect/>
          <a:stretch/>
        </p:blipFill>
        <p:spPr>
          <a:xfrm>
            <a:off x="4754880" y="1737360"/>
            <a:ext cx="4114800" cy="2651760"/>
          </a:xfrm>
          <a:prstGeom prst="rect">
            <a:avLst/>
          </a:prstGeom>
          <a:noFill/>
          <a:ln>
            <a:noFill/>
          </a:ln>
        </p:spPr>
      </p:pic>
      <p:sp>
        <p:nvSpPr>
          <p:cNvPr id="192" name="Google Shape;192;p4"/>
          <p:cNvSpPr/>
          <p:nvPr/>
        </p:nvSpPr>
        <p:spPr>
          <a:xfrm>
            <a:off x="4754880" y="4407408"/>
            <a:ext cx="4114800" cy="2286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64748B"/>
              </a:buClr>
              <a:buSzPts val="900"/>
              <a:buFont typeface="Calibri"/>
              <a:buNone/>
            </a:pPr>
            <a:r>
              <a:rPr lang="en-US" sz="900" b="0" i="0" u="none" strike="noStrike" cap="none">
                <a:solidFill>
                  <a:srgbClr val="64748B"/>
                </a:solidFill>
                <a:latin typeface="Calibri"/>
                <a:ea typeface="Calibri"/>
                <a:cs typeface="Calibri"/>
                <a:sym typeface="Calibri"/>
              </a:rPr>
              <a:t>Ventas Promedio por Rubro</a:t>
            </a:r>
            <a:endParaRPr sz="900" b="0" i="0" u="none" strike="noStrike" cap="none">
              <a:solidFill>
                <a:schemeClr val="dk1"/>
              </a:solidFill>
              <a:latin typeface="Calibri"/>
              <a:ea typeface="Calibri"/>
              <a:cs typeface="Calibri"/>
              <a:sym typeface="Calibri"/>
            </a:endParaRPr>
          </a:p>
        </p:txBody>
      </p:sp>
      <p:sp>
        <p:nvSpPr>
          <p:cNvPr id="193" name="Google Shape;193;p4"/>
          <p:cNvSpPr/>
          <p:nvPr/>
        </p:nvSpPr>
        <p:spPr>
          <a:xfrm>
            <a:off x="320040" y="4709160"/>
            <a:ext cx="8503920" cy="347472"/>
          </a:xfrm>
          <a:prstGeom prst="rect">
            <a:avLst/>
          </a:prstGeom>
          <a:solidFill>
            <a:srgbClr val="E3F0FF"/>
          </a:solidFill>
          <a:ln w="1015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94" name="Google Shape;194;p4"/>
          <p:cNvSpPr/>
          <p:nvPr/>
        </p:nvSpPr>
        <p:spPr>
          <a:xfrm>
            <a:off x="411480" y="4718304"/>
            <a:ext cx="8321040" cy="3200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900"/>
              <a:buFont typeface="Calibri"/>
              <a:buNone/>
            </a:pPr>
            <a:r>
              <a:rPr lang="en-US" sz="900" b="0" i="0" u="none" strike="noStrike" cap="none">
                <a:solidFill>
                  <a:srgbClr val="0D1B4B"/>
                </a:solidFill>
                <a:latin typeface="Calibri"/>
                <a:ea typeface="Calibri"/>
                <a:cs typeface="Calibri"/>
                <a:sym typeface="Calibri"/>
              </a:rPr>
              <a:t>💡  Tecnología y Farmacia lideran con +$790K de venta media. La distribución es asimétrica positiva — la mayoría de locales vende entre $300K–$700K.</a:t>
            </a:r>
            <a:endParaRPr sz="900" b="0" i="0" u="none" strike="noStrike" cap="none">
              <a:solidFill>
                <a:schemeClr val="dk1"/>
              </a:solidFill>
              <a:latin typeface="Calibri"/>
              <a:ea typeface="Calibri"/>
              <a:cs typeface="Calibri"/>
              <a:sym typeface="Calibri"/>
            </a:endParaRPr>
          </a:p>
        </p:txBody>
      </p:sp>
      <p:pic>
        <p:nvPicPr>
          <p:cNvPr id="195" name="Google Shape;195;p4"/>
          <p:cNvPicPr preferRelativeResize="0"/>
          <p:nvPr/>
        </p:nvPicPr>
        <p:blipFill rotWithShape="1">
          <a:blip r:embed="rId4">
            <a:alphaModFix/>
          </a:blip>
          <a:srcRect/>
          <a:stretch/>
        </p:blipFill>
        <p:spPr>
          <a:xfrm>
            <a:off x="150746" y="1855284"/>
            <a:ext cx="4636268" cy="229703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5"/>
          <p:cNvSpPr/>
          <p:nvPr/>
        </p:nvSpPr>
        <p:spPr>
          <a:xfrm>
            <a:off x="457200" y="4315968"/>
            <a:ext cx="3657600" cy="34747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FFFFFF"/>
              </a:buClr>
              <a:buSzPts val="850"/>
              <a:buFont typeface="Calibri"/>
              <a:buNone/>
            </a:pPr>
            <a:r>
              <a:rPr lang="en-US" sz="850" b="0" i="0" u="none" strike="noStrike" cap="none">
                <a:solidFill>
                  <a:srgbClr val="FFFFFF"/>
                </a:solidFill>
                <a:latin typeface="Calibri"/>
                <a:ea typeface="Calibri"/>
                <a:cs typeface="Calibri"/>
                <a:sym typeface="Calibri"/>
              </a:rPr>
              <a:t>Error porcentual promedio. Muy aceptable para decisiones de inversión.</a:t>
            </a:r>
            <a:endParaRPr sz="850" b="0" i="0" u="none" strike="noStrike" cap="none">
              <a:solidFill>
                <a:schemeClr val="dk1"/>
              </a:solidFill>
              <a:latin typeface="Calibri"/>
              <a:ea typeface="Calibri"/>
              <a:cs typeface="Calibri"/>
              <a:sym typeface="Calibri"/>
            </a:endParaRPr>
          </a:p>
        </p:txBody>
      </p:sp>
      <p:sp>
        <p:nvSpPr>
          <p:cNvPr id="202" name="Google Shape;202;p5"/>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3" name="Google Shape;203;p5"/>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MATRIZ DE CORRELACIONES</a:t>
            </a:r>
            <a:endParaRPr sz="2200" b="0" i="0" u="none" strike="noStrike" cap="none">
              <a:solidFill>
                <a:schemeClr val="dk1"/>
              </a:solidFill>
              <a:latin typeface="Calibri"/>
              <a:ea typeface="Calibri"/>
              <a:cs typeface="Calibri"/>
              <a:sym typeface="Calibri"/>
            </a:endParaRPr>
          </a:p>
        </p:txBody>
      </p:sp>
      <p:sp>
        <p:nvSpPr>
          <p:cNvPr id="204" name="Google Shape;204;p5"/>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205" name="Google Shape;205;p5"/>
          <p:cNvPicPr preferRelativeResize="0"/>
          <p:nvPr/>
        </p:nvPicPr>
        <p:blipFill rotWithShape="1">
          <a:blip r:embed="rId3">
            <a:alphaModFix/>
          </a:blip>
          <a:srcRect/>
          <a:stretch/>
        </p:blipFill>
        <p:spPr>
          <a:xfrm>
            <a:off x="91440" y="910875"/>
            <a:ext cx="4748709" cy="4134655"/>
          </a:xfrm>
          <a:prstGeom prst="rect">
            <a:avLst/>
          </a:prstGeom>
          <a:noFill/>
          <a:ln>
            <a:noFill/>
          </a:ln>
        </p:spPr>
      </p:pic>
      <p:sp>
        <p:nvSpPr>
          <p:cNvPr id="206" name="Google Shape;206;p5"/>
          <p:cNvSpPr txBox="1"/>
          <p:nvPr/>
        </p:nvSpPr>
        <p:spPr>
          <a:xfrm>
            <a:off x="5120640" y="1467828"/>
            <a:ext cx="3815400" cy="3355500"/>
          </a:xfrm>
          <a:prstGeom prst="rect">
            <a:avLst/>
          </a:prstGeom>
          <a:solidFill>
            <a:schemeClr val="lt2"/>
          </a:solidFill>
          <a:ln w="25400" cap="flat" cmpd="sng">
            <a:solidFill>
              <a:schemeClr val="accent3"/>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b="0" i="0" u="none" strike="noStrike" cap="none">
                <a:solidFill>
                  <a:schemeClr val="dk1"/>
                </a:solidFill>
                <a:latin typeface="Arial"/>
                <a:ea typeface="Arial"/>
                <a:cs typeface="Arial"/>
                <a:sym typeface="Arial"/>
              </a:rPr>
              <a:t>🔴 </a:t>
            </a:r>
            <a:r>
              <a:rPr lang="en-US" sz="900" b="1" i="0" u="none" strike="noStrike" cap="none">
                <a:solidFill>
                  <a:schemeClr val="dk1"/>
                </a:solidFill>
                <a:latin typeface="Arial"/>
                <a:ea typeface="Arial"/>
                <a:cs typeface="Arial"/>
                <a:sym typeface="Arial"/>
              </a:rPr>
              <a:t>Impacto Alto (drivers principales de ventas)</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Inversión en Marketing Mensual (r = 0.77): Es el factor más determinante. Cada dólar adicional en marketing se asocia fuertemente con mayores ventas.</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Alquiler Mensual (r = 0.53): Un alquiler más alto (generalmente vinculado a mejores ubicaciones) también impulsa ventas de forma importante.</a:t>
            </a:r>
            <a:endParaRPr/>
          </a:p>
          <a:p>
            <a:pPr marL="0" marR="0" lvl="0" indent="0" algn="l" rtl="0">
              <a:lnSpc>
                <a:spcPct val="100000"/>
              </a:lnSpc>
              <a:spcBef>
                <a:spcPts val="0"/>
              </a:spcBef>
              <a:spcAft>
                <a:spcPts val="0"/>
              </a:spcAft>
              <a:buNone/>
            </a:pP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900" b="0" i="0" u="none" strike="noStrike" cap="none">
                <a:solidFill>
                  <a:schemeClr val="dk1"/>
                </a:solidFill>
                <a:latin typeface="Arial"/>
                <a:ea typeface="Arial"/>
                <a:cs typeface="Arial"/>
                <a:sym typeface="Arial"/>
              </a:rPr>
              <a:t>🟠 </a:t>
            </a:r>
            <a:r>
              <a:rPr lang="en-US" sz="900" b="1" i="0" u="none" strike="noStrike" cap="none">
                <a:solidFill>
                  <a:schemeClr val="dk1"/>
                </a:solidFill>
                <a:latin typeface="Arial"/>
                <a:ea typeface="Arial"/>
                <a:cs typeface="Arial"/>
                <a:sym typeface="Arial"/>
              </a:rPr>
              <a:t>Impacto Medio (potenciadores del desempeño)</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Distancia al Ancla (r = -0.31): Cuanto más lejos del local ancla, menores ventas. La proximidad a un gran generador de tráfico es clave.</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Densidad Poblacional (r = -0.30): A mayor densidad de población en la zona, menores ventas. Esto podría reflejar entornos más competitivos o de menor poder adquisitivo.</a:t>
            </a:r>
            <a:endParaRPr/>
          </a:p>
          <a:p>
            <a:pPr marL="0" marR="0" lvl="0" indent="0" algn="l" rtl="0">
              <a:lnSpc>
                <a:spcPct val="100000"/>
              </a:lnSpc>
              <a:spcBef>
                <a:spcPts val="0"/>
              </a:spcBef>
              <a:spcAft>
                <a:spcPts val="0"/>
              </a:spcAft>
              <a:buNone/>
            </a:pP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US" sz="900" b="0" i="0" u="none" strike="noStrike" cap="none">
                <a:solidFill>
                  <a:schemeClr val="dk1"/>
                </a:solidFill>
                <a:latin typeface="Arial"/>
                <a:ea typeface="Arial"/>
                <a:cs typeface="Arial"/>
                <a:sym typeface="Arial"/>
              </a:rPr>
              <a:t>🟡 </a:t>
            </a:r>
            <a:r>
              <a:rPr lang="en-US" sz="900" b="1" i="0" u="none" strike="noStrike" cap="none">
                <a:solidFill>
                  <a:schemeClr val="dk1"/>
                </a:solidFill>
                <a:latin typeface="Arial"/>
                <a:ea typeface="Arial"/>
                <a:cs typeface="Arial"/>
                <a:sym typeface="Arial"/>
              </a:rPr>
              <a:t>Impacto Bajo o Estructural</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Inversión CAPEX (r = 0.27) tienen una influencia positiva moderada, pero no tan fuerte como las anteriores.</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Metros Vidriera (r = 0.20), Antigüedad (r = 0.21) y Superficie (r = 0.14) aportan de manera marginal.</a:t>
            </a:r>
            <a:endParaRPr/>
          </a:p>
          <a:p>
            <a:pPr marL="171450" marR="0" lvl="0" indent="-171450" algn="l" rtl="0">
              <a:lnSpc>
                <a:spcPct val="100000"/>
              </a:lnSpc>
              <a:spcBef>
                <a:spcPts val="0"/>
              </a:spcBef>
              <a:spcAft>
                <a:spcPts val="0"/>
              </a:spcAft>
              <a:buClr>
                <a:srgbClr val="000000"/>
              </a:buClr>
              <a:buSzPts val="900"/>
              <a:buFont typeface="Arial"/>
              <a:buChar char="•"/>
            </a:pPr>
            <a:r>
              <a:rPr lang="en-US" sz="900" b="0" i="0" u="none" strike="noStrike" cap="none">
                <a:solidFill>
                  <a:schemeClr val="dk1"/>
                </a:solidFill>
                <a:latin typeface="Arial"/>
                <a:ea typeface="Arial"/>
                <a:cs typeface="Arial"/>
                <a:sym typeface="Arial"/>
              </a:rPr>
              <a:t>Tránsito Peatonal (r = 0.12), Puntos de Interés (r = 0.09) </a:t>
            </a:r>
            <a:endParaRPr/>
          </a:p>
          <a:p>
            <a:pPr marL="0" marR="0" lvl="0" indent="0" algn="l" rtl="0">
              <a:lnSpc>
                <a:spcPct val="100000"/>
              </a:lnSpc>
              <a:spcBef>
                <a:spcPts val="0"/>
              </a:spcBef>
              <a:spcAft>
                <a:spcPts val="0"/>
              </a:spcAft>
              <a:buNone/>
            </a:pPr>
            <a:endParaRPr sz="1400" b="0" i="0" u="none" strike="noStrike" cap="none">
              <a:solidFill>
                <a:schemeClr val="dk1"/>
              </a:solidFill>
              <a:latin typeface="Arial"/>
              <a:ea typeface="Arial"/>
              <a:cs typeface="Arial"/>
              <a:sym typeface="Arial"/>
            </a:endParaRPr>
          </a:p>
        </p:txBody>
      </p:sp>
      <p:sp>
        <p:nvSpPr>
          <p:cNvPr id="207" name="Google Shape;207;p5"/>
          <p:cNvSpPr/>
          <p:nvPr/>
        </p:nvSpPr>
        <p:spPr>
          <a:xfrm>
            <a:off x="5120640" y="1131994"/>
            <a:ext cx="3474720" cy="256032"/>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600" b="1" i="0" u="sng" strike="noStrike" cap="none">
                <a:solidFill>
                  <a:schemeClr val="dk1"/>
                </a:solidFill>
                <a:latin typeface="Calibri"/>
                <a:ea typeface="Calibri"/>
                <a:cs typeface="Calibri"/>
                <a:sym typeface="Calibri"/>
              </a:rPr>
              <a:t>Comentarios:</a:t>
            </a:r>
            <a:endParaRPr sz="1600" b="1" i="0" u="sng"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212"/>
        <p:cNvGrpSpPr/>
        <p:nvPr/>
      </p:nvGrpSpPr>
      <p:grpSpPr>
        <a:xfrm>
          <a:off x="0" y="0"/>
          <a:ext cx="0" cy="0"/>
          <a:chOff x="0" y="0"/>
          <a:chExt cx="0" cy="0"/>
        </a:xfrm>
      </p:grpSpPr>
      <p:sp>
        <p:nvSpPr>
          <p:cNvPr id="213" name="Google Shape;213;p7"/>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4" name="Google Shape;214;p7"/>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VARIABLES CLAVE &amp; CORRELACIONES</a:t>
            </a:r>
            <a:endParaRPr sz="2200" b="0" i="0" u="none" strike="noStrike" cap="none">
              <a:solidFill>
                <a:schemeClr val="dk1"/>
              </a:solidFill>
              <a:latin typeface="Calibri"/>
              <a:ea typeface="Calibri"/>
              <a:cs typeface="Calibri"/>
              <a:sym typeface="Calibri"/>
            </a:endParaRPr>
          </a:p>
        </p:txBody>
      </p:sp>
      <p:sp>
        <p:nvSpPr>
          <p:cNvPr id="215" name="Google Shape;215;p7"/>
          <p:cNvSpPr/>
          <p:nvPr/>
        </p:nvSpPr>
        <p:spPr>
          <a:xfrm>
            <a:off x="1418045" y="924075"/>
            <a:ext cx="34746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Esquina vs Media Cuadra</a:t>
            </a:r>
            <a:endParaRPr sz="1100" b="0" i="0" u="none" strike="noStrike" cap="none">
              <a:solidFill>
                <a:schemeClr val="dk1"/>
              </a:solidFill>
              <a:latin typeface="Calibri"/>
              <a:ea typeface="Calibri"/>
              <a:cs typeface="Calibri"/>
              <a:sym typeface="Calibri"/>
            </a:endParaRPr>
          </a:p>
        </p:txBody>
      </p:sp>
      <p:sp>
        <p:nvSpPr>
          <p:cNvPr id="216" name="Google Shape;216;p7"/>
          <p:cNvSpPr/>
          <p:nvPr/>
        </p:nvSpPr>
        <p:spPr>
          <a:xfrm>
            <a:off x="288900" y="4505996"/>
            <a:ext cx="8566200" cy="615300"/>
          </a:xfrm>
          <a:prstGeom prst="rect">
            <a:avLst/>
          </a:prstGeom>
          <a:solidFill>
            <a:srgbClr val="E3F0FF"/>
          </a:solidFill>
          <a:ln w="1015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17" name="Google Shape;217;p7"/>
          <p:cNvSpPr/>
          <p:nvPr/>
        </p:nvSpPr>
        <p:spPr>
          <a:xfrm>
            <a:off x="411480" y="4627534"/>
            <a:ext cx="832104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850"/>
              <a:buFont typeface="Calibri"/>
              <a:buNone/>
            </a:pPr>
            <a:r>
              <a:rPr lang="en-US" sz="850" b="0" i="0" u="none" strike="noStrike" cap="none">
                <a:solidFill>
                  <a:srgbClr val="0D1B4B"/>
                </a:solidFill>
                <a:latin typeface="Calibri"/>
                <a:ea typeface="Calibri"/>
                <a:cs typeface="Calibri"/>
                <a:sym typeface="Calibri"/>
              </a:rPr>
              <a:t>💡</a:t>
            </a:r>
            <a:r>
              <a:rPr lang="en-US" sz="1200" b="1" i="0" u="none" strike="noStrike" cap="none">
                <a:solidFill>
                  <a:srgbClr val="323F4F"/>
                </a:solidFill>
                <a:latin typeface="Calibri"/>
                <a:ea typeface="Calibri"/>
                <a:cs typeface="Calibri"/>
                <a:sym typeface="Calibri"/>
              </a:rPr>
              <a:t>Hallazgo clave: Los locales en esquina venden 14,4% más que los de media cuadra.  Esto se debe a mayor visibilidad (más metros de vidriera) y doble acceso peatonal</a:t>
            </a:r>
            <a:endParaRPr sz="850" b="0" i="0" u="none" strike="noStrike" cap="none">
              <a:solidFill>
                <a:schemeClr val="dk1"/>
              </a:solidFill>
              <a:latin typeface="Calibri"/>
              <a:ea typeface="Calibri"/>
              <a:cs typeface="Calibri"/>
              <a:sym typeface="Calibri"/>
            </a:endParaRPr>
          </a:p>
        </p:txBody>
      </p:sp>
      <p:pic>
        <p:nvPicPr>
          <p:cNvPr id="218" name="Google Shape;218;p7"/>
          <p:cNvPicPr preferRelativeResize="0"/>
          <p:nvPr/>
        </p:nvPicPr>
        <p:blipFill rotWithShape="1">
          <a:blip r:embed="rId3">
            <a:alphaModFix/>
          </a:blip>
          <a:srcRect t="5137" b="7759"/>
          <a:stretch/>
        </p:blipFill>
        <p:spPr>
          <a:xfrm>
            <a:off x="513975" y="1272100"/>
            <a:ext cx="5635223" cy="2903187"/>
          </a:xfrm>
          <a:prstGeom prst="rect">
            <a:avLst/>
          </a:prstGeom>
          <a:noFill/>
          <a:ln>
            <a:noFill/>
          </a:ln>
        </p:spPr>
      </p:pic>
      <p:sp>
        <p:nvSpPr>
          <p:cNvPr id="219" name="Google Shape;219;p7"/>
          <p:cNvSpPr/>
          <p:nvPr/>
        </p:nvSpPr>
        <p:spPr>
          <a:xfrm rot="-582583">
            <a:off x="2921066" y="2641500"/>
            <a:ext cx="1382099" cy="524421"/>
          </a:xfrm>
          <a:prstGeom prst="notchedRightArrow">
            <a:avLst>
              <a:gd name="adj1" fmla="val 50000"/>
              <a:gd name="adj2" fmla="val 50000"/>
            </a:avLst>
          </a:prstGeom>
          <a:solidFill>
            <a:schemeClr val="accent6"/>
          </a:solidFill>
          <a:ln w="12700" cap="flat" cmpd="sng">
            <a:solidFill>
              <a:srgbClr val="2F491D"/>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Calibri"/>
                <a:ea typeface="Calibri"/>
                <a:cs typeface="Calibri"/>
                <a:sym typeface="Calibri"/>
              </a:rPr>
              <a:t>+14.4%</a:t>
            </a:r>
            <a:endParaRPr sz="1800" b="0" i="0" u="none" strike="noStrike" cap="none">
              <a:solidFill>
                <a:schemeClr val="lt1"/>
              </a:solidFill>
              <a:latin typeface="Calibri"/>
              <a:ea typeface="Calibri"/>
              <a:cs typeface="Calibri"/>
              <a:sym typeface="Calibri"/>
            </a:endParaRPr>
          </a:p>
        </p:txBody>
      </p:sp>
      <p:sp>
        <p:nvSpPr>
          <p:cNvPr id="220" name="Google Shape;220;p7"/>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225"/>
        <p:cNvGrpSpPr/>
        <p:nvPr/>
      </p:nvGrpSpPr>
      <p:grpSpPr>
        <a:xfrm>
          <a:off x="0" y="0"/>
          <a:ext cx="0" cy="0"/>
          <a:chOff x="0" y="0"/>
          <a:chExt cx="0" cy="0"/>
        </a:xfrm>
      </p:grpSpPr>
      <p:sp>
        <p:nvSpPr>
          <p:cNvPr id="226" name="Google Shape;226;p6"/>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27" name="Google Shape;227;p6"/>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VARIABLES CLAVE &amp; CORRELACIONES</a:t>
            </a:r>
            <a:endParaRPr sz="2200" b="0" i="0" u="none" strike="noStrike" cap="none">
              <a:solidFill>
                <a:schemeClr val="dk1"/>
              </a:solidFill>
              <a:latin typeface="Calibri"/>
              <a:ea typeface="Calibri"/>
              <a:cs typeface="Calibri"/>
              <a:sym typeface="Calibri"/>
            </a:endParaRPr>
          </a:p>
        </p:txBody>
      </p:sp>
      <p:sp>
        <p:nvSpPr>
          <p:cNvPr id="228" name="Google Shape;228;p6"/>
          <p:cNvSpPr/>
          <p:nvPr/>
        </p:nvSpPr>
        <p:spPr>
          <a:xfrm>
            <a:off x="1968087" y="912842"/>
            <a:ext cx="411480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Nivel Socioeconómico</a:t>
            </a:r>
            <a:endParaRPr sz="1100" b="0" i="0" u="none" strike="noStrike" cap="none">
              <a:solidFill>
                <a:schemeClr val="dk1"/>
              </a:solidFill>
              <a:latin typeface="Calibri"/>
              <a:ea typeface="Calibri"/>
              <a:cs typeface="Calibri"/>
              <a:sym typeface="Calibri"/>
            </a:endParaRPr>
          </a:p>
        </p:txBody>
      </p:sp>
      <p:pic>
        <p:nvPicPr>
          <p:cNvPr id="229" name="Google Shape;229;p6" descr="preencoded.png"/>
          <p:cNvPicPr preferRelativeResize="0"/>
          <p:nvPr/>
        </p:nvPicPr>
        <p:blipFill rotWithShape="1">
          <a:blip r:embed="rId3">
            <a:alphaModFix/>
          </a:blip>
          <a:srcRect/>
          <a:stretch/>
        </p:blipFill>
        <p:spPr>
          <a:xfrm>
            <a:off x="0" y="1614287"/>
            <a:ext cx="4213249" cy="2393912"/>
          </a:xfrm>
          <a:prstGeom prst="rect">
            <a:avLst/>
          </a:prstGeom>
          <a:noFill/>
          <a:ln>
            <a:noFill/>
          </a:ln>
        </p:spPr>
      </p:pic>
      <p:sp>
        <p:nvSpPr>
          <p:cNvPr id="230" name="Google Shape;230;p6"/>
          <p:cNvSpPr/>
          <p:nvPr/>
        </p:nvSpPr>
        <p:spPr>
          <a:xfrm>
            <a:off x="6316186" y="832103"/>
            <a:ext cx="2527500" cy="350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Tipo de Ubicación</a:t>
            </a:r>
            <a:endParaRPr sz="1100" b="0" i="0" u="none" strike="noStrike" cap="none">
              <a:solidFill>
                <a:schemeClr val="dk1"/>
              </a:solidFill>
              <a:latin typeface="Calibri"/>
              <a:ea typeface="Calibri"/>
              <a:cs typeface="Calibri"/>
              <a:sym typeface="Calibri"/>
            </a:endParaRPr>
          </a:p>
        </p:txBody>
      </p:sp>
      <p:pic>
        <p:nvPicPr>
          <p:cNvPr id="231" name="Google Shape;231;p6" descr="preencoded.png"/>
          <p:cNvPicPr preferRelativeResize="0"/>
          <p:nvPr/>
        </p:nvPicPr>
        <p:blipFill rotWithShape="1">
          <a:blip r:embed="rId4">
            <a:alphaModFix/>
          </a:blip>
          <a:srcRect/>
          <a:stretch/>
        </p:blipFill>
        <p:spPr>
          <a:xfrm>
            <a:off x="4519924" y="1530066"/>
            <a:ext cx="4441951" cy="2467759"/>
          </a:xfrm>
          <a:prstGeom prst="rect">
            <a:avLst/>
          </a:prstGeom>
          <a:noFill/>
          <a:ln>
            <a:noFill/>
          </a:ln>
        </p:spPr>
      </p:pic>
      <p:sp>
        <p:nvSpPr>
          <p:cNvPr id="232" name="Google Shape;232;p6"/>
          <p:cNvSpPr/>
          <p:nvPr/>
        </p:nvSpPr>
        <p:spPr>
          <a:xfrm>
            <a:off x="317127" y="4864548"/>
            <a:ext cx="8503800" cy="255900"/>
          </a:xfrm>
          <a:prstGeom prst="rect">
            <a:avLst/>
          </a:prstGeom>
          <a:solidFill>
            <a:srgbClr val="E3F0FF"/>
          </a:solidFill>
          <a:ln w="1015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33" name="Google Shape;233;p6"/>
          <p:cNvSpPr/>
          <p:nvPr/>
        </p:nvSpPr>
        <p:spPr>
          <a:xfrm>
            <a:off x="408477" y="4891848"/>
            <a:ext cx="83211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850"/>
              <a:buFont typeface="Calibri"/>
              <a:buNone/>
            </a:pPr>
            <a:r>
              <a:rPr lang="en-US" sz="850" b="0" i="0" u="none" strike="noStrike" cap="none">
                <a:solidFill>
                  <a:srgbClr val="0D1B4B"/>
                </a:solidFill>
                <a:latin typeface="Calibri"/>
                <a:ea typeface="Calibri"/>
                <a:cs typeface="Calibri"/>
                <a:sym typeface="Calibri"/>
              </a:rPr>
              <a:t>💡El nivel socioeconómico representa el poder adquisitivo promedio del área de influencia del local.</a:t>
            </a:r>
            <a:endParaRPr sz="850" b="0" i="0" u="none" strike="noStrike" cap="none">
              <a:solidFill>
                <a:schemeClr val="dk1"/>
              </a:solidFill>
              <a:latin typeface="Calibri"/>
              <a:ea typeface="Calibri"/>
              <a:cs typeface="Calibri"/>
              <a:sym typeface="Calibri"/>
            </a:endParaRPr>
          </a:p>
        </p:txBody>
      </p:sp>
      <p:sp>
        <p:nvSpPr>
          <p:cNvPr id="234" name="Google Shape;234;p6"/>
          <p:cNvSpPr/>
          <p:nvPr/>
        </p:nvSpPr>
        <p:spPr>
          <a:xfrm>
            <a:off x="5147075" y="1011000"/>
            <a:ext cx="1169100" cy="708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950"/>
              <a:buFont typeface="Calibri"/>
              <a:buNone/>
            </a:pPr>
            <a:r>
              <a:rPr lang="en-US" sz="600" b="1" i="0" u="none" strike="noStrike" cap="none">
                <a:solidFill>
                  <a:srgbClr val="2E75B5"/>
                </a:solidFill>
                <a:latin typeface="Arial"/>
                <a:ea typeface="Arial"/>
                <a:cs typeface="Arial"/>
                <a:sym typeface="Arial"/>
              </a:rPr>
              <a:t>Shopping:</a:t>
            </a:r>
            <a:r>
              <a:rPr lang="en-US" sz="600" b="0" i="0" u="none" strike="noStrike" cap="none">
                <a:solidFill>
                  <a:srgbClr val="2E75B5"/>
                </a:solidFill>
                <a:latin typeface="Arial"/>
                <a:ea typeface="Arial"/>
                <a:cs typeface="Arial"/>
                <a:sym typeface="Arial"/>
              </a:rPr>
              <a:t> centro comercial cerrado, de gran escala, con administración única, presencia de tiendas ancla (ej. supermercado, cine, grandes marcas) y flujo inducido como destino de compra.</a:t>
            </a:r>
            <a:endParaRPr sz="950" b="0" i="0" u="none" strike="noStrike" cap="none">
              <a:solidFill>
                <a:srgbClr val="2E75B5"/>
              </a:solidFill>
              <a:latin typeface="Calibri"/>
              <a:ea typeface="Calibri"/>
              <a:cs typeface="Calibri"/>
              <a:sym typeface="Calibri"/>
            </a:endParaRPr>
          </a:p>
        </p:txBody>
      </p:sp>
      <p:sp>
        <p:nvSpPr>
          <p:cNvPr id="235" name="Google Shape;235;p6"/>
          <p:cNvSpPr/>
          <p:nvPr/>
        </p:nvSpPr>
        <p:spPr>
          <a:xfrm>
            <a:off x="6243750" y="4008200"/>
            <a:ext cx="1069800" cy="64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950"/>
              <a:buFont typeface="Calibri"/>
              <a:buNone/>
            </a:pPr>
            <a:r>
              <a:rPr lang="en-US" sz="600" b="1" i="0" u="none" strike="noStrike" cap="none">
                <a:solidFill>
                  <a:srgbClr val="2E75B5"/>
                </a:solidFill>
                <a:latin typeface="Arial"/>
                <a:ea typeface="Arial"/>
                <a:cs typeface="Arial"/>
                <a:sym typeface="Arial"/>
              </a:rPr>
              <a:t>Centro Comercial:</a:t>
            </a:r>
            <a:r>
              <a:rPr lang="en-US" sz="600" b="0" i="0" u="none" strike="noStrike" cap="none">
                <a:solidFill>
                  <a:srgbClr val="2E75B5"/>
                </a:solidFill>
                <a:latin typeface="Arial"/>
                <a:ea typeface="Arial"/>
                <a:cs typeface="Arial"/>
                <a:sym typeface="Arial"/>
              </a:rPr>
              <a:t> complejo comercial organizado de menor escala o semiabierto, con administración común pero sin el nivel de anclas ni tráfico estructural de un shopping.</a:t>
            </a:r>
            <a:endParaRPr sz="600" b="0" i="0" u="none" strike="noStrike" cap="none">
              <a:solidFill>
                <a:srgbClr val="2E75B5"/>
              </a:solidFill>
              <a:latin typeface="Arial"/>
              <a:ea typeface="Arial"/>
              <a:cs typeface="Arial"/>
              <a:sym typeface="Arial"/>
            </a:endParaRPr>
          </a:p>
        </p:txBody>
      </p:sp>
      <p:sp>
        <p:nvSpPr>
          <p:cNvPr id="236" name="Google Shape;236;p6"/>
          <p:cNvSpPr/>
          <p:nvPr/>
        </p:nvSpPr>
        <p:spPr>
          <a:xfrm>
            <a:off x="8225825" y="4008200"/>
            <a:ext cx="1069800" cy="64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950"/>
              <a:buFont typeface="Calibri"/>
              <a:buNone/>
            </a:pPr>
            <a:r>
              <a:rPr lang="en-US" sz="600" b="1" i="0" u="none" strike="noStrike" cap="none">
                <a:solidFill>
                  <a:srgbClr val="2E75B5"/>
                </a:solidFill>
                <a:latin typeface="Arial"/>
                <a:ea typeface="Arial"/>
                <a:cs typeface="Arial"/>
                <a:sym typeface="Arial"/>
              </a:rPr>
              <a:t>Barrio residencial:</a:t>
            </a:r>
            <a:r>
              <a:rPr lang="en-US" sz="600" b="0" i="0" u="none" strike="noStrike" cap="none">
                <a:solidFill>
                  <a:srgbClr val="2E75B5"/>
                </a:solidFill>
                <a:latin typeface="Arial"/>
                <a:ea typeface="Arial"/>
                <a:cs typeface="Arial"/>
                <a:sym typeface="Arial"/>
              </a:rPr>
              <a:t> locales ubicados en zonas predominantemente residenciales, con tráfico principalmente de cercanía.</a:t>
            </a:r>
            <a:endParaRPr sz="600" b="0" i="0" u="none" strike="noStrike" cap="none">
              <a:solidFill>
                <a:srgbClr val="2E75B5"/>
              </a:solidFill>
              <a:latin typeface="Arial"/>
              <a:ea typeface="Arial"/>
              <a:cs typeface="Arial"/>
              <a:sym typeface="Arial"/>
            </a:endParaRPr>
          </a:p>
        </p:txBody>
      </p:sp>
      <p:sp>
        <p:nvSpPr>
          <p:cNvPr id="237" name="Google Shape;237;p6"/>
          <p:cNvSpPr/>
          <p:nvPr/>
        </p:nvSpPr>
        <p:spPr>
          <a:xfrm>
            <a:off x="7156025" y="1533075"/>
            <a:ext cx="1069800" cy="6450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64748B"/>
              </a:buClr>
              <a:buSzPts val="950"/>
              <a:buFont typeface="Calibri"/>
              <a:buNone/>
            </a:pPr>
            <a:r>
              <a:rPr lang="en-US" sz="600" b="1" i="0" u="none" strike="noStrike" cap="none">
                <a:solidFill>
                  <a:srgbClr val="2E75B5"/>
                </a:solidFill>
                <a:latin typeface="Arial"/>
                <a:ea typeface="Arial"/>
                <a:cs typeface="Arial"/>
                <a:sym typeface="Arial"/>
              </a:rPr>
              <a:t>Calle Comercial:</a:t>
            </a:r>
            <a:r>
              <a:rPr lang="en-US" sz="600" b="0" i="0" u="none" strike="noStrike" cap="none">
                <a:solidFill>
                  <a:srgbClr val="2E75B5"/>
                </a:solidFill>
                <a:latin typeface="Arial"/>
                <a:ea typeface="Arial"/>
                <a:cs typeface="Arial"/>
                <a:sym typeface="Arial"/>
              </a:rPr>
              <a:t> locales ubicados sobre avenidas o corredores comerciales abiertos, sin administración centralizada.</a:t>
            </a:r>
            <a:endParaRPr sz="600" b="0" i="0" u="none" strike="noStrike" cap="none">
              <a:solidFill>
                <a:srgbClr val="2E75B5"/>
              </a:solidFill>
              <a:latin typeface="Arial"/>
              <a:ea typeface="Arial"/>
              <a:cs typeface="Arial"/>
              <a:sym typeface="Arial"/>
            </a:endParaRPr>
          </a:p>
        </p:txBody>
      </p:sp>
      <p:sp>
        <p:nvSpPr>
          <p:cNvPr id="238" name="Google Shape;238;p6"/>
          <p:cNvSpPr/>
          <p:nvPr/>
        </p:nvSpPr>
        <p:spPr>
          <a:xfrm>
            <a:off x="541924" y="3758900"/>
            <a:ext cx="3978000" cy="894300"/>
          </a:xfrm>
          <a:prstGeom prst="rect">
            <a:avLst/>
          </a:prstGeom>
          <a:noFill/>
          <a:ln>
            <a:noFill/>
          </a:ln>
        </p:spPr>
        <p:txBody>
          <a:bodyPr spcFirstLastPara="1" wrap="square" lIns="0" tIns="0" rIns="0" bIns="0" anchor="ctr" anchorCtr="0">
            <a:noAutofit/>
          </a:bodyPr>
          <a:lstStyle/>
          <a:p>
            <a:pPr marL="0" marR="0" lvl="0" indent="0" algn="l" rtl="0">
              <a:lnSpc>
                <a:spcPct val="115000"/>
              </a:lnSpc>
              <a:spcBef>
                <a:spcPts val="1800"/>
              </a:spcBef>
              <a:spcAft>
                <a:spcPts val="0"/>
              </a:spcAft>
              <a:buClr>
                <a:schemeClr val="dk1"/>
              </a:buClr>
              <a:buSzPts val="1100"/>
              <a:buFont typeface="Arial"/>
              <a:buNone/>
            </a:pPr>
            <a:endParaRPr sz="1700" b="1" i="0" u="none" strike="noStrike" cap="none">
              <a:solidFill>
                <a:schemeClr val="dk1"/>
              </a:solidFill>
              <a:latin typeface="Arial"/>
              <a:ea typeface="Arial"/>
              <a:cs typeface="Arial"/>
              <a:sym typeface="Arial"/>
            </a:endParaRPr>
          </a:p>
          <a:p>
            <a:pPr marL="457200" marR="0" lvl="0" indent="-298450" algn="l" rtl="0">
              <a:lnSpc>
                <a:spcPct val="115000"/>
              </a:lnSpc>
              <a:spcBef>
                <a:spcPts val="1200"/>
              </a:spcBef>
              <a:spcAft>
                <a:spcPts val="0"/>
              </a:spcAft>
              <a:buClr>
                <a:srgbClr val="5A7AB5"/>
              </a:buClr>
              <a:buSzPts val="1100"/>
              <a:buFont typeface="Arial"/>
              <a:buChar char="●"/>
            </a:pPr>
            <a:r>
              <a:rPr lang="en-US" sz="1100" b="1" i="0" u="none" strike="noStrike" cap="none">
                <a:solidFill>
                  <a:srgbClr val="5A7AB5"/>
                </a:solidFill>
                <a:latin typeface="Arial"/>
                <a:ea typeface="Arial"/>
                <a:cs typeface="Arial"/>
                <a:sym typeface="Arial"/>
              </a:rPr>
              <a:t>ABC1:</a:t>
            </a:r>
            <a:r>
              <a:rPr lang="en-US" sz="1100" b="0" i="0" u="none" strike="noStrike" cap="none">
                <a:solidFill>
                  <a:srgbClr val="5A7AB5"/>
                </a:solidFill>
                <a:latin typeface="Arial"/>
                <a:ea typeface="Arial"/>
                <a:cs typeface="Arial"/>
                <a:sym typeface="Arial"/>
              </a:rPr>
              <a:t> Nivel socioeconómico alto</a:t>
            </a:r>
            <a:endParaRPr sz="1100" b="0" i="0" u="none" strike="noStrike" cap="none">
              <a:solidFill>
                <a:srgbClr val="5A7AB5"/>
              </a:solidFill>
              <a:latin typeface="Arial"/>
              <a:ea typeface="Arial"/>
              <a:cs typeface="Arial"/>
              <a:sym typeface="Arial"/>
            </a:endParaRPr>
          </a:p>
          <a:p>
            <a:pPr marL="457200" marR="0" lvl="0" indent="-298450" algn="l" rtl="0">
              <a:lnSpc>
                <a:spcPct val="115000"/>
              </a:lnSpc>
              <a:spcBef>
                <a:spcPts val="0"/>
              </a:spcBef>
              <a:spcAft>
                <a:spcPts val="0"/>
              </a:spcAft>
              <a:buClr>
                <a:srgbClr val="5A7AB5"/>
              </a:buClr>
              <a:buSzPts val="1100"/>
              <a:buFont typeface="Arial"/>
              <a:buChar char="●"/>
            </a:pPr>
            <a:r>
              <a:rPr lang="en-US" sz="1100" b="1" i="0" u="none" strike="noStrike" cap="none">
                <a:solidFill>
                  <a:srgbClr val="5A7AB5"/>
                </a:solidFill>
                <a:latin typeface="Arial"/>
                <a:ea typeface="Arial"/>
                <a:cs typeface="Arial"/>
                <a:sym typeface="Arial"/>
              </a:rPr>
              <a:t>C2:</a:t>
            </a:r>
            <a:r>
              <a:rPr lang="en-US" sz="1100" b="0" i="0" u="none" strike="noStrike" cap="none">
                <a:solidFill>
                  <a:srgbClr val="5A7AB5"/>
                </a:solidFill>
                <a:latin typeface="Arial"/>
                <a:ea typeface="Arial"/>
                <a:cs typeface="Arial"/>
                <a:sym typeface="Arial"/>
              </a:rPr>
              <a:t> Nivel medio-alto</a:t>
            </a:r>
            <a:endParaRPr sz="1100" b="0" i="0" u="none" strike="noStrike" cap="none">
              <a:solidFill>
                <a:srgbClr val="5A7AB5"/>
              </a:solidFill>
              <a:latin typeface="Arial"/>
              <a:ea typeface="Arial"/>
              <a:cs typeface="Arial"/>
              <a:sym typeface="Arial"/>
            </a:endParaRPr>
          </a:p>
          <a:p>
            <a:pPr marL="457200" marR="0" lvl="0" indent="-298450" algn="l" rtl="0">
              <a:lnSpc>
                <a:spcPct val="115000"/>
              </a:lnSpc>
              <a:spcBef>
                <a:spcPts val="0"/>
              </a:spcBef>
              <a:spcAft>
                <a:spcPts val="0"/>
              </a:spcAft>
              <a:buClr>
                <a:srgbClr val="5A7AB5"/>
              </a:buClr>
              <a:buSzPts val="1100"/>
              <a:buFont typeface="Arial"/>
              <a:buChar char="●"/>
            </a:pPr>
            <a:r>
              <a:rPr lang="en-US" sz="1100" b="1" i="0" u="none" strike="noStrike" cap="none">
                <a:solidFill>
                  <a:srgbClr val="5A7AB5"/>
                </a:solidFill>
                <a:latin typeface="Arial"/>
                <a:ea typeface="Arial"/>
                <a:cs typeface="Arial"/>
                <a:sym typeface="Arial"/>
              </a:rPr>
              <a:t>C3:</a:t>
            </a:r>
            <a:r>
              <a:rPr lang="en-US" sz="1100" b="0" i="0" u="none" strike="noStrike" cap="none">
                <a:solidFill>
                  <a:srgbClr val="5A7AB5"/>
                </a:solidFill>
                <a:latin typeface="Arial"/>
                <a:ea typeface="Arial"/>
                <a:cs typeface="Arial"/>
                <a:sym typeface="Arial"/>
              </a:rPr>
              <a:t> Nivel medio</a:t>
            </a:r>
            <a:endParaRPr sz="1100" b="0" i="0" u="none" strike="noStrike" cap="none">
              <a:solidFill>
                <a:srgbClr val="5A7AB5"/>
              </a:solidFill>
              <a:latin typeface="Arial"/>
              <a:ea typeface="Arial"/>
              <a:cs typeface="Arial"/>
              <a:sym typeface="Arial"/>
            </a:endParaRPr>
          </a:p>
          <a:p>
            <a:pPr marL="457200" marR="0" lvl="0" indent="-298450" algn="l" rtl="0">
              <a:lnSpc>
                <a:spcPct val="115000"/>
              </a:lnSpc>
              <a:spcBef>
                <a:spcPts val="0"/>
              </a:spcBef>
              <a:spcAft>
                <a:spcPts val="0"/>
              </a:spcAft>
              <a:buClr>
                <a:srgbClr val="5A7AB5"/>
              </a:buClr>
              <a:buSzPts val="1100"/>
              <a:buFont typeface="Arial"/>
              <a:buChar char="●"/>
            </a:pPr>
            <a:r>
              <a:rPr lang="en-US" sz="1100" b="1" i="0" u="none" strike="noStrike" cap="none">
                <a:solidFill>
                  <a:srgbClr val="5A7AB5"/>
                </a:solidFill>
                <a:latin typeface="Arial"/>
                <a:ea typeface="Arial"/>
                <a:cs typeface="Arial"/>
                <a:sym typeface="Arial"/>
              </a:rPr>
              <a:t>D:</a:t>
            </a:r>
            <a:r>
              <a:rPr lang="en-US" sz="1100" b="0" i="0" u="none" strike="noStrike" cap="none">
                <a:solidFill>
                  <a:srgbClr val="5A7AB5"/>
                </a:solidFill>
                <a:latin typeface="Arial"/>
                <a:ea typeface="Arial"/>
                <a:cs typeface="Arial"/>
                <a:sym typeface="Arial"/>
              </a:rPr>
              <a:t> Nivel medio-bajo / bajo</a:t>
            </a:r>
            <a:endParaRPr sz="600" b="1" i="0" u="none" strike="noStrike" cap="none">
              <a:solidFill>
                <a:srgbClr val="5A7AB5"/>
              </a:solidFill>
              <a:latin typeface="Arial"/>
              <a:ea typeface="Arial"/>
              <a:cs typeface="Arial"/>
              <a:sym typeface="Arial"/>
            </a:endParaRPr>
          </a:p>
        </p:txBody>
      </p:sp>
      <p:sp>
        <p:nvSpPr>
          <p:cNvPr id="239" name="Google Shape;239;p6"/>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244"/>
        <p:cNvGrpSpPr/>
        <p:nvPr/>
      </p:nvGrpSpPr>
      <p:grpSpPr>
        <a:xfrm>
          <a:off x="0" y="0"/>
          <a:ext cx="0" cy="0"/>
          <a:chOff x="0" y="0"/>
          <a:chExt cx="0" cy="0"/>
        </a:xfrm>
      </p:grpSpPr>
      <p:sp>
        <p:nvSpPr>
          <p:cNvPr id="245" name="Google Shape;245;p8"/>
          <p:cNvSpPr/>
          <p:nvPr/>
        </p:nvSpPr>
        <p:spPr>
          <a:xfrm>
            <a:off x="0" y="0"/>
            <a:ext cx="9144000" cy="50741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6" name="Google Shape;246;p8"/>
          <p:cNvSpPr/>
          <p:nvPr/>
        </p:nvSpPr>
        <p:spPr>
          <a:xfrm>
            <a:off x="365760" y="0"/>
            <a:ext cx="8229600" cy="53056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VARIABLES CLAVE &amp; CORRELACIONES</a:t>
            </a:r>
            <a:endParaRPr sz="2200" b="0" i="0" u="none" strike="noStrike" cap="none">
              <a:solidFill>
                <a:schemeClr val="dk1"/>
              </a:solidFill>
              <a:latin typeface="Calibri"/>
              <a:ea typeface="Calibri"/>
              <a:cs typeface="Calibri"/>
              <a:sym typeface="Calibri"/>
            </a:endParaRPr>
          </a:p>
        </p:txBody>
      </p:sp>
      <p:sp>
        <p:nvSpPr>
          <p:cNvPr id="247" name="Google Shape;247;p8"/>
          <p:cNvSpPr/>
          <p:nvPr/>
        </p:nvSpPr>
        <p:spPr>
          <a:xfrm>
            <a:off x="411480" y="4837176"/>
            <a:ext cx="832104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850"/>
              <a:buFont typeface="Calibri"/>
              <a:buNone/>
            </a:pPr>
            <a:r>
              <a:rPr lang="en-US" sz="850" b="0" i="0" u="none" strike="noStrike" cap="none">
                <a:solidFill>
                  <a:srgbClr val="0D1B4B"/>
                </a:solidFill>
                <a:latin typeface="Calibri"/>
                <a:ea typeface="Calibri"/>
                <a:cs typeface="Calibri"/>
                <a:sym typeface="Calibri"/>
              </a:rPr>
              <a:t>💡</a:t>
            </a:r>
            <a:endParaRPr sz="850" b="0" i="0" u="none" strike="noStrike" cap="none">
              <a:solidFill>
                <a:schemeClr val="dk1"/>
              </a:solidFill>
              <a:latin typeface="Calibri"/>
              <a:ea typeface="Calibri"/>
              <a:cs typeface="Calibri"/>
              <a:sym typeface="Calibri"/>
            </a:endParaRPr>
          </a:p>
        </p:txBody>
      </p:sp>
      <p:pic>
        <p:nvPicPr>
          <p:cNvPr id="248" name="Google Shape;248;p8"/>
          <p:cNvPicPr preferRelativeResize="0"/>
          <p:nvPr/>
        </p:nvPicPr>
        <p:blipFill rotWithShape="1">
          <a:blip r:embed="rId3">
            <a:alphaModFix/>
          </a:blip>
          <a:srcRect/>
          <a:stretch/>
        </p:blipFill>
        <p:spPr>
          <a:xfrm>
            <a:off x="187325" y="515030"/>
            <a:ext cx="6788150" cy="4636089"/>
          </a:xfrm>
          <a:prstGeom prst="rect">
            <a:avLst/>
          </a:prstGeom>
          <a:noFill/>
          <a:ln>
            <a:noFill/>
          </a:ln>
        </p:spPr>
      </p:pic>
      <p:sp>
        <p:nvSpPr>
          <p:cNvPr id="249" name="Google Shape;249;p8"/>
          <p:cNvSpPr txBox="1"/>
          <p:nvPr/>
        </p:nvSpPr>
        <p:spPr>
          <a:xfrm>
            <a:off x="7078133" y="3658814"/>
            <a:ext cx="2024420" cy="1292662"/>
          </a:xfrm>
          <a:prstGeom prst="rect">
            <a:avLst/>
          </a:prstGeom>
          <a:gradFill>
            <a:gsLst>
              <a:gs pos="0">
                <a:srgbClr val="D8D8D8"/>
              </a:gs>
              <a:gs pos="35000">
                <a:srgbClr val="E3E3E3"/>
              </a:gs>
              <a:gs pos="100000">
                <a:srgbClr val="F4F4F4"/>
              </a:gs>
            </a:gsLst>
            <a:lin ang="16200000" scaled="0"/>
          </a:gradFill>
          <a:ln w="9525" cap="flat" cmpd="sng">
            <a:solidFill>
              <a:srgbClr val="A1A1A1"/>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2060"/>
              </a:buClr>
              <a:buSzPts val="900"/>
              <a:buFont typeface="Calibri"/>
              <a:buNone/>
            </a:pPr>
            <a:r>
              <a:rPr lang="en-US" sz="900" b="0" i="0" u="none" strike="noStrike" cap="none">
                <a:solidFill>
                  <a:srgbClr val="002060"/>
                </a:solidFill>
                <a:latin typeface="Calibri"/>
                <a:ea typeface="Calibri"/>
                <a:cs typeface="Calibri"/>
                <a:sym typeface="Calibri"/>
              </a:rPr>
              <a:t>💰 </a:t>
            </a:r>
            <a:r>
              <a:rPr lang="en-US" sz="900" b="1" i="0" u="none" strike="noStrike" cap="none">
                <a:solidFill>
                  <a:srgbClr val="002060"/>
                </a:solidFill>
                <a:latin typeface="Calibri"/>
                <a:ea typeface="Calibri"/>
                <a:cs typeface="Calibri"/>
                <a:sym typeface="Calibri"/>
              </a:rPr>
              <a:t>Margen EBITDA</a:t>
            </a:r>
            <a:endParaRPr sz="900" b="0" i="0" u="none" strike="noStrike" cap="none">
              <a:solidFill>
                <a:srgbClr val="002060"/>
              </a:solidFill>
              <a:latin typeface="Calibri"/>
              <a:ea typeface="Calibri"/>
              <a:cs typeface="Calibri"/>
              <a:sym typeface="Calibri"/>
            </a:endParaRPr>
          </a:p>
          <a:p>
            <a:pPr marL="0" marR="0" lvl="0" indent="0" algn="ctr" rtl="0">
              <a:lnSpc>
                <a:spcPct val="100000"/>
              </a:lnSpc>
              <a:spcBef>
                <a:spcPts val="0"/>
              </a:spcBef>
              <a:spcAft>
                <a:spcPts val="0"/>
              </a:spcAft>
              <a:buClr>
                <a:srgbClr val="002060"/>
              </a:buClr>
              <a:buSzPts val="900"/>
              <a:buFont typeface="Calibri"/>
              <a:buNone/>
            </a:pPr>
            <a:r>
              <a:rPr lang="en-US" sz="900" b="1" i="0" u="none" strike="noStrike" cap="none">
                <a:solidFill>
                  <a:srgbClr val="002060"/>
                </a:solidFill>
                <a:latin typeface="Calibri"/>
                <a:ea typeface="Calibri"/>
                <a:cs typeface="Calibri"/>
                <a:sym typeface="Calibri"/>
              </a:rPr>
              <a:t>Los márgenes más elevados se encuentran en Indumentaria (~25%) y Gastronomía (~22%), mientras que Farmacia presenta el más bajo (~7%), aunque lo compensa con un alto volumen de ventas. Esta variable fue excluida del modelo por ser característica propia del sector.</a:t>
            </a:r>
            <a:endParaRPr sz="900" b="0" i="0" u="none" strike="noStrike" cap="none">
              <a:solidFill>
                <a:srgbClr val="002060"/>
              </a:solidFill>
              <a:latin typeface="Calibri"/>
              <a:ea typeface="Calibri"/>
              <a:cs typeface="Calibri"/>
              <a:sym typeface="Calibri"/>
            </a:endParaRPr>
          </a:p>
          <a:p>
            <a:pPr marL="0" marR="0" lvl="0" indent="0" algn="ctr" rtl="0">
              <a:lnSpc>
                <a:spcPct val="100000"/>
              </a:lnSpc>
              <a:spcBef>
                <a:spcPts val="0"/>
              </a:spcBef>
              <a:spcAft>
                <a:spcPts val="0"/>
              </a:spcAft>
              <a:buClr>
                <a:srgbClr val="002060"/>
              </a:buClr>
              <a:buSzPts val="900"/>
              <a:buFont typeface="Calibri"/>
              <a:buNone/>
            </a:pPr>
            <a:r>
              <a:rPr lang="en-US" sz="900" b="0" i="0" u="none" strike="noStrike" cap="none">
                <a:solidFill>
                  <a:srgbClr val="002060"/>
                </a:solidFill>
                <a:latin typeface="Calibri"/>
                <a:ea typeface="Calibri"/>
                <a:cs typeface="Calibri"/>
                <a:sym typeface="Calibri"/>
              </a:rPr>
              <a:t>​</a:t>
            </a:r>
            <a:endParaRPr sz="1200" b="1" i="0" u="none" strike="noStrike" cap="none">
              <a:solidFill>
                <a:srgbClr val="323F4F"/>
              </a:solidFill>
              <a:latin typeface="Calibri"/>
              <a:ea typeface="Calibri"/>
              <a:cs typeface="Calibri"/>
              <a:sym typeface="Calibri"/>
            </a:endParaRPr>
          </a:p>
        </p:txBody>
      </p:sp>
      <p:sp>
        <p:nvSpPr>
          <p:cNvPr id="250" name="Google Shape;250;p8"/>
          <p:cNvSpPr txBox="1"/>
          <p:nvPr/>
        </p:nvSpPr>
        <p:spPr>
          <a:xfrm>
            <a:off x="7078133" y="530566"/>
            <a:ext cx="2024400" cy="1339200"/>
          </a:xfrm>
          <a:prstGeom prst="rect">
            <a:avLst/>
          </a:prstGeom>
          <a:gradFill>
            <a:gsLst>
              <a:gs pos="0">
                <a:srgbClr val="D8D8D8"/>
              </a:gs>
              <a:gs pos="35000">
                <a:srgbClr val="E3E3E3"/>
              </a:gs>
              <a:gs pos="100000">
                <a:srgbClr val="F4F4F4"/>
              </a:gs>
            </a:gsLst>
            <a:lin ang="16200000" scaled="0"/>
          </a:gradFill>
          <a:ln w="9525" cap="flat" cmpd="sng">
            <a:solidFill>
              <a:srgbClr val="A1A1A1"/>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1" i="0" u="none" strike="noStrike" cap="none">
                <a:solidFill>
                  <a:srgbClr val="1F3864"/>
                </a:solidFill>
                <a:latin typeface="Calibri"/>
                <a:ea typeface="Calibri"/>
                <a:cs typeface="Calibri"/>
                <a:sym typeface="Calibri"/>
              </a:rPr>
              <a:t>📍 Distancia al Ancla</a:t>
            </a:r>
            <a:endParaRPr sz="900" b="0" i="0" u="none" strike="noStrike" cap="none">
              <a:solidFill>
                <a:srgbClr val="1F3864"/>
              </a:solidFill>
              <a:latin typeface="Calibri"/>
              <a:ea typeface="Calibri"/>
              <a:cs typeface="Calibri"/>
              <a:sym typeface="Calibri"/>
            </a:endParaRPr>
          </a:p>
          <a:p>
            <a:pPr marL="0" marR="0" lvl="0" indent="0" algn="ctr" rtl="0">
              <a:lnSpc>
                <a:spcPct val="100000"/>
              </a:lnSpc>
              <a:spcBef>
                <a:spcPts val="0"/>
              </a:spcBef>
              <a:spcAft>
                <a:spcPts val="0"/>
              </a:spcAft>
              <a:buClr>
                <a:srgbClr val="002060"/>
              </a:buClr>
              <a:buSzPts val="900"/>
              <a:buFont typeface="Calibri"/>
              <a:buNone/>
            </a:pPr>
            <a:r>
              <a:rPr lang="en-US" sz="900" b="1" i="0" u="none" strike="noStrike" cap="none">
                <a:solidFill>
                  <a:srgbClr val="1F3864"/>
                </a:solidFill>
                <a:latin typeface="Calibri"/>
                <a:ea typeface="Calibri"/>
                <a:cs typeface="Calibri"/>
                <a:sym typeface="Calibri"/>
              </a:rPr>
              <a:t>Existe una relación negativa evidente: a mayor distancia, disminuyen las ventas. Los puntos de interés (en verde) potencian el impacto positivo de la proximidad. Los locales situados a menos de 50 metros del ancla con más de 8 puntos de interés son los que mejor rendimiento tienen.</a:t>
            </a:r>
            <a:endParaRPr sz="1200" b="1" i="0" u="none" strike="noStrike" cap="none">
              <a:solidFill>
                <a:srgbClr val="1F3864"/>
              </a:solidFill>
              <a:latin typeface="Calibri"/>
              <a:ea typeface="Calibri"/>
              <a:cs typeface="Calibri"/>
              <a:sym typeface="Calibri"/>
            </a:endParaRPr>
          </a:p>
        </p:txBody>
      </p:sp>
      <p:sp>
        <p:nvSpPr>
          <p:cNvPr id="251" name="Google Shape;251;p8"/>
          <p:cNvSpPr txBox="1"/>
          <p:nvPr/>
        </p:nvSpPr>
        <p:spPr>
          <a:xfrm>
            <a:off x="7078113" y="2082324"/>
            <a:ext cx="2024420" cy="1338828"/>
          </a:xfrm>
          <a:prstGeom prst="rect">
            <a:avLst/>
          </a:prstGeom>
          <a:gradFill>
            <a:gsLst>
              <a:gs pos="0">
                <a:srgbClr val="D8D8D8"/>
              </a:gs>
              <a:gs pos="35000">
                <a:srgbClr val="E3E3E3"/>
              </a:gs>
              <a:gs pos="100000">
                <a:srgbClr val="F4F4F4"/>
              </a:gs>
            </a:gsLst>
            <a:lin ang="16200000" scaled="0"/>
          </a:gradFill>
          <a:ln w="9525" cap="flat" cmpd="sng">
            <a:solidFill>
              <a:srgbClr val="A1A1A1"/>
            </a:solidFill>
            <a:prstDash val="solid"/>
            <a:round/>
            <a:headEnd type="none" w="sm" len="sm"/>
            <a:tailEnd type="none" w="sm" len="sm"/>
          </a:ln>
          <a:effectLst>
            <a:outerShdw blurRad="40000" dist="20000" dir="5400000" rotWithShape="0">
              <a:srgbClr val="000000">
                <a:alpha val="38039"/>
              </a:srgbClr>
            </a:outerShdw>
          </a:effectLst>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FFFFFF"/>
              </a:buClr>
              <a:buSzPts val="900"/>
              <a:buFont typeface="Calibri"/>
              <a:buNone/>
            </a:pPr>
            <a:r>
              <a:rPr lang="en-US" sz="900" b="1" i="0" u="none" strike="noStrike" cap="none">
                <a:solidFill>
                  <a:srgbClr val="FFFFFF"/>
                </a:solidFill>
                <a:latin typeface="Calibri"/>
                <a:ea typeface="Calibri"/>
                <a:cs typeface="Calibri"/>
                <a:sym typeface="Calibri"/>
              </a:rPr>
              <a:t>🚶</a:t>
            </a:r>
            <a:r>
              <a:rPr lang="en-US" sz="900" b="1" i="0" u="none" strike="noStrike" cap="none">
                <a:solidFill>
                  <a:srgbClr val="1F3864"/>
                </a:solidFill>
                <a:latin typeface="Calibri"/>
                <a:ea typeface="Calibri"/>
                <a:cs typeface="Calibri"/>
                <a:sym typeface="Calibri"/>
              </a:rPr>
              <a:t> Tránsito y Ventas</a:t>
            </a:r>
            <a:endParaRPr sz="900" b="0" i="0" u="none" strike="noStrike" cap="none">
              <a:solidFill>
                <a:srgbClr val="1F3864"/>
              </a:solidFill>
              <a:latin typeface="Calibri"/>
              <a:ea typeface="Calibri"/>
              <a:cs typeface="Calibri"/>
              <a:sym typeface="Calibri"/>
            </a:endParaRPr>
          </a:p>
          <a:p>
            <a:pPr marL="0" marR="0" lvl="0" indent="0" algn="ctr" rtl="0">
              <a:lnSpc>
                <a:spcPct val="100000"/>
              </a:lnSpc>
              <a:spcBef>
                <a:spcPts val="0"/>
              </a:spcBef>
              <a:spcAft>
                <a:spcPts val="0"/>
              </a:spcAft>
              <a:buClr>
                <a:srgbClr val="002060"/>
              </a:buClr>
              <a:buSzPts val="900"/>
              <a:buFont typeface="Calibri"/>
              <a:buNone/>
            </a:pPr>
            <a:r>
              <a:rPr lang="en-US" sz="900" b="1" i="0" u="none" strike="noStrike" cap="none">
                <a:solidFill>
                  <a:srgbClr val="1F3864"/>
                </a:solidFill>
                <a:latin typeface="Calibri"/>
                <a:ea typeface="Calibri"/>
                <a:cs typeface="Calibri"/>
                <a:sym typeface="Calibri"/>
              </a:rPr>
              <a:t>Las categorías de Tecnología e Indumentaria muestran una correlación más fuerte entre el tráfico y las ventas. A igual nivel de tránsito, las ventas pueden variar hasta tres veces entre diferentes categorías, lo que demuestra que el sector establece el techo máximo de ingresos.</a:t>
            </a:r>
            <a:endParaRPr sz="1200" b="1" i="0" u="none" strike="noStrike" cap="none">
              <a:solidFill>
                <a:srgbClr val="1F3864"/>
              </a:solidFill>
              <a:latin typeface="Calibri"/>
              <a:ea typeface="Calibri"/>
              <a:cs typeface="Calibri"/>
              <a:sym typeface="Calibri"/>
            </a:endParaRPr>
          </a:p>
        </p:txBody>
      </p:sp>
      <p:sp>
        <p:nvSpPr>
          <p:cNvPr id="252" name="Google Shape;252;p8"/>
          <p:cNvSpPr/>
          <p:nvPr/>
        </p:nvSpPr>
        <p:spPr>
          <a:xfrm>
            <a:off x="0" y="459848"/>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257"/>
        <p:cNvGrpSpPr/>
        <p:nvPr/>
      </p:nvGrpSpPr>
      <p:grpSpPr>
        <a:xfrm>
          <a:off x="0" y="0"/>
          <a:ext cx="0" cy="0"/>
          <a:chOff x="0" y="0"/>
          <a:chExt cx="0" cy="0"/>
        </a:xfrm>
      </p:grpSpPr>
      <p:sp>
        <p:nvSpPr>
          <p:cNvPr id="258" name="Google Shape;258;p9"/>
          <p:cNvSpPr/>
          <p:nvPr/>
        </p:nvSpPr>
        <p:spPr>
          <a:xfrm>
            <a:off x="0" y="0"/>
            <a:ext cx="9144000" cy="777240"/>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59" name="Google Shape;259;p9"/>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MODELO KNN — PREPARACIÓN Y PROCESO</a:t>
            </a:r>
            <a:endParaRPr sz="2200" b="0" i="0" u="none" strike="noStrike" cap="none">
              <a:solidFill>
                <a:schemeClr val="dk1"/>
              </a:solidFill>
              <a:latin typeface="Calibri"/>
              <a:ea typeface="Calibri"/>
              <a:cs typeface="Calibri"/>
              <a:sym typeface="Calibri"/>
            </a:endParaRPr>
          </a:p>
        </p:txBody>
      </p:sp>
      <p:sp>
        <p:nvSpPr>
          <p:cNvPr id="260" name="Google Shape;260;p9"/>
          <p:cNvSpPr/>
          <p:nvPr/>
        </p:nvSpPr>
        <p:spPr>
          <a:xfrm>
            <a:off x="320040" y="960120"/>
            <a:ext cx="548640" cy="548640"/>
          </a:xfrm>
          <a:prstGeom prst="ellipse">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1" name="Google Shape;261;p9"/>
          <p:cNvSpPr/>
          <p:nvPr/>
        </p:nvSpPr>
        <p:spPr>
          <a:xfrm>
            <a:off x="320040" y="960120"/>
            <a:ext cx="548640" cy="5486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1</a:t>
            </a:r>
            <a:endParaRPr sz="1600" b="0" i="0" u="none" strike="noStrike" cap="none">
              <a:solidFill>
                <a:schemeClr val="dk1"/>
              </a:solidFill>
              <a:latin typeface="Calibri"/>
              <a:ea typeface="Calibri"/>
              <a:cs typeface="Calibri"/>
              <a:sym typeface="Calibri"/>
            </a:endParaRPr>
          </a:p>
        </p:txBody>
      </p:sp>
      <p:sp>
        <p:nvSpPr>
          <p:cNvPr id="262" name="Google Shape;262;p9"/>
          <p:cNvSpPr/>
          <p:nvPr/>
        </p:nvSpPr>
        <p:spPr>
          <a:xfrm>
            <a:off x="1005840" y="960120"/>
            <a:ext cx="4023360" cy="548640"/>
          </a:xfrm>
          <a:prstGeom prst="rect">
            <a:avLst/>
          </a:prstGeom>
          <a:solidFill>
            <a:srgbClr val="FFFFFF"/>
          </a:solidFill>
          <a:ln>
            <a:noFill/>
          </a:ln>
          <a:effectLst>
            <a:outerShdw blurRad="508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3" name="Google Shape;263;p9"/>
          <p:cNvSpPr/>
          <p:nvPr/>
        </p:nvSpPr>
        <p:spPr>
          <a:xfrm>
            <a:off x="1005840" y="960120"/>
            <a:ext cx="54864" cy="54864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4" name="Google Shape;264;p9"/>
          <p:cNvSpPr/>
          <p:nvPr/>
        </p:nvSpPr>
        <p:spPr>
          <a:xfrm>
            <a:off x="1115568" y="996696"/>
            <a:ext cx="118872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Encoding</a:t>
            </a:r>
            <a:endParaRPr sz="1000" b="0" i="0" u="none" strike="noStrike" cap="none">
              <a:solidFill>
                <a:schemeClr val="dk1"/>
              </a:solidFill>
              <a:latin typeface="Calibri"/>
              <a:ea typeface="Calibri"/>
              <a:cs typeface="Calibri"/>
              <a:sym typeface="Calibri"/>
            </a:endParaRPr>
          </a:p>
        </p:txBody>
      </p:sp>
      <p:sp>
        <p:nvSpPr>
          <p:cNvPr id="265" name="Google Shape;265;p9"/>
          <p:cNvSpPr/>
          <p:nvPr/>
        </p:nvSpPr>
        <p:spPr>
          <a:xfrm>
            <a:off x="1115568" y="1225296"/>
            <a:ext cx="3840480" cy="2468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00"/>
              <a:buFont typeface="Calibri"/>
              <a:buNone/>
            </a:pPr>
            <a:r>
              <a:rPr lang="en-US" sz="900" b="0" i="0" u="none" strike="noStrike" cap="none">
                <a:solidFill>
                  <a:srgbClr val="444444"/>
                </a:solidFill>
                <a:latin typeface="Calibri"/>
                <a:ea typeface="Calibri"/>
                <a:cs typeface="Calibri"/>
                <a:sym typeface="Calibri"/>
              </a:rPr>
              <a:t>Encoded Nivel Socioeconomico, Posicionamiento, One-Hot en Rubro y Tipo Ubicación</a:t>
            </a:r>
            <a:endParaRPr sz="900" b="0" i="0" u="none" strike="noStrike" cap="none">
              <a:solidFill>
                <a:schemeClr val="dk1"/>
              </a:solidFill>
              <a:latin typeface="Calibri"/>
              <a:ea typeface="Calibri"/>
              <a:cs typeface="Calibri"/>
              <a:sym typeface="Calibri"/>
            </a:endParaRPr>
          </a:p>
        </p:txBody>
      </p:sp>
      <p:sp>
        <p:nvSpPr>
          <p:cNvPr id="266" name="Google Shape;266;p9"/>
          <p:cNvSpPr/>
          <p:nvPr/>
        </p:nvSpPr>
        <p:spPr>
          <a:xfrm>
            <a:off x="320040" y="1764792"/>
            <a:ext cx="548640" cy="548640"/>
          </a:xfrm>
          <a:prstGeom prst="ellipse">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7" name="Google Shape;267;p9"/>
          <p:cNvSpPr/>
          <p:nvPr/>
        </p:nvSpPr>
        <p:spPr>
          <a:xfrm>
            <a:off x="320040" y="1764792"/>
            <a:ext cx="548640" cy="5486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2</a:t>
            </a:r>
            <a:endParaRPr sz="1600" b="0" i="0" u="none" strike="noStrike" cap="none">
              <a:solidFill>
                <a:schemeClr val="dk1"/>
              </a:solidFill>
              <a:latin typeface="Calibri"/>
              <a:ea typeface="Calibri"/>
              <a:cs typeface="Calibri"/>
              <a:sym typeface="Calibri"/>
            </a:endParaRPr>
          </a:p>
        </p:txBody>
      </p:sp>
      <p:sp>
        <p:nvSpPr>
          <p:cNvPr id="268" name="Google Shape;268;p9"/>
          <p:cNvSpPr/>
          <p:nvPr/>
        </p:nvSpPr>
        <p:spPr>
          <a:xfrm>
            <a:off x="1005840" y="1764792"/>
            <a:ext cx="4023360" cy="548640"/>
          </a:xfrm>
          <a:prstGeom prst="rect">
            <a:avLst/>
          </a:prstGeom>
          <a:solidFill>
            <a:srgbClr val="FFFFFF"/>
          </a:solidFill>
          <a:ln>
            <a:noFill/>
          </a:ln>
          <a:effectLst>
            <a:outerShdw blurRad="508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9" name="Google Shape;269;p9"/>
          <p:cNvSpPr/>
          <p:nvPr/>
        </p:nvSpPr>
        <p:spPr>
          <a:xfrm>
            <a:off x="1005840" y="1764792"/>
            <a:ext cx="54864" cy="54864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0" name="Google Shape;270;p9"/>
          <p:cNvSpPr/>
          <p:nvPr/>
        </p:nvSpPr>
        <p:spPr>
          <a:xfrm>
            <a:off x="1115568" y="1801368"/>
            <a:ext cx="118872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Normalización</a:t>
            </a:r>
            <a:endParaRPr sz="1000" b="0" i="0" u="none" strike="noStrike" cap="none">
              <a:solidFill>
                <a:schemeClr val="dk1"/>
              </a:solidFill>
              <a:latin typeface="Calibri"/>
              <a:ea typeface="Calibri"/>
              <a:cs typeface="Calibri"/>
              <a:sym typeface="Calibri"/>
            </a:endParaRPr>
          </a:p>
        </p:txBody>
      </p:sp>
      <p:sp>
        <p:nvSpPr>
          <p:cNvPr id="271" name="Google Shape;271;p9"/>
          <p:cNvSpPr/>
          <p:nvPr/>
        </p:nvSpPr>
        <p:spPr>
          <a:xfrm>
            <a:off x="1115568" y="2029968"/>
            <a:ext cx="3840480" cy="2468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00"/>
              <a:buFont typeface="Calibri"/>
              <a:buNone/>
            </a:pPr>
            <a:r>
              <a:rPr lang="en-US" sz="900" b="0" i="0" u="none" strike="noStrike" cap="none">
                <a:solidFill>
                  <a:srgbClr val="444444"/>
                </a:solidFill>
                <a:latin typeface="Calibri"/>
                <a:ea typeface="Calibri"/>
                <a:cs typeface="Calibri"/>
                <a:sym typeface="Calibri"/>
              </a:rPr>
              <a:t>StandardScaler (μ=0, σ=1) sobre 30 features numéricas</a:t>
            </a:r>
            <a:endParaRPr sz="900" b="0" i="0" u="none" strike="noStrike" cap="none">
              <a:solidFill>
                <a:schemeClr val="dk1"/>
              </a:solidFill>
              <a:latin typeface="Calibri"/>
              <a:ea typeface="Calibri"/>
              <a:cs typeface="Calibri"/>
              <a:sym typeface="Calibri"/>
            </a:endParaRPr>
          </a:p>
        </p:txBody>
      </p:sp>
      <p:sp>
        <p:nvSpPr>
          <p:cNvPr id="272" name="Google Shape;272;p9"/>
          <p:cNvSpPr/>
          <p:nvPr/>
        </p:nvSpPr>
        <p:spPr>
          <a:xfrm>
            <a:off x="320040" y="2569464"/>
            <a:ext cx="548640" cy="548640"/>
          </a:xfrm>
          <a:prstGeom prst="ellipse">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3" name="Google Shape;273;p9"/>
          <p:cNvSpPr/>
          <p:nvPr/>
        </p:nvSpPr>
        <p:spPr>
          <a:xfrm>
            <a:off x="320040" y="2569464"/>
            <a:ext cx="548640" cy="5486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3</a:t>
            </a:r>
            <a:endParaRPr sz="1600" b="0" i="0" u="none" strike="noStrike" cap="none">
              <a:solidFill>
                <a:schemeClr val="dk1"/>
              </a:solidFill>
              <a:latin typeface="Calibri"/>
              <a:ea typeface="Calibri"/>
              <a:cs typeface="Calibri"/>
              <a:sym typeface="Calibri"/>
            </a:endParaRPr>
          </a:p>
        </p:txBody>
      </p:sp>
      <p:sp>
        <p:nvSpPr>
          <p:cNvPr id="274" name="Google Shape;274;p9"/>
          <p:cNvSpPr/>
          <p:nvPr/>
        </p:nvSpPr>
        <p:spPr>
          <a:xfrm>
            <a:off x="1005840" y="2569464"/>
            <a:ext cx="4023360" cy="548640"/>
          </a:xfrm>
          <a:prstGeom prst="rect">
            <a:avLst/>
          </a:prstGeom>
          <a:solidFill>
            <a:srgbClr val="FFFFFF"/>
          </a:solidFill>
          <a:ln>
            <a:noFill/>
          </a:ln>
          <a:effectLst>
            <a:outerShdw blurRad="508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5" name="Google Shape;275;p9"/>
          <p:cNvSpPr/>
          <p:nvPr/>
        </p:nvSpPr>
        <p:spPr>
          <a:xfrm>
            <a:off x="1005840" y="2569464"/>
            <a:ext cx="54864" cy="54864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6" name="Google Shape;276;p9"/>
          <p:cNvSpPr/>
          <p:nvPr/>
        </p:nvSpPr>
        <p:spPr>
          <a:xfrm>
            <a:off x="1115568" y="2606040"/>
            <a:ext cx="118872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Split</a:t>
            </a:r>
            <a:endParaRPr sz="1000" b="0" i="0" u="none" strike="noStrike" cap="none">
              <a:solidFill>
                <a:schemeClr val="dk1"/>
              </a:solidFill>
              <a:latin typeface="Calibri"/>
              <a:ea typeface="Calibri"/>
              <a:cs typeface="Calibri"/>
              <a:sym typeface="Calibri"/>
            </a:endParaRPr>
          </a:p>
        </p:txBody>
      </p:sp>
      <p:sp>
        <p:nvSpPr>
          <p:cNvPr id="277" name="Google Shape;277;p9"/>
          <p:cNvSpPr/>
          <p:nvPr/>
        </p:nvSpPr>
        <p:spPr>
          <a:xfrm>
            <a:off x="1115568" y="2834640"/>
            <a:ext cx="3840480" cy="2468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00"/>
              <a:buFont typeface="Calibri"/>
              <a:buNone/>
            </a:pPr>
            <a:r>
              <a:rPr lang="en-US" sz="900" b="0" i="0" u="none" strike="noStrike" cap="none">
                <a:solidFill>
                  <a:srgbClr val="444444"/>
                </a:solidFill>
                <a:latin typeface="Calibri"/>
                <a:ea typeface="Calibri"/>
                <a:cs typeface="Calibri"/>
                <a:sym typeface="Calibri"/>
              </a:rPr>
              <a:t>Train 70% (2101) · Validación 15% (449) · Test 15% (450)</a:t>
            </a:r>
            <a:endParaRPr sz="900" b="0" i="0" u="none" strike="noStrike" cap="none">
              <a:solidFill>
                <a:schemeClr val="dk1"/>
              </a:solidFill>
              <a:latin typeface="Calibri"/>
              <a:ea typeface="Calibri"/>
              <a:cs typeface="Calibri"/>
              <a:sym typeface="Calibri"/>
            </a:endParaRPr>
          </a:p>
        </p:txBody>
      </p:sp>
      <p:sp>
        <p:nvSpPr>
          <p:cNvPr id="278" name="Google Shape;278;p9"/>
          <p:cNvSpPr/>
          <p:nvPr/>
        </p:nvSpPr>
        <p:spPr>
          <a:xfrm>
            <a:off x="320040" y="3374136"/>
            <a:ext cx="548640" cy="548640"/>
          </a:xfrm>
          <a:prstGeom prst="ellipse">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9" name="Google Shape;279;p9"/>
          <p:cNvSpPr/>
          <p:nvPr/>
        </p:nvSpPr>
        <p:spPr>
          <a:xfrm>
            <a:off x="320040" y="3374136"/>
            <a:ext cx="548640" cy="5486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4</a:t>
            </a:r>
            <a:endParaRPr sz="1600" b="0" i="0" u="none" strike="noStrike" cap="none">
              <a:solidFill>
                <a:schemeClr val="dk1"/>
              </a:solidFill>
              <a:latin typeface="Calibri"/>
              <a:ea typeface="Calibri"/>
              <a:cs typeface="Calibri"/>
              <a:sym typeface="Calibri"/>
            </a:endParaRPr>
          </a:p>
        </p:txBody>
      </p:sp>
      <p:sp>
        <p:nvSpPr>
          <p:cNvPr id="280" name="Google Shape;280;p9"/>
          <p:cNvSpPr/>
          <p:nvPr/>
        </p:nvSpPr>
        <p:spPr>
          <a:xfrm>
            <a:off x="1033272" y="3392424"/>
            <a:ext cx="4023360" cy="548640"/>
          </a:xfrm>
          <a:prstGeom prst="rect">
            <a:avLst/>
          </a:prstGeom>
          <a:solidFill>
            <a:srgbClr val="FFFFFF"/>
          </a:solidFill>
          <a:ln>
            <a:noFill/>
          </a:ln>
          <a:effectLst>
            <a:outerShdw blurRad="508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9"/>
          <p:cNvSpPr/>
          <p:nvPr/>
        </p:nvSpPr>
        <p:spPr>
          <a:xfrm>
            <a:off x="1005840" y="3374136"/>
            <a:ext cx="54864" cy="54864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2" name="Google Shape;282;p9"/>
          <p:cNvSpPr/>
          <p:nvPr/>
        </p:nvSpPr>
        <p:spPr>
          <a:xfrm>
            <a:off x="1115568" y="3410712"/>
            <a:ext cx="118872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Elección K</a:t>
            </a:r>
            <a:endParaRPr sz="1000" b="0" i="0" u="none" strike="noStrike" cap="none">
              <a:solidFill>
                <a:schemeClr val="dk1"/>
              </a:solidFill>
              <a:latin typeface="Calibri"/>
              <a:ea typeface="Calibri"/>
              <a:cs typeface="Calibri"/>
              <a:sym typeface="Calibri"/>
            </a:endParaRPr>
          </a:p>
        </p:txBody>
      </p:sp>
      <p:sp>
        <p:nvSpPr>
          <p:cNvPr id="283" name="Google Shape;283;p9"/>
          <p:cNvSpPr/>
          <p:nvPr/>
        </p:nvSpPr>
        <p:spPr>
          <a:xfrm>
            <a:off x="1115568" y="3639312"/>
            <a:ext cx="3840480" cy="2468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00"/>
              <a:buFont typeface="Calibri"/>
              <a:buNone/>
            </a:pPr>
            <a:r>
              <a:rPr lang="en-US" sz="900" b="0" i="0" u="none" strike="noStrike" cap="none">
                <a:solidFill>
                  <a:srgbClr val="444444"/>
                </a:solidFill>
                <a:latin typeface="Calibri"/>
                <a:ea typeface="Calibri"/>
                <a:cs typeface="Calibri"/>
                <a:sym typeface="Calibri"/>
              </a:rPr>
              <a:t>Mejor K: 10  →  RMSE CV: $ 151.178</a:t>
            </a:r>
            <a:endParaRPr sz="900" b="0" i="0" u="none" strike="noStrike" cap="none">
              <a:solidFill>
                <a:srgbClr val="444444"/>
              </a:solidFill>
              <a:latin typeface="Calibri"/>
              <a:ea typeface="Calibri"/>
              <a:cs typeface="Calibri"/>
              <a:sym typeface="Calibri"/>
            </a:endParaRPr>
          </a:p>
        </p:txBody>
      </p:sp>
      <p:sp>
        <p:nvSpPr>
          <p:cNvPr id="284" name="Google Shape;284;p9"/>
          <p:cNvSpPr/>
          <p:nvPr/>
        </p:nvSpPr>
        <p:spPr>
          <a:xfrm>
            <a:off x="320040" y="4178808"/>
            <a:ext cx="548640" cy="548640"/>
          </a:xfrm>
          <a:prstGeom prst="ellipse">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5" name="Google Shape;285;p9"/>
          <p:cNvSpPr/>
          <p:nvPr/>
        </p:nvSpPr>
        <p:spPr>
          <a:xfrm>
            <a:off x="320040" y="4178808"/>
            <a:ext cx="548640" cy="54864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600"/>
              <a:buFont typeface="Calibri"/>
              <a:buNone/>
            </a:pPr>
            <a:r>
              <a:rPr lang="en-US" sz="1600" b="1" i="0" u="none" strike="noStrike" cap="none">
                <a:solidFill>
                  <a:srgbClr val="FFFFFF"/>
                </a:solidFill>
                <a:latin typeface="Calibri"/>
                <a:ea typeface="Calibri"/>
                <a:cs typeface="Calibri"/>
                <a:sym typeface="Calibri"/>
              </a:rPr>
              <a:t>5</a:t>
            </a:r>
            <a:endParaRPr sz="1600" b="0" i="0" u="none" strike="noStrike" cap="none">
              <a:solidFill>
                <a:schemeClr val="dk1"/>
              </a:solidFill>
              <a:latin typeface="Calibri"/>
              <a:ea typeface="Calibri"/>
              <a:cs typeface="Calibri"/>
              <a:sym typeface="Calibri"/>
            </a:endParaRPr>
          </a:p>
        </p:txBody>
      </p:sp>
      <p:sp>
        <p:nvSpPr>
          <p:cNvPr id="286" name="Google Shape;286;p9"/>
          <p:cNvSpPr/>
          <p:nvPr/>
        </p:nvSpPr>
        <p:spPr>
          <a:xfrm>
            <a:off x="1005840" y="4178808"/>
            <a:ext cx="4023360" cy="548640"/>
          </a:xfrm>
          <a:prstGeom prst="rect">
            <a:avLst/>
          </a:prstGeom>
          <a:solidFill>
            <a:srgbClr val="FFFFFF"/>
          </a:solidFill>
          <a:ln>
            <a:noFill/>
          </a:ln>
          <a:effectLst>
            <a:outerShdw blurRad="50800" dist="12700" dir="8100000" algn="bl" rotWithShape="0">
              <a:srgbClr val="000000">
                <a:alpha val="7843"/>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7" name="Google Shape;287;p9"/>
          <p:cNvSpPr/>
          <p:nvPr/>
        </p:nvSpPr>
        <p:spPr>
          <a:xfrm>
            <a:off x="1005840" y="4178808"/>
            <a:ext cx="54864" cy="54864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8" name="Google Shape;288;p9"/>
          <p:cNvSpPr/>
          <p:nvPr/>
        </p:nvSpPr>
        <p:spPr>
          <a:xfrm>
            <a:off x="1115568" y="4215384"/>
            <a:ext cx="1188720" cy="2286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Entrenamiento</a:t>
            </a:r>
            <a:endParaRPr sz="1000" b="0" i="0" u="none" strike="noStrike" cap="none">
              <a:solidFill>
                <a:schemeClr val="dk1"/>
              </a:solidFill>
              <a:latin typeface="Calibri"/>
              <a:ea typeface="Calibri"/>
              <a:cs typeface="Calibri"/>
              <a:sym typeface="Calibri"/>
            </a:endParaRPr>
          </a:p>
        </p:txBody>
      </p:sp>
      <p:sp>
        <p:nvSpPr>
          <p:cNvPr id="289" name="Google Shape;289;p9"/>
          <p:cNvSpPr/>
          <p:nvPr/>
        </p:nvSpPr>
        <p:spPr>
          <a:xfrm>
            <a:off x="1115568" y="4443984"/>
            <a:ext cx="3840480" cy="246888"/>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00"/>
              <a:buFont typeface="Calibri"/>
              <a:buNone/>
            </a:pPr>
            <a:r>
              <a:rPr lang="en-US" sz="900" b="0" i="0" u="none" strike="noStrike" cap="none">
                <a:solidFill>
                  <a:srgbClr val="444444"/>
                </a:solidFill>
                <a:latin typeface="Calibri"/>
                <a:ea typeface="Calibri"/>
                <a:cs typeface="Calibri"/>
                <a:sym typeface="Calibri"/>
              </a:rPr>
              <a:t>KNeighborsRegressor(n_neighbors=10, weights='distance')</a:t>
            </a:r>
            <a:endParaRPr sz="900" b="0" i="0" u="none" strike="noStrike" cap="none">
              <a:solidFill>
                <a:schemeClr val="dk1"/>
              </a:solidFill>
              <a:latin typeface="Calibri"/>
              <a:ea typeface="Calibri"/>
              <a:cs typeface="Calibri"/>
              <a:sym typeface="Calibri"/>
            </a:endParaRPr>
          </a:p>
        </p:txBody>
      </p:sp>
      <p:sp>
        <p:nvSpPr>
          <p:cNvPr id="290" name="Google Shape;290;p9"/>
          <p:cNvSpPr/>
          <p:nvPr/>
        </p:nvSpPr>
        <p:spPr>
          <a:xfrm>
            <a:off x="5303520" y="960120"/>
            <a:ext cx="347472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Selección de K óptimo (K=10)</a:t>
            </a:r>
            <a:endParaRPr sz="1100" b="0" i="0" u="none" strike="noStrike" cap="none">
              <a:solidFill>
                <a:schemeClr val="dk1"/>
              </a:solidFill>
              <a:latin typeface="Calibri"/>
              <a:ea typeface="Calibri"/>
              <a:cs typeface="Calibri"/>
              <a:sym typeface="Calibri"/>
            </a:endParaRPr>
          </a:p>
        </p:txBody>
      </p:sp>
      <p:sp>
        <p:nvSpPr>
          <p:cNvPr id="291" name="Google Shape;291;p9"/>
          <p:cNvSpPr/>
          <p:nvPr/>
        </p:nvSpPr>
        <p:spPr>
          <a:xfrm>
            <a:off x="5120640" y="3703320"/>
            <a:ext cx="3749040" cy="1234440"/>
          </a:xfrm>
          <a:prstGeom prst="rect">
            <a:avLst/>
          </a:prstGeom>
          <a:solidFill>
            <a:srgbClr val="E3F0FF"/>
          </a:solidFill>
          <a:ln w="1015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2" name="Google Shape;292;p9"/>
          <p:cNvSpPr/>
          <p:nvPr/>
        </p:nvSpPr>
        <p:spPr>
          <a:xfrm>
            <a:off x="5212080" y="3749040"/>
            <a:ext cx="356616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  30 Features incluidas</a:t>
            </a:r>
            <a:endParaRPr sz="1000" b="0" i="0" u="none" strike="noStrike" cap="none">
              <a:solidFill>
                <a:schemeClr val="dk1"/>
              </a:solidFill>
              <a:latin typeface="Calibri"/>
              <a:ea typeface="Calibri"/>
              <a:cs typeface="Calibri"/>
              <a:sym typeface="Calibri"/>
            </a:endParaRPr>
          </a:p>
        </p:txBody>
      </p:sp>
      <p:sp>
        <p:nvSpPr>
          <p:cNvPr id="293" name="Google Shape;293;p9"/>
          <p:cNvSpPr/>
          <p:nvPr/>
        </p:nvSpPr>
        <p:spPr>
          <a:xfrm>
            <a:off x="5212080" y="4041648"/>
            <a:ext cx="3566160" cy="82296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Numéricas: Superficie, Marketing, Alquiler, Tránsito...</a:t>
            </a:r>
            <a:endParaRPr sz="90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Encoded: NSE, Posicionamiento, Rubro, Tipo de ubicación</a:t>
            </a:r>
            <a:endParaRPr sz="900" b="0" i="0" u="none" strike="noStrike" cap="none">
              <a:solidFill>
                <a:srgbClr val="333333"/>
              </a:solidFill>
              <a:latin typeface="Calibri"/>
              <a:ea typeface="Calibri"/>
              <a:cs typeface="Calibri"/>
              <a:sym typeface="Calibri"/>
            </a:endParaRPr>
          </a:p>
          <a:p>
            <a:pPr marL="342900" marR="0" lvl="0" indent="-342900" algn="l" rtl="0">
              <a:lnSpc>
                <a:spcPct val="100000"/>
              </a:lnSpc>
              <a:spcBef>
                <a:spcPts val="0"/>
              </a:spcBef>
              <a:spcAft>
                <a:spcPts val="0"/>
              </a:spcAft>
              <a:buClr>
                <a:srgbClr val="333333"/>
              </a:buClr>
              <a:buSzPts val="900"/>
              <a:buFont typeface="Calibri"/>
              <a:buChar char="•"/>
            </a:pPr>
            <a:r>
              <a:rPr lang="en-US" sz="900" b="0" i="0" u="none" strike="noStrike" cap="none">
                <a:solidFill>
                  <a:srgbClr val="333333"/>
                </a:solidFill>
                <a:latin typeface="Calibri"/>
                <a:ea typeface="Calibri"/>
                <a:cs typeface="Calibri"/>
                <a:sym typeface="Calibri"/>
              </a:rPr>
              <a:t>Dummies: 10 rubros + 4 tipos ubicación</a:t>
            </a:r>
            <a:endParaRPr sz="900" b="0" i="0" u="none" strike="noStrike" cap="none">
              <a:solidFill>
                <a:schemeClr val="dk1"/>
              </a:solidFill>
              <a:latin typeface="Calibri"/>
              <a:ea typeface="Calibri"/>
              <a:cs typeface="Calibri"/>
              <a:sym typeface="Calibri"/>
            </a:endParaRPr>
          </a:p>
        </p:txBody>
      </p:sp>
      <p:sp>
        <p:nvSpPr>
          <p:cNvPr id="294" name="Google Shape;294;p9"/>
          <p:cNvSpPr/>
          <p:nvPr/>
        </p:nvSpPr>
        <p:spPr>
          <a:xfrm>
            <a:off x="320040" y="4828032"/>
            <a:ext cx="8503920" cy="228600"/>
          </a:xfrm>
          <a:prstGeom prst="rect">
            <a:avLst/>
          </a:prstGeom>
          <a:solidFill>
            <a:srgbClr val="FFF8E1"/>
          </a:solidFill>
          <a:ln w="10150" cap="flat" cmpd="sng">
            <a:solidFill>
              <a:srgbClr val="FFB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5" name="Google Shape;295;p9"/>
          <p:cNvSpPr/>
          <p:nvPr/>
        </p:nvSpPr>
        <p:spPr>
          <a:xfrm>
            <a:off x="411480" y="4837176"/>
            <a:ext cx="8321040" cy="20116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B5800"/>
              </a:buClr>
              <a:buSzPts val="900"/>
              <a:buFont typeface="Calibri"/>
              <a:buNone/>
            </a:pPr>
            <a:r>
              <a:rPr lang="en-US" sz="900" b="0" i="0" u="none" strike="noStrike" cap="none">
                <a:solidFill>
                  <a:srgbClr val="7B5800"/>
                </a:solidFill>
                <a:latin typeface="Calibri"/>
                <a:ea typeface="Calibri"/>
                <a:cs typeface="Calibri"/>
                <a:sym typeface="Calibri"/>
              </a:rPr>
              <a:t>💡  Se usó weights='distance' para dar mayor peso a los vecinos más cercanos, mejorando la precisión del modelo.</a:t>
            </a:r>
            <a:endParaRPr sz="900" b="0" i="0" u="none" strike="noStrike" cap="none">
              <a:solidFill>
                <a:schemeClr val="dk1"/>
              </a:solidFill>
              <a:latin typeface="Calibri"/>
              <a:ea typeface="Calibri"/>
              <a:cs typeface="Calibri"/>
              <a:sym typeface="Calibri"/>
            </a:endParaRPr>
          </a:p>
        </p:txBody>
      </p:sp>
      <p:pic>
        <p:nvPicPr>
          <p:cNvPr id="296" name="Google Shape;296;p9"/>
          <p:cNvPicPr preferRelativeResize="0"/>
          <p:nvPr/>
        </p:nvPicPr>
        <p:blipFill rotWithShape="1">
          <a:blip r:embed="rId3">
            <a:alphaModFix/>
          </a:blip>
          <a:srcRect/>
          <a:stretch/>
        </p:blipFill>
        <p:spPr>
          <a:xfrm>
            <a:off x="5260825" y="1267151"/>
            <a:ext cx="3749025" cy="2001112"/>
          </a:xfrm>
          <a:prstGeom prst="rect">
            <a:avLst/>
          </a:prstGeom>
          <a:noFill/>
          <a:ln>
            <a:noFill/>
          </a:ln>
        </p:spPr>
      </p:pic>
      <p:sp>
        <p:nvSpPr>
          <p:cNvPr id="297" name="Google Shape;297;p9"/>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302"/>
        <p:cNvGrpSpPr/>
        <p:nvPr/>
      </p:nvGrpSpPr>
      <p:grpSpPr>
        <a:xfrm>
          <a:off x="0" y="0"/>
          <a:ext cx="0" cy="0"/>
          <a:chOff x="0" y="0"/>
          <a:chExt cx="0" cy="0"/>
        </a:xfrm>
      </p:grpSpPr>
      <p:sp>
        <p:nvSpPr>
          <p:cNvPr id="303" name="Google Shape;303;p10"/>
          <p:cNvSpPr/>
          <p:nvPr/>
        </p:nvSpPr>
        <p:spPr>
          <a:xfrm>
            <a:off x="0" y="0"/>
            <a:ext cx="9144000" cy="777240"/>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4" name="Google Shape;304;p10"/>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MODELO KNN — RESULTADOS</a:t>
            </a:r>
            <a:endParaRPr sz="2200" b="0" i="0" u="none" strike="noStrike" cap="none">
              <a:solidFill>
                <a:schemeClr val="dk1"/>
              </a:solidFill>
              <a:latin typeface="Calibri"/>
              <a:ea typeface="Calibri"/>
              <a:cs typeface="Calibri"/>
              <a:sym typeface="Calibri"/>
            </a:endParaRPr>
          </a:p>
        </p:txBody>
      </p:sp>
      <p:sp>
        <p:nvSpPr>
          <p:cNvPr id="305" name="Google Shape;305;p10"/>
          <p:cNvSpPr/>
          <p:nvPr/>
        </p:nvSpPr>
        <p:spPr>
          <a:xfrm>
            <a:off x="0" y="777240"/>
            <a:ext cx="9144000" cy="54864"/>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6" name="Google Shape;306;p10"/>
          <p:cNvSpPr/>
          <p:nvPr/>
        </p:nvSpPr>
        <p:spPr>
          <a:xfrm>
            <a:off x="320040" y="960120"/>
            <a:ext cx="1920240" cy="105156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10"/>
          <p:cNvSpPr/>
          <p:nvPr/>
        </p:nvSpPr>
        <p:spPr>
          <a:xfrm>
            <a:off x="320040" y="960120"/>
            <a:ext cx="1920240" cy="64008"/>
          </a:xfrm>
          <a:prstGeom prst="rect">
            <a:avLst/>
          </a:prstGeom>
          <a:solidFill>
            <a:srgbClr val="1565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8" name="Google Shape;308;p10"/>
          <p:cNvSpPr/>
          <p:nvPr/>
        </p:nvSpPr>
        <p:spPr>
          <a:xfrm>
            <a:off x="320040" y="1042416"/>
            <a:ext cx="1920240" cy="4754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565C0"/>
              </a:buClr>
              <a:buSzPts val="2200"/>
              <a:buFont typeface="Calibri"/>
              <a:buNone/>
            </a:pPr>
            <a:r>
              <a:rPr lang="en-US" sz="2200" b="1" i="0" u="none" strike="noStrike" cap="none">
                <a:solidFill>
                  <a:srgbClr val="1565C0"/>
                </a:solidFill>
                <a:latin typeface="Calibri"/>
                <a:ea typeface="Calibri"/>
                <a:cs typeface="Calibri"/>
                <a:sym typeface="Calibri"/>
              </a:rPr>
              <a:t>63.8%</a:t>
            </a:r>
            <a:endParaRPr sz="2200" b="0" i="0" u="none" strike="noStrike" cap="none">
              <a:solidFill>
                <a:schemeClr val="dk1"/>
              </a:solidFill>
              <a:latin typeface="Calibri"/>
              <a:ea typeface="Calibri"/>
              <a:cs typeface="Calibri"/>
              <a:sym typeface="Calibri"/>
            </a:endParaRPr>
          </a:p>
        </p:txBody>
      </p:sp>
      <p:sp>
        <p:nvSpPr>
          <p:cNvPr id="309" name="Google Shape;309;p10"/>
          <p:cNvSpPr/>
          <p:nvPr/>
        </p:nvSpPr>
        <p:spPr>
          <a:xfrm>
            <a:off x="320040" y="151790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R² — Precisión</a:t>
            </a:r>
            <a:endParaRPr sz="1000" b="0" i="0" u="none" strike="noStrike" cap="none">
              <a:solidFill>
                <a:schemeClr val="dk1"/>
              </a:solidFill>
              <a:latin typeface="Calibri"/>
              <a:ea typeface="Calibri"/>
              <a:cs typeface="Calibri"/>
              <a:sym typeface="Calibri"/>
            </a:endParaRPr>
          </a:p>
        </p:txBody>
      </p:sp>
      <p:sp>
        <p:nvSpPr>
          <p:cNvPr id="310" name="Google Shape;310;p10"/>
          <p:cNvSpPr/>
          <p:nvPr/>
        </p:nvSpPr>
        <p:spPr>
          <a:xfrm>
            <a:off x="320040" y="1719072"/>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El modelo explica el 63.8% de la varianza en ventas</a:t>
            </a:r>
            <a:endParaRPr sz="800" b="0" i="0" u="none" strike="noStrike" cap="none">
              <a:solidFill>
                <a:schemeClr val="dk1"/>
              </a:solidFill>
              <a:latin typeface="Calibri"/>
              <a:ea typeface="Calibri"/>
              <a:cs typeface="Calibri"/>
              <a:sym typeface="Calibri"/>
            </a:endParaRPr>
          </a:p>
        </p:txBody>
      </p:sp>
      <p:sp>
        <p:nvSpPr>
          <p:cNvPr id="311" name="Google Shape;311;p10"/>
          <p:cNvSpPr/>
          <p:nvPr/>
        </p:nvSpPr>
        <p:spPr>
          <a:xfrm>
            <a:off x="2496312" y="960120"/>
            <a:ext cx="1920240" cy="105156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2" name="Google Shape;312;p10"/>
          <p:cNvSpPr/>
          <p:nvPr/>
        </p:nvSpPr>
        <p:spPr>
          <a:xfrm>
            <a:off x="2496312" y="960120"/>
            <a:ext cx="1920240" cy="64008"/>
          </a:xfrm>
          <a:prstGeom prst="rect">
            <a:avLst/>
          </a:prstGeom>
          <a:solidFill>
            <a:srgbClr val="E651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3" name="Google Shape;313;p10"/>
          <p:cNvSpPr/>
          <p:nvPr/>
        </p:nvSpPr>
        <p:spPr>
          <a:xfrm>
            <a:off x="2496312" y="1042416"/>
            <a:ext cx="1920240" cy="4754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65100"/>
              </a:buClr>
              <a:buSzPts val="2200"/>
              <a:buFont typeface="Calibri"/>
              <a:buNone/>
            </a:pPr>
            <a:r>
              <a:rPr lang="en-US" sz="2200" b="1" i="0" u="none" strike="noStrike" cap="none">
                <a:solidFill>
                  <a:srgbClr val="E65100"/>
                </a:solidFill>
                <a:latin typeface="Calibri"/>
                <a:ea typeface="Calibri"/>
                <a:cs typeface="Calibri"/>
                <a:sym typeface="Calibri"/>
              </a:rPr>
              <a:t>$120,365</a:t>
            </a:r>
            <a:endParaRPr sz="2200" b="0" i="0" u="none" strike="noStrike" cap="none">
              <a:solidFill>
                <a:schemeClr val="dk1"/>
              </a:solidFill>
              <a:latin typeface="Calibri"/>
              <a:ea typeface="Calibri"/>
              <a:cs typeface="Calibri"/>
              <a:sym typeface="Calibri"/>
            </a:endParaRPr>
          </a:p>
        </p:txBody>
      </p:sp>
      <p:sp>
        <p:nvSpPr>
          <p:cNvPr id="314" name="Google Shape;314;p10"/>
          <p:cNvSpPr/>
          <p:nvPr/>
        </p:nvSpPr>
        <p:spPr>
          <a:xfrm>
            <a:off x="2496312" y="151790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MAE</a:t>
            </a:r>
            <a:endParaRPr sz="1000" b="0" i="0" u="none" strike="noStrike" cap="none">
              <a:solidFill>
                <a:schemeClr val="dk1"/>
              </a:solidFill>
              <a:latin typeface="Calibri"/>
              <a:ea typeface="Calibri"/>
              <a:cs typeface="Calibri"/>
              <a:sym typeface="Calibri"/>
            </a:endParaRPr>
          </a:p>
        </p:txBody>
      </p:sp>
      <p:sp>
        <p:nvSpPr>
          <p:cNvPr id="315" name="Google Shape;315;p10"/>
          <p:cNvSpPr/>
          <p:nvPr/>
        </p:nvSpPr>
        <p:spPr>
          <a:xfrm>
            <a:off x="2496312" y="1719072"/>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Error absoluto promedio por predicción</a:t>
            </a:r>
            <a:endParaRPr sz="800" b="0" i="0" u="none" strike="noStrike" cap="none">
              <a:solidFill>
                <a:schemeClr val="dk1"/>
              </a:solidFill>
              <a:latin typeface="Calibri"/>
              <a:ea typeface="Calibri"/>
              <a:cs typeface="Calibri"/>
              <a:sym typeface="Calibri"/>
            </a:endParaRPr>
          </a:p>
        </p:txBody>
      </p:sp>
      <p:sp>
        <p:nvSpPr>
          <p:cNvPr id="316" name="Google Shape;316;p10"/>
          <p:cNvSpPr/>
          <p:nvPr/>
        </p:nvSpPr>
        <p:spPr>
          <a:xfrm>
            <a:off x="4672584" y="960120"/>
            <a:ext cx="1920240" cy="105156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7" name="Google Shape;317;p10"/>
          <p:cNvSpPr/>
          <p:nvPr/>
        </p:nvSpPr>
        <p:spPr>
          <a:xfrm>
            <a:off x="4672584" y="960120"/>
            <a:ext cx="1920240" cy="64008"/>
          </a:xfrm>
          <a:prstGeom prst="rect">
            <a:avLst/>
          </a:prstGeom>
          <a:solidFill>
            <a:srgbClr val="6A1B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8" name="Google Shape;318;p10"/>
          <p:cNvSpPr/>
          <p:nvPr/>
        </p:nvSpPr>
        <p:spPr>
          <a:xfrm>
            <a:off x="4672584" y="1042416"/>
            <a:ext cx="1920240" cy="4754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1B9A"/>
              </a:buClr>
              <a:buSzPts val="2200"/>
              <a:buFont typeface="Calibri"/>
              <a:buNone/>
            </a:pPr>
            <a:r>
              <a:rPr lang="en-US" sz="2200" b="1" i="0" u="none" strike="noStrike" cap="none">
                <a:solidFill>
                  <a:srgbClr val="6A1B9A"/>
                </a:solidFill>
                <a:latin typeface="Calibri"/>
                <a:ea typeface="Calibri"/>
                <a:cs typeface="Calibri"/>
                <a:sym typeface="Calibri"/>
              </a:rPr>
              <a:t>$151,178</a:t>
            </a:r>
            <a:endParaRPr sz="2200" b="0" i="0" u="none" strike="noStrike" cap="none">
              <a:solidFill>
                <a:schemeClr val="dk1"/>
              </a:solidFill>
              <a:latin typeface="Calibri"/>
              <a:ea typeface="Calibri"/>
              <a:cs typeface="Calibri"/>
              <a:sym typeface="Calibri"/>
            </a:endParaRPr>
          </a:p>
        </p:txBody>
      </p:sp>
      <p:sp>
        <p:nvSpPr>
          <p:cNvPr id="319" name="Google Shape;319;p10"/>
          <p:cNvSpPr/>
          <p:nvPr/>
        </p:nvSpPr>
        <p:spPr>
          <a:xfrm>
            <a:off x="4672584" y="151790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RMSE</a:t>
            </a:r>
            <a:endParaRPr sz="1000" b="0" i="0" u="none" strike="noStrike" cap="none">
              <a:solidFill>
                <a:schemeClr val="dk1"/>
              </a:solidFill>
              <a:latin typeface="Calibri"/>
              <a:ea typeface="Calibri"/>
              <a:cs typeface="Calibri"/>
              <a:sym typeface="Calibri"/>
            </a:endParaRPr>
          </a:p>
        </p:txBody>
      </p:sp>
      <p:sp>
        <p:nvSpPr>
          <p:cNvPr id="320" name="Google Shape;320;p10"/>
          <p:cNvSpPr/>
          <p:nvPr/>
        </p:nvSpPr>
        <p:spPr>
          <a:xfrm>
            <a:off x="4672584" y="1719072"/>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Raíz del error cuadrático medio</a:t>
            </a:r>
            <a:endParaRPr sz="800" b="0" i="0" u="none" strike="noStrike" cap="none">
              <a:solidFill>
                <a:schemeClr val="dk1"/>
              </a:solidFill>
              <a:latin typeface="Calibri"/>
              <a:ea typeface="Calibri"/>
              <a:cs typeface="Calibri"/>
              <a:sym typeface="Calibri"/>
            </a:endParaRPr>
          </a:p>
        </p:txBody>
      </p:sp>
      <p:sp>
        <p:nvSpPr>
          <p:cNvPr id="321" name="Google Shape;321;p10"/>
          <p:cNvSpPr/>
          <p:nvPr/>
        </p:nvSpPr>
        <p:spPr>
          <a:xfrm>
            <a:off x="6848856" y="960120"/>
            <a:ext cx="1920240" cy="105156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2" name="Google Shape;322;p10"/>
          <p:cNvSpPr/>
          <p:nvPr/>
        </p:nvSpPr>
        <p:spPr>
          <a:xfrm>
            <a:off x="6848856" y="960120"/>
            <a:ext cx="1920240" cy="64008"/>
          </a:xfrm>
          <a:prstGeom prst="rect">
            <a:avLst/>
          </a:prstGeom>
          <a:solidFill>
            <a:srgbClr val="C6282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3" name="Google Shape;323;p10"/>
          <p:cNvSpPr/>
          <p:nvPr/>
        </p:nvSpPr>
        <p:spPr>
          <a:xfrm>
            <a:off x="6848856" y="1042416"/>
            <a:ext cx="1920240" cy="47548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C62828"/>
              </a:buClr>
              <a:buSzPts val="2200"/>
              <a:buFont typeface="Calibri"/>
              <a:buNone/>
            </a:pPr>
            <a:r>
              <a:rPr lang="en-US" sz="2200" b="1" i="0" u="none" strike="noStrike" cap="none">
                <a:solidFill>
                  <a:srgbClr val="C62828"/>
                </a:solidFill>
                <a:latin typeface="Calibri"/>
                <a:ea typeface="Calibri"/>
                <a:cs typeface="Calibri"/>
                <a:sym typeface="Calibri"/>
              </a:rPr>
              <a:t>21.7%</a:t>
            </a:r>
            <a:endParaRPr sz="2200" b="0" i="0" u="none" strike="noStrike" cap="none">
              <a:solidFill>
                <a:schemeClr val="dk1"/>
              </a:solidFill>
              <a:latin typeface="Calibri"/>
              <a:ea typeface="Calibri"/>
              <a:cs typeface="Calibri"/>
              <a:sym typeface="Calibri"/>
            </a:endParaRPr>
          </a:p>
        </p:txBody>
      </p:sp>
      <p:sp>
        <p:nvSpPr>
          <p:cNvPr id="324" name="Google Shape;324;p10"/>
          <p:cNvSpPr/>
          <p:nvPr/>
        </p:nvSpPr>
        <p:spPr>
          <a:xfrm>
            <a:off x="6848856" y="1517904"/>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Error %</a:t>
            </a:r>
            <a:endParaRPr sz="1000" b="0" i="0" u="none" strike="noStrike" cap="none">
              <a:solidFill>
                <a:schemeClr val="dk1"/>
              </a:solidFill>
              <a:latin typeface="Calibri"/>
              <a:ea typeface="Calibri"/>
              <a:cs typeface="Calibri"/>
              <a:sym typeface="Calibri"/>
            </a:endParaRPr>
          </a:p>
        </p:txBody>
      </p:sp>
      <p:sp>
        <p:nvSpPr>
          <p:cNvPr id="325" name="Google Shape;325;p10"/>
          <p:cNvSpPr/>
          <p:nvPr/>
        </p:nvSpPr>
        <p:spPr>
          <a:xfrm>
            <a:off x="6848856" y="1719072"/>
            <a:ext cx="19202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Error porcentual sobre venta promedio</a:t>
            </a:r>
            <a:endParaRPr sz="800" b="0" i="0" u="none" strike="noStrike" cap="none">
              <a:solidFill>
                <a:schemeClr val="dk1"/>
              </a:solidFill>
              <a:latin typeface="Calibri"/>
              <a:ea typeface="Calibri"/>
              <a:cs typeface="Calibri"/>
              <a:sym typeface="Calibri"/>
            </a:endParaRPr>
          </a:p>
        </p:txBody>
      </p:sp>
      <p:sp>
        <p:nvSpPr>
          <p:cNvPr id="326" name="Google Shape;326;p10"/>
          <p:cNvSpPr/>
          <p:nvPr/>
        </p:nvSpPr>
        <p:spPr>
          <a:xfrm>
            <a:off x="357188" y="1984248"/>
            <a:ext cx="484632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Real vs Predicho — KNN</a:t>
            </a:r>
            <a:endParaRPr sz="1100" b="0" i="0" u="none" strike="noStrike" cap="none">
              <a:solidFill>
                <a:schemeClr val="dk1"/>
              </a:solidFill>
              <a:latin typeface="Calibri"/>
              <a:ea typeface="Calibri"/>
              <a:cs typeface="Calibri"/>
              <a:sym typeface="Calibri"/>
            </a:endParaRPr>
          </a:p>
        </p:txBody>
      </p:sp>
      <p:sp>
        <p:nvSpPr>
          <p:cNvPr id="327" name="Google Shape;327;p10"/>
          <p:cNvSpPr/>
          <p:nvPr/>
        </p:nvSpPr>
        <p:spPr>
          <a:xfrm>
            <a:off x="5303520" y="2176272"/>
            <a:ext cx="3520440" cy="2697480"/>
          </a:xfrm>
          <a:prstGeom prst="rect">
            <a:avLst/>
          </a:prstGeom>
          <a:solidFill>
            <a:srgbClr val="E3F0FF"/>
          </a:solidFill>
          <a:ln w="10150" cap="flat" cmpd="sng">
            <a:solidFill>
              <a:srgbClr val="1565C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8" name="Google Shape;328;p10"/>
          <p:cNvSpPr/>
          <p:nvPr/>
        </p:nvSpPr>
        <p:spPr>
          <a:xfrm>
            <a:off x="5394960" y="2240280"/>
            <a:ext cx="333756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  Interpretación</a:t>
            </a:r>
            <a:endParaRPr sz="1100" b="0" i="0" u="none" strike="noStrike" cap="none">
              <a:solidFill>
                <a:schemeClr val="dk1"/>
              </a:solidFill>
              <a:latin typeface="Calibri"/>
              <a:ea typeface="Calibri"/>
              <a:cs typeface="Calibri"/>
              <a:sym typeface="Calibri"/>
            </a:endParaRPr>
          </a:p>
        </p:txBody>
      </p:sp>
      <p:sp>
        <p:nvSpPr>
          <p:cNvPr id="329" name="Google Shape;329;p10"/>
          <p:cNvSpPr/>
          <p:nvPr/>
        </p:nvSpPr>
        <p:spPr>
          <a:xfrm>
            <a:off x="5394960" y="2560320"/>
            <a:ext cx="3337560" cy="224028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333333"/>
              </a:buClr>
              <a:buSzPts val="950"/>
              <a:buFont typeface="Calibri"/>
              <a:buChar char="•"/>
            </a:pPr>
            <a:r>
              <a:rPr lang="en-US" sz="950" b="0" i="0" u="none" strike="noStrike" cap="none">
                <a:solidFill>
                  <a:srgbClr val="333333"/>
                </a:solidFill>
                <a:latin typeface="Calibri"/>
                <a:ea typeface="Calibri"/>
                <a:cs typeface="Calibri"/>
                <a:sym typeface="Calibri"/>
              </a:rPr>
              <a:t>R²=0.6383 es un resultado aceptable para una primera versión del modelo</a:t>
            </a:r>
            <a:endParaRPr sz="9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00"/>
              </a:spcBef>
              <a:spcAft>
                <a:spcPts val="0"/>
              </a:spcAft>
              <a:buClr>
                <a:srgbClr val="333333"/>
              </a:buClr>
              <a:buSzPts val="950"/>
              <a:buFont typeface="Calibri"/>
              <a:buChar char="•"/>
            </a:pPr>
            <a:r>
              <a:rPr lang="en-US" sz="950" b="0" i="0" u="none" strike="noStrike" cap="none">
                <a:solidFill>
                  <a:srgbClr val="333333"/>
                </a:solidFill>
                <a:latin typeface="Calibri"/>
                <a:ea typeface="Calibri"/>
                <a:cs typeface="Calibri"/>
                <a:sym typeface="Calibri"/>
              </a:rPr>
              <a:t>El scatter muestra que para ventas medias el modelo predice bien, pero pierde precisión en los extremos</a:t>
            </a:r>
            <a:endParaRPr sz="9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00"/>
              </a:spcBef>
              <a:spcAft>
                <a:spcPts val="0"/>
              </a:spcAft>
              <a:buClr>
                <a:srgbClr val="333333"/>
              </a:buClr>
              <a:buSzPts val="950"/>
              <a:buFont typeface="Calibri"/>
              <a:buChar char="•"/>
            </a:pPr>
            <a:r>
              <a:rPr lang="en-US" sz="950" b="0" i="0" u="none" strike="noStrike" cap="none">
                <a:solidFill>
                  <a:srgbClr val="333333"/>
                </a:solidFill>
                <a:latin typeface="Calibri"/>
                <a:ea typeface="Calibri"/>
                <a:cs typeface="Calibri"/>
                <a:sym typeface="Calibri"/>
              </a:rPr>
              <a:t>El error de $120K sobre una venta media de $555K representa un ~20%, lo que puede mejorar con otro algoritmo</a:t>
            </a:r>
            <a:endParaRPr sz="950" b="0" i="0" u="none" strike="noStrike" cap="none">
              <a:solidFill>
                <a:schemeClr val="dk1"/>
              </a:solidFill>
              <a:latin typeface="Calibri"/>
              <a:ea typeface="Calibri"/>
              <a:cs typeface="Calibri"/>
              <a:sym typeface="Calibri"/>
            </a:endParaRPr>
          </a:p>
          <a:p>
            <a:pPr marL="342900" marR="0" lvl="0" indent="-342900" algn="l" rtl="0">
              <a:lnSpc>
                <a:spcPct val="100000"/>
              </a:lnSpc>
              <a:spcBef>
                <a:spcPts val="600"/>
              </a:spcBef>
              <a:spcAft>
                <a:spcPts val="0"/>
              </a:spcAft>
              <a:buClr>
                <a:srgbClr val="333333"/>
              </a:buClr>
              <a:buSzPts val="950"/>
              <a:buFont typeface="Calibri"/>
              <a:buChar char="•"/>
            </a:pPr>
            <a:r>
              <a:rPr lang="en-US" sz="950" b="0" i="0" u="none" strike="noStrike" cap="none">
                <a:solidFill>
                  <a:srgbClr val="333333"/>
                </a:solidFill>
                <a:latin typeface="Calibri"/>
                <a:ea typeface="Calibri"/>
                <a:cs typeface="Calibri"/>
                <a:sym typeface="Calibri"/>
              </a:rPr>
              <a:t>KNN es sensible al escalado: sin StandardScaler el performance caería drásticamente</a:t>
            </a:r>
            <a:endParaRPr sz="950" b="0" i="0" u="none" strike="noStrike" cap="none">
              <a:solidFill>
                <a:schemeClr val="dk1"/>
              </a:solidFill>
              <a:latin typeface="Calibri"/>
              <a:ea typeface="Calibri"/>
              <a:cs typeface="Calibri"/>
              <a:sym typeface="Calibri"/>
            </a:endParaRPr>
          </a:p>
        </p:txBody>
      </p:sp>
      <p:sp>
        <p:nvSpPr>
          <p:cNvPr id="330" name="Google Shape;330;p10"/>
          <p:cNvSpPr/>
          <p:nvPr/>
        </p:nvSpPr>
        <p:spPr>
          <a:xfrm>
            <a:off x="320040" y="4846320"/>
            <a:ext cx="8503920" cy="228600"/>
          </a:xfrm>
          <a:prstGeom prst="rect">
            <a:avLst/>
          </a:prstGeom>
          <a:solidFill>
            <a:srgbClr val="FFF3E0"/>
          </a:solidFill>
          <a:ln w="10150" cap="flat" cmpd="sng">
            <a:solidFill>
              <a:srgbClr val="FFB3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1" name="Google Shape;331;p10"/>
          <p:cNvSpPr/>
          <p:nvPr/>
        </p:nvSpPr>
        <p:spPr>
          <a:xfrm>
            <a:off x="411480" y="4855464"/>
            <a:ext cx="8321040" cy="20116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B5800"/>
              </a:buClr>
              <a:buSzPts val="900"/>
              <a:buFont typeface="Calibri"/>
              <a:buNone/>
            </a:pPr>
            <a:r>
              <a:rPr lang="en-US" sz="900" b="0" i="0" u="none" strike="noStrike" cap="none">
                <a:solidFill>
                  <a:srgbClr val="7B5800"/>
                </a:solidFill>
                <a:latin typeface="Calibri"/>
                <a:ea typeface="Calibri"/>
                <a:cs typeface="Calibri"/>
                <a:sym typeface="Calibri"/>
              </a:rPr>
              <a:t>⚡  Modelo baseline funcional, pero con margen de mejora. Se probará Random Forest para incrementar la precisión.</a:t>
            </a:r>
            <a:endParaRPr sz="900" b="0" i="0" u="none" strike="noStrike" cap="none">
              <a:solidFill>
                <a:schemeClr val="dk1"/>
              </a:solidFill>
              <a:latin typeface="Calibri"/>
              <a:ea typeface="Calibri"/>
              <a:cs typeface="Calibri"/>
              <a:sym typeface="Calibri"/>
            </a:endParaRPr>
          </a:p>
        </p:txBody>
      </p:sp>
      <p:pic>
        <p:nvPicPr>
          <p:cNvPr id="332" name="Google Shape;332;p10"/>
          <p:cNvPicPr preferRelativeResize="0"/>
          <p:nvPr/>
        </p:nvPicPr>
        <p:blipFill rotWithShape="1">
          <a:blip r:embed="rId3">
            <a:alphaModFix/>
          </a:blip>
          <a:srcRect/>
          <a:stretch/>
        </p:blipFill>
        <p:spPr>
          <a:xfrm>
            <a:off x="656200" y="2267713"/>
            <a:ext cx="3337574" cy="24926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337"/>
        <p:cNvGrpSpPr/>
        <p:nvPr/>
      </p:nvGrpSpPr>
      <p:grpSpPr>
        <a:xfrm>
          <a:off x="0" y="0"/>
          <a:ext cx="0" cy="0"/>
          <a:chOff x="0" y="0"/>
          <a:chExt cx="0" cy="0"/>
        </a:xfrm>
      </p:grpSpPr>
      <p:sp>
        <p:nvSpPr>
          <p:cNvPr id="338" name="Google Shape;338;p11"/>
          <p:cNvSpPr/>
          <p:nvPr/>
        </p:nvSpPr>
        <p:spPr>
          <a:xfrm>
            <a:off x="0" y="0"/>
            <a:ext cx="9144000" cy="77724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9" name="Google Shape;339;p11"/>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RANDOM FOREST — PROCESO Y CONFIGURACIÓN</a:t>
            </a:r>
            <a:endParaRPr sz="2200" b="0" i="0" u="none" strike="noStrike" cap="none">
              <a:solidFill>
                <a:schemeClr val="dk1"/>
              </a:solidFill>
              <a:latin typeface="Calibri"/>
              <a:ea typeface="Calibri"/>
              <a:cs typeface="Calibri"/>
              <a:sym typeface="Calibri"/>
            </a:endParaRPr>
          </a:p>
        </p:txBody>
      </p:sp>
      <p:sp>
        <p:nvSpPr>
          <p:cNvPr id="340" name="Google Shape;340;p11"/>
          <p:cNvSpPr/>
          <p:nvPr/>
        </p:nvSpPr>
        <p:spPr>
          <a:xfrm>
            <a:off x="320040" y="960120"/>
            <a:ext cx="850392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300"/>
              <a:buFont typeface="Calibri"/>
              <a:buNone/>
            </a:pPr>
            <a:r>
              <a:rPr lang="en-US" sz="1300" b="1" i="0" u="none" strike="noStrike" cap="none">
                <a:solidFill>
                  <a:srgbClr val="0D1B4B"/>
                </a:solidFill>
                <a:latin typeface="Calibri"/>
                <a:ea typeface="Calibri"/>
                <a:cs typeface="Calibri"/>
                <a:sym typeface="Calibri"/>
              </a:rPr>
              <a:t>¿Cómo funciona Random Forest?</a:t>
            </a:r>
            <a:endParaRPr sz="1300" b="0" i="0" u="none" strike="noStrike" cap="none">
              <a:solidFill>
                <a:schemeClr val="dk1"/>
              </a:solidFill>
              <a:latin typeface="Calibri"/>
              <a:ea typeface="Calibri"/>
              <a:cs typeface="Calibri"/>
              <a:sym typeface="Calibri"/>
            </a:endParaRPr>
          </a:p>
        </p:txBody>
      </p:sp>
      <p:sp>
        <p:nvSpPr>
          <p:cNvPr id="341" name="Google Shape;341;p11"/>
          <p:cNvSpPr/>
          <p:nvPr/>
        </p:nvSpPr>
        <p:spPr>
          <a:xfrm>
            <a:off x="320040" y="1353312"/>
            <a:ext cx="2697480" cy="1371600"/>
          </a:xfrm>
          <a:prstGeom prst="rect">
            <a:avLst/>
          </a:prstGeom>
          <a:solidFill>
            <a:srgbClr val="FFFFFF"/>
          </a:solidFill>
          <a:ln>
            <a:noFill/>
          </a:ln>
          <a:effectLst>
            <a:outerShdw blurRad="762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11"/>
          <p:cNvSpPr/>
          <p:nvPr/>
        </p:nvSpPr>
        <p:spPr>
          <a:xfrm>
            <a:off x="320040" y="1353312"/>
            <a:ext cx="2697480" cy="54864"/>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3" name="Google Shape;343;p11"/>
          <p:cNvSpPr/>
          <p:nvPr/>
        </p:nvSpPr>
        <p:spPr>
          <a:xfrm>
            <a:off x="411480" y="1435608"/>
            <a:ext cx="2514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  100 Árboles</a:t>
            </a:r>
            <a:endParaRPr sz="1100" b="0" i="0" u="none" strike="noStrike" cap="none">
              <a:solidFill>
                <a:schemeClr val="dk1"/>
              </a:solidFill>
              <a:latin typeface="Calibri"/>
              <a:ea typeface="Calibri"/>
              <a:cs typeface="Calibri"/>
              <a:sym typeface="Calibri"/>
            </a:endParaRPr>
          </a:p>
        </p:txBody>
      </p:sp>
      <p:sp>
        <p:nvSpPr>
          <p:cNvPr id="344" name="Google Shape;344;p11"/>
          <p:cNvSpPr/>
          <p:nvPr/>
        </p:nvSpPr>
        <p:spPr>
          <a:xfrm>
            <a:off x="411480" y="1792224"/>
            <a:ext cx="2514600" cy="8961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50"/>
              <a:buFont typeface="Calibri"/>
              <a:buNone/>
            </a:pPr>
            <a:r>
              <a:rPr lang="en-US" sz="950" b="0" i="0" u="none" strike="noStrike" cap="none">
                <a:solidFill>
                  <a:srgbClr val="444444"/>
                </a:solidFill>
                <a:latin typeface="Calibri"/>
                <a:ea typeface="Calibri"/>
                <a:cs typeface="Calibri"/>
                <a:sym typeface="Calibri"/>
              </a:rPr>
              <a:t>Entrena 100 árboles de decisión en paralelo sobre subconjuntos aleatorios de datos (bagging)</a:t>
            </a:r>
            <a:endParaRPr sz="950" b="0" i="0" u="none" strike="noStrike" cap="none">
              <a:solidFill>
                <a:schemeClr val="dk1"/>
              </a:solidFill>
              <a:latin typeface="Calibri"/>
              <a:ea typeface="Calibri"/>
              <a:cs typeface="Calibri"/>
              <a:sym typeface="Calibri"/>
            </a:endParaRPr>
          </a:p>
        </p:txBody>
      </p:sp>
      <p:sp>
        <p:nvSpPr>
          <p:cNvPr id="345" name="Google Shape;345;p11"/>
          <p:cNvSpPr/>
          <p:nvPr/>
        </p:nvSpPr>
        <p:spPr>
          <a:xfrm>
            <a:off x="3264408" y="1353312"/>
            <a:ext cx="2697480" cy="1371600"/>
          </a:xfrm>
          <a:prstGeom prst="rect">
            <a:avLst/>
          </a:prstGeom>
          <a:solidFill>
            <a:srgbClr val="FFFFFF"/>
          </a:solidFill>
          <a:ln>
            <a:noFill/>
          </a:ln>
          <a:effectLst>
            <a:outerShdw blurRad="762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6" name="Google Shape;346;p11"/>
          <p:cNvSpPr/>
          <p:nvPr/>
        </p:nvSpPr>
        <p:spPr>
          <a:xfrm>
            <a:off x="3264408" y="1353312"/>
            <a:ext cx="2697480" cy="54864"/>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7" name="Google Shape;347;p11"/>
          <p:cNvSpPr/>
          <p:nvPr/>
        </p:nvSpPr>
        <p:spPr>
          <a:xfrm>
            <a:off x="3355848" y="1435608"/>
            <a:ext cx="2514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  Feature Sampling</a:t>
            </a:r>
            <a:endParaRPr sz="1100" b="0" i="0" u="none" strike="noStrike" cap="none">
              <a:solidFill>
                <a:schemeClr val="dk1"/>
              </a:solidFill>
              <a:latin typeface="Calibri"/>
              <a:ea typeface="Calibri"/>
              <a:cs typeface="Calibri"/>
              <a:sym typeface="Calibri"/>
            </a:endParaRPr>
          </a:p>
        </p:txBody>
      </p:sp>
      <p:sp>
        <p:nvSpPr>
          <p:cNvPr id="348" name="Google Shape;348;p11"/>
          <p:cNvSpPr/>
          <p:nvPr/>
        </p:nvSpPr>
        <p:spPr>
          <a:xfrm>
            <a:off x="3355848" y="1792224"/>
            <a:ext cx="2514600" cy="8961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50"/>
              <a:buFont typeface="Calibri"/>
              <a:buNone/>
            </a:pPr>
            <a:r>
              <a:rPr lang="en-US" sz="950" b="0" i="0" u="none" strike="noStrike" cap="none">
                <a:solidFill>
                  <a:srgbClr val="444444"/>
                </a:solidFill>
                <a:latin typeface="Calibri"/>
                <a:ea typeface="Calibri"/>
                <a:cs typeface="Calibri"/>
                <a:sym typeface="Calibri"/>
              </a:rPr>
              <a:t>Cada árbol usa un subconjunto aleatorio de features, evitando correlación entre árboles</a:t>
            </a:r>
            <a:endParaRPr sz="950" b="0" i="0" u="none" strike="noStrike" cap="none">
              <a:solidFill>
                <a:schemeClr val="dk1"/>
              </a:solidFill>
              <a:latin typeface="Calibri"/>
              <a:ea typeface="Calibri"/>
              <a:cs typeface="Calibri"/>
              <a:sym typeface="Calibri"/>
            </a:endParaRPr>
          </a:p>
        </p:txBody>
      </p:sp>
      <p:sp>
        <p:nvSpPr>
          <p:cNvPr id="349" name="Google Shape;349;p11"/>
          <p:cNvSpPr/>
          <p:nvPr/>
        </p:nvSpPr>
        <p:spPr>
          <a:xfrm>
            <a:off x="6208776" y="1353312"/>
            <a:ext cx="2697480" cy="1371600"/>
          </a:xfrm>
          <a:prstGeom prst="rect">
            <a:avLst/>
          </a:prstGeom>
          <a:solidFill>
            <a:srgbClr val="FFFFFF"/>
          </a:solidFill>
          <a:ln>
            <a:noFill/>
          </a:ln>
          <a:effectLst>
            <a:outerShdw blurRad="76200" dist="127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11"/>
          <p:cNvSpPr/>
          <p:nvPr/>
        </p:nvSpPr>
        <p:spPr>
          <a:xfrm>
            <a:off x="6208776" y="1353312"/>
            <a:ext cx="2697480" cy="54864"/>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1" name="Google Shape;351;p11"/>
          <p:cNvSpPr/>
          <p:nvPr/>
        </p:nvSpPr>
        <p:spPr>
          <a:xfrm>
            <a:off x="6300216" y="1435608"/>
            <a:ext cx="2514600" cy="3200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  Predicción Final</a:t>
            </a:r>
            <a:endParaRPr sz="1100" b="0" i="0" u="none" strike="noStrike" cap="none">
              <a:solidFill>
                <a:schemeClr val="dk1"/>
              </a:solidFill>
              <a:latin typeface="Calibri"/>
              <a:ea typeface="Calibri"/>
              <a:cs typeface="Calibri"/>
              <a:sym typeface="Calibri"/>
            </a:endParaRPr>
          </a:p>
        </p:txBody>
      </p:sp>
      <p:sp>
        <p:nvSpPr>
          <p:cNvPr id="352" name="Google Shape;352;p11"/>
          <p:cNvSpPr/>
          <p:nvPr/>
        </p:nvSpPr>
        <p:spPr>
          <a:xfrm>
            <a:off x="6300216" y="1792224"/>
            <a:ext cx="2514600" cy="896112"/>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444444"/>
              </a:buClr>
              <a:buSzPts val="950"/>
              <a:buFont typeface="Calibri"/>
              <a:buNone/>
            </a:pPr>
            <a:r>
              <a:rPr lang="en-US" sz="950" b="0" i="0" u="none" strike="noStrike" cap="none">
                <a:solidFill>
                  <a:srgbClr val="444444"/>
                </a:solidFill>
                <a:latin typeface="Calibri"/>
                <a:ea typeface="Calibri"/>
                <a:cs typeface="Calibri"/>
                <a:sym typeface="Calibri"/>
              </a:rPr>
              <a:t>Promedia los resultados de todos los árboles para obtener la predicción final</a:t>
            </a:r>
            <a:endParaRPr sz="950" b="0" i="0" u="none" strike="noStrike" cap="none">
              <a:solidFill>
                <a:schemeClr val="dk1"/>
              </a:solidFill>
              <a:latin typeface="Calibri"/>
              <a:ea typeface="Calibri"/>
              <a:cs typeface="Calibri"/>
              <a:sym typeface="Calibri"/>
            </a:endParaRPr>
          </a:p>
        </p:txBody>
      </p:sp>
      <p:sp>
        <p:nvSpPr>
          <p:cNvPr id="353" name="Google Shape;353;p11"/>
          <p:cNvSpPr/>
          <p:nvPr/>
        </p:nvSpPr>
        <p:spPr>
          <a:xfrm>
            <a:off x="152399" y="2870800"/>
            <a:ext cx="2011800" cy="2925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200"/>
              <a:buFont typeface="Calibri"/>
              <a:buNone/>
            </a:pPr>
            <a:r>
              <a:rPr lang="en-US" sz="1200" b="1" i="0" u="none" strike="noStrike" cap="none">
                <a:solidFill>
                  <a:srgbClr val="0D1B4B"/>
                </a:solidFill>
                <a:latin typeface="Calibri"/>
                <a:ea typeface="Calibri"/>
                <a:cs typeface="Calibri"/>
                <a:sym typeface="Calibri"/>
              </a:rPr>
              <a:t>Configuración del Modelo</a:t>
            </a:r>
            <a:endParaRPr sz="1200" b="0" i="0" u="none" strike="noStrike" cap="none">
              <a:solidFill>
                <a:schemeClr val="dk1"/>
              </a:solidFill>
              <a:latin typeface="Calibri"/>
              <a:ea typeface="Calibri"/>
              <a:cs typeface="Calibri"/>
              <a:sym typeface="Calibri"/>
            </a:endParaRPr>
          </a:p>
        </p:txBody>
      </p:sp>
      <p:sp>
        <p:nvSpPr>
          <p:cNvPr id="354" name="Google Shape;354;p11"/>
          <p:cNvSpPr/>
          <p:nvPr/>
        </p:nvSpPr>
        <p:spPr>
          <a:xfrm>
            <a:off x="320040" y="4968245"/>
            <a:ext cx="8503800" cy="228600"/>
          </a:xfrm>
          <a:prstGeom prst="rect">
            <a:avLst/>
          </a:prstGeom>
          <a:solidFill>
            <a:srgbClr val="E8F5E9"/>
          </a:solidFill>
          <a:ln w="1015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5" name="Google Shape;355;p11"/>
          <p:cNvSpPr/>
          <p:nvPr/>
        </p:nvSpPr>
        <p:spPr>
          <a:xfrm>
            <a:off x="411480" y="4968239"/>
            <a:ext cx="8321100" cy="201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5E20"/>
              </a:buClr>
              <a:buSzPts val="900"/>
              <a:buFont typeface="Calibri"/>
              <a:buNone/>
            </a:pPr>
            <a:r>
              <a:rPr lang="en-US" sz="900" b="0" i="0" u="none" strike="noStrike" cap="none">
                <a:solidFill>
                  <a:srgbClr val="1B5E20"/>
                </a:solidFill>
                <a:latin typeface="Calibri"/>
                <a:ea typeface="Calibri"/>
                <a:cs typeface="Calibri"/>
                <a:sym typeface="Calibri"/>
              </a:rPr>
              <a:t>💡  Marketing representa el 64.4% de la importancia total. Farmacia como rubro (0.074)  y Distancia al Ancla son los siguientes factores clave.</a:t>
            </a:r>
            <a:endParaRPr sz="900" b="0" i="0" u="none" strike="noStrike" cap="none">
              <a:solidFill>
                <a:schemeClr val="dk1"/>
              </a:solidFill>
              <a:latin typeface="Calibri"/>
              <a:ea typeface="Calibri"/>
              <a:cs typeface="Calibri"/>
              <a:sym typeface="Calibri"/>
            </a:endParaRPr>
          </a:p>
        </p:txBody>
      </p:sp>
      <p:pic>
        <p:nvPicPr>
          <p:cNvPr id="356" name="Google Shape;356;p11"/>
          <p:cNvPicPr preferRelativeResize="0"/>
          <p:nvPr/>
        </p:nvPicPr>
        <p:blipFill rotWithShape="1">
          <a:blip r:embed="rId3">
            <a:alphaModFix/>
          </a:blip>
          <a:srcRect/>
          <a:stretch/>
        </p:blipFill>
        <p:spPr>
          <a:xfrm>
            <a:off x="152400" y="3163301"/>
            <a:ext cx="2521110" cy="1092125"/>
          </a:xfrm>
          <a:prstGeom prst="rect">
            <a:avLst/>
          </a:prstGeom>
          <a:noFill/>
          <a:ln>
            <a:noFill/>
          </a:ln>
        </p:spPr>
      </p:pic>
      <p:sp>
        <p:nvSpPr>
          <p:cNvPr id="357" name="Google Shape;357;p11"/>
          <p:cNvSpPr/>
          <p:nvPr/>
        </p:nvSpPr>
        <p:spPr>
          <a:xfrm>
            <a:off x="3355851" y="2810249"/>
            <a:ext cx="320880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200"/>
              <a:buFont typeface="Calibri"/>
              <a:buNone/>
            </a:pPr>
            <a:r>
              <a:rPr lang="en-US" sz="1200" b="1" i="0" u="none" strike="noStrike" cap="none">
                <a:solidFill>
                  <a:srgbClr val="0D1B4B"/>
                </a:solidFill>
                <a:latin typeface="Calibri"/>
                <a:ea typeface="Calibri"/>
                <a:cs typeface="Calibri"/>
                <a:sym typeface="Calibri"/>
              </a:rPr>
              <a:t>Importancia por Rubro </a:t>
            </a:r>
            <a:endParaRPr sz="1200" b="0" i="0" u="none" strike="noStrike" cap="none">
              <a:solidFill>
                <a:schemeClr val="dk1"/>
              </a:solidFill>
              <a:latin typeface="Calibri"/>
              <a:ea typeface="Calibri"/>
              <a:cs typeface="Calibri"/>
              <a:sym typeface="Calibri"/>
            </a:endParaRPr>
          </a:p>
        </p:txBody>
      </p:sp>
      <p:pic>
        <p:nvPicPr>
          <p:cNvPr id="358" name="Google Shape;358;p11"/>
          <p:cNvPicPr preferRelativeResize="0"/>
          <p:nvPr/>
        </p:nvPicPr>
        <p:blipFill rotWithShape="1">
          <a:blip r:embed="rId4">
            <a:alphaModFix/>
          </a:blip>
          <a:srcRect/>
          <a:stretch/>
        </p:blipFill>
        <p:spPr>
          <a:xfrm>
            <a:off x="2821781" y="3036630"/>
            <a:ext cx="2758858" cy="1746246"/>
          </a:xfrm>
          <a:prstGeom prst="rect">
            <a:avLst/>
          </a:prstGeom>
          <a:noFill/>
          <a:ln>
            <a:noFill/>
          </a:ln>
        </p:spPr>
      </p:pic>
      <p:grpSp>
        <p:nvGrpSpPr>
          <p:cNvPr id="359" name="Google Shape;359;p11"/>
          <p:cNvGrpSpPr/>
          <p:nvPr/>
        </p:nvGrpSpPr>
        <p:grpSpPr>
          <a:xfrm>
            <a:off x="5707856" y="2910274"/>
            <a:ext cx="3144823" cy="1965283"/>
            <a:chOff x="5952840" y="3136113"/>
            <a:chExt cx="2867259" cy="1710500"/>
          </a:xfrm>
        </p:grpSpPr>
        <p:pic>
          <p:nvPicPr>
            <p:cNvPr id="360" name="Google Shape;360;p11"/>
            <p:cNvPicPr preferRelativeResize="0"/>
            <p:nvPr/>
          </p:nvPicPr>
          <p:blipFill rotWithShape="1">
            <a:blip r:embed="rId5">
              <a:alphaModFix/>
            </a:blip>
            <a:srcRect/>
            <a:stretch/>
          </p:blipFill>
          <p:spPr>
            <a:xfrm>
              <a:off x="5952840" y="3136113"/>
              <a:ext cx="2867259" cy="1710500"/>
            </a:xfrm>
            <a:prstGeom prst="rect">
              <a:avLst/>
            </a:prstGeom>
            <a:noFill/>
            <a:ln>
              <a:noFill/>
            </a:ln>
          </p:spPr>
        </p:pic>
        <p:pic>
          <p:nvPicPr>
            <p:cNvPr id="361" name="Google Shape;361;p11"/>
            <p:cNvPicPr preferRelativeResize="0"/>
            <p:nvPr/>
          </p:nvPicPr>
          <p:blipFill rotWithShape="1">
            <a:blip r:embed="rId6">
              <a:alphaModFix/>
            </a:blip>
            <a:srcRect l="67668" t="6578" r="1301" b="73679"/>
            <a:stretch/>
          </p:blipFill>
          <p:spPr>
            <a:xfrm>
              <a:off x="7801200" y="3246088"/>
              <a:ext cx="963800" cy="365850"/>
            </a:xfrm>
            <a:prstGeom prst="rect">
              <a:avLst/>
            </a:prstGeom>
            <a:noFill/>
            <a:ln>
              <a:noFill/>
            </a:ln>
          </p:spPr>
        </p:pic>
      </p:grpSp>
      <p:sp>
        <p:nvSpPr>
          <p:cNvPr id="362" name="Google Shape;362;p11"/>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367"/>
        <p:cNvGrpSpPr/>
        <p:nvPr/>
      </p:nvGrpSpPr>
      <p:grpSpPr>
        <a:xfrm>
          <a:off x="0" y="0"/>
          <a:ext cx="0" cy="0"/>
          <a:chOff x="0" y="0"/>
          <a:chExt cx="0" cy="0"/>
        </a:xfrm>
      </p:grpSpPr>
      <p:sp>
        <p:nvSpPr>
          <p:cNvPr id="368" name="Google Shape;368;p12"/>
          <p:cNvSpPr/>
          <p:nvPr/>
        </p:nvSpPr>
        <p:spPr>
          <a:xfrm>
            <a:off x="0" y="0"/>
            <a:ext cx="9144000" cy="77724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69" name="Google Shape;369;p12"/>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RANDOM FOREST — RESULTADOS</a:t>
            </a:r>
            <a:endParaRPr sz="2200" b="0" i="0" u="none" strike="noStrike" cap="none">
              <a:solidFill>
                <a:schemeClr val="dk1"/>
              </a:solidFill>
              <a:latin typeface="Calibri"/>
              <a:ea typeface="Calibri"/>
              <a:cs typeface="Calibri"/>
              <a:sym typeface="Calibri"/>
            </a:endParaRPr>
          </a:p>
        </p:txBody>
      </p:sp>
      <p:sp>
        <p:nvSpPr>
          <p:cNvPr id="370" name="Google Shape;370;p12"/>
          <p:cNvSpPr/>
          <p:nvPr/>
        </p:nvSpPr>
        <p:spPr>
          <a:xfrm>
            <a:off x="320040" y="960120"/>
            <a:ext cx="1920240" cy="100584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1" name="Google Shape;371;p12"/>
          <p:cNvSpPr/>
          <p:nvPr/>
        </p:nvSpPr>
        <p:spPr>
          <a:xfrm>
            <a:off x="320040" y="960120"/>
            <a:ext cx="1920240" cy="64008"/>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2" name="Google Shape;372;p12"/>
          <p:cNvSpPr/>
          <p:nvPr/>
        </p:nvSpPr>
        <p:spPr>
          <a:xfrm>
            <a:off x="320040" y="1033272"/>
            <a:ext cx="19202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7D32"/>
              </a:buClr>
              <a:buSzPts val="2400"/>
              <a:buFont typeface="Calibri"/>
              <a:buNone/>
            </a:pPr>
            <a:r>
              <a:rPr lang="en-US" sz="2400" b="1" i="0" u="none" strike="noStrike" cap="none">
                <a:solidFill>
                  <a:srgbClr val="2E7D32"/>
                </a:solidFill>
                <a:latin typeface="Calibri"/>
                <a:ea typeface="Calibri"/>
                <a:cs typeface="Calibri"/>
                <a:sym typeface="Calibri"/>
              </a:rPr>
              <a:t>82.8%</a:t>
            </a:r>
            <a:endParaRPr sz="2400" b="0" i="0" u="none" strike="noStrike" cap="none">
              <a:solidFill>
                <a:schemeClr val="dk1"/>
              </a:solidFill>
              <a:latin typeface="Calibri"/>
              <a:ea typeface="Calibri"/>
              <a:cs typeface="Calibri"/>
              <a:sym typeface="Calibri"/>
            </a:endParaRPr>
          </a:p>
        </p:txBody>
      </p:sp>
      <p:sp>
        <p:nvSpPr>
          <p:cNvPr id="373" name="Google Shape;373;p12"/>
          <p:cNvSpPr/>
          <p:nvPr/>
        </p:nvSpPr>
        <p:spPr>
          <a:xfrm>
            <a:off x="320040" y="1481328"/>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R²</a:t>
            </a:r>
            <a:endParaRPr sz="1000" b="0" i="0" u="none" strike="noStrike" cap="none">
              <a:solidFill>
                <a:schemeClr val="dk1"/>
              </a:solidFill>
              <a:latin typeface="Calibri"/>
              <a:ea typeface="Calibri"/>
              <a:cs typeface="Calibri"/>
              <a:sym typeface="Calibri"/>
            </a:endParaRPr>
          </a:p>
        </p:txBody>
      </p:sp>
      <p:sp>
        <p:nvSpPr>
          <p:cNvPr id="374" name="Google Shape;374;p12"/>
          <p:cNvSpPr/>
          <p:nvPr/>
        </p:nvSpPr>
        <p:spPr>
          <a:xfrm>
            <a:off x="320040" y="1682496"/>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Excelente — R² &gt; 80%</a:t>
            </a:r>
            <a:endParaRPr sz="800" b="0" i="0" u="none" strike="noStrike" cap="none">
              <a:solidFill>
                <a:schemeClr val="dk1"/>
              </a:solidFill>
              <a:latin typeface="Calibri"/>
              <a:ea typeface="Calibri"/>
              <a:cs typeface="Calibri"/>
              <a:sym typeface="Calibri"/>
            </a:endParaRPr>
          </a:p>
        </p:txBody>
      </p:sp>
      <p:sp>
        <p:nvSpPr>
          <p:cNvPr id="375" name="Google Shape;375;p12"/>
          <p:cNvSpPr/>
          <p:nvPr/>
        </p:nvSpPr>
        <p:spPr>
          <a:xfrm>
            <a:off x="2496312" y="960120"/>
            <a:ext cx="1920240" cy="100584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6" name="Google Shape;376;p12"/>
          <p:cNvSpPr/>
          <p:nvPr/>
        </p:nvSpPr>
        <p:spPr>
          <a:xfrm>
            <a:off x="2496312" y="960120"/>
            <a:ext cx="1920240" cy="64008"/>
          </a:xfrm>
          <a:prstGeom prst="rect">
            <a:avLst/>
          </a:prstGeom>
          <a:solidFill>
            <a:srgbClr val="1976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77" name="Google Shape;377;p12"/>
          <p:cNvSpPr/>
          <p:nvPr/>
        </p:nvSpPr>
        <p:spPr>
          <a:xfrm>
            <a:off x="2496312" y="1033272"/>
            <a:ext cx="19202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1976D2"/>
              </a:buClr>
              <a:buSzPts val="2400"/>
              <a:buFont typeface="Calibri"/>
              <a:buNone/>
            </a:pPr>
            <a:r>
              <a:rPr lang="en-US" sz="2400" b="1" i="0" u="none" strike="noStrike" cap="none">
                <a:solidFill>
                  <a:srgbClr val="1976D2"/>
                </a:solidFill>
                <a:latin typeface="Calibri"/>
                <a:ea typeface="Calibri"/>
                <a:cs typeface="Calibri"/>
                <a:sym typeface="Calibri"/>
              </a:rPr>
              <a:t>$79,586</a:t>
            </a:r>
            <a:endParaRPr sz="2400" b="0" i="0" u="none" strike="noStrike" cap="none">
              <a:solidFill>
                <a:schemeClr val="dk1"/>
              </a:solidFill>
              <a:latin typeface="Calibri"/>
              <a:ea typeface="Calibri"/>
              <a:cs typeface="Calibri"/>
              <a:sym typeface="Calibri"/>
            </a:endParaRPr>
          </a:p>
        </p:txBody>
      </p:sp>
      <p:sp>
        <p:nvSpPr>
          <p:cNvPr id="378" name="Google Shape;378;p12"/>
          <p:cNvSpPr/>
          <p:nvPr/>
        </p:nvSpPr>
        <p:spPr>
          <a:xfrm>
            <a:off x="2496312" y="1481328"/>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MAE</a:t>
            </a:r>
            <a:endParaRPr sz="1000" b="0" i="0" u="none" strike="noStrike" cap="none">
              <a:solidFill>
                <a:schemeClr val="dk1"/>
              </a:solidFill>
              <a:latin typeface="Calibri"/>
              <a:ea typeface="Calibri"/>
              <a:cs typeface="Calibri"/>
              <a:sym typeface="Calibri"/>
            </a:endParaRPr>
          </a:p>
        </p:txBody>
      </p:sp>
      <p:sp>
        <p:nvSpPr>
          <p:cNvPr id="379" name="Google Shape;379;p12"/>
          <p:cNvSpPr/>
          <p:nvPr/>
        </p:nvSpPr>
        <p:spPr>
          <a:xfrm>
            <a:off x="2496312" y="1682496"/>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Error medio reducido</a:t>
            </a:r>
            <a:endParaRPr sz="800" b="0" i="0" u="none" strike="noStrike" cap="none">
              <a:solidFill>
                <a:schemeClr val="dk1"/>
              </a:solidFill>
              <a:latin typeface="Calibri"/>
              <a:ea typeface="Calibri"/>
              <a:cs typeface="Calibri"/>
              <a:sym typeface="Calibri"/>
            </a:endParaRPr>
          </a:p>
        </p:txBody>
      </p:sp>
      <p:sp>
        <p:nvSpPr>
          <p:cNvPr id="380" name="Google Shape;380;p12"/>
          <p:cNvSpPr/>
          <p:nvPr/>
        </p:nvSpPr>
        <p:spPr>
          <a:xfrm>
            <a:off x="4672584" y="960120"/>
            <a:ext cx="1920240" cy="100584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1" name="Google Shape;381;p12"/>
          <p:cNvSpPr/>
          <p:nvPr/>
        </p:nvSpPr>
        <p:spPr>
          <a:xfrm>
            <a:off x="4672584" y="960120"/>
            <a:ext cx="1920240" cy="64008"/>
          </a:xfrm>
          <a:prstGeom prst="rect">
            <a:avLst/>
          </a:prstGeom>
          <a:solidFill>
            <a:srgbClr val="6A1B9A"/>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2" name="Google Shape;382;p12"/>
          <p:cNvSpPr/>
          <p:nvPr/>
        </p:nvSpPr>
        <p:spPr>
          <a:xfrm>
            <a:off x="4672584" y="1033272"/>
            <a:ext cx="19202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A1B9A"/>
              </a:buClr>
              <a:buSzPts val="2400"/>
              <a:buFont typeface="Calibri"/>
              <a:buNone/>
            </a:pPr>
            <a:r>
              <a:rPr lang="en-US" sz="2400" b="1" i="0" u="none" strike="noStrike" cap="none">
                <a:solidFill>
                  <a:srgbClr val="6A1B9A"/>
                </a:solidFill>
                <a:latin typeface="Calibri"/>
                <a:ea typeface="Calibri"/>
                <a:cs typeface="Calibri"/>
                <a:sym typeface="Calibri"/>
              </a:rPr>
              <a:t>$104,209</a:t>
            </a:r>
            <a:endParaRPr sz="2400" b="0" i="0" u="none" strike="noStrike" cap="none">
              <a:solidFill>
                <a:schemeClr val="dk1"/>
              </a:solidFill>
              <a:latin typeface="Calibri"/>
              <a:ea typeface="Calibri"/>
              <a:cs typeface="Calibri"/>
              <a:sym typeface="Calibri"/>
            </a:endParaRPr>
          </a:p>
        </p:txBody>
      </p:sp>
      <p:sp>
        <p:nvSpPr>
          <p:cNvPr id="383" name="Google Shape;383;p12"/>
          <p:cNvSpPr/>
          <p:nvPr/>
        </p:nvSpPr>
        <p:spPr>
          <a:xfrm>
            <a:off x="4672584" y="1481328"/>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RMSE</a:t>
            </a:r>
            <a:endParaRPr sz="1000" b="0" i="0" u="none" strike="noStrike" cap="none">
              <a:solidFill>
                <a:schemeClr val="dk1"/>
              </a:solidFill>
              <a:latin typeface="Calibri"/>
              <a:ea typeface="Calibri"/>
              <a:cs typeface="Calibri"/>
              <a:sym typeface="Calibri"/>
            </a:endParaRPr>
          </a:p>
        </p:txBody>
      </p:sp>
      <p:sp>
        <p:nvSpPr>
          <p:cNvPr id="384" name="Google Shape;384;p12"/>
          <p:cNvSpPr/>
          <p:nvPr/>
        </p:nvSpPr>
        <p:spPr>
          <a:xfrm>
            <a:off x="4672584" y="1682496"/>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Mejor que KNN</a:t>
            </a:r>
            <a:endParaRPr sz="800" b="0" i="0" u="none" strike="noStrike" cap="none">
              <a:solidFill>
                <a:schemeClr val="dk1"/>
              </a:solidFill>
              <a:latin typeface="Calibri"/>
              <a:ea typeface="Calibri"/>
              <a:cs typeface="Calibri"/>
              <a:sym typeface="Calibri"/>
            </a:endParaRPr>
          </a:p>
        </p:txBody>
      </p:sp>
      <p:sp>
        <p:nvSpPr>
          <p:cNvPr id="385" name="Google Shape;385;p12"/>
          <p:cNvSpPr/>
          <p:nvPr/>
        </p:nvSpPr>
        <p:spPr>
          <a:xfrm>
            <a:off x="6848856" y="960120"/>
            <a:ext cx="1920240" cy="1005840"/>
          </a:xfrm>
          <a:prstGeom prst="rect">
            <a:avLst/>
          </a:prstGeom>
          <a:solidFill>
            <a:srgbClr val="FFFFFF"/>
          </a:solidFill>
          <a:ln>
            <a:noFill/>
          </a:ln>
          <a:effectLst>
            <a:outerShdw blurRad="101600" dist="25400" dir="8100000" algn="bl" rotWithShape="0">
              <a:srgbClr val="000000">
                <a:alpha val="1215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6" name="Google Shape;386;p12"/>
          <p:cNvSpPr/>
          <p:nvPr/>
        </p:nvSpPr>
        <p:spPr>
          <a:xfrm>
            <a:off x="6848856" y="960120"/>
            <a:ext cx="1920240" cy="64008"/>
          </a:xfrm>
          <a:prstGeom prst="rect">
            <a:avLst/>
          </a:prstGeom>
          <a:solidFill>
            <a:srgbClr val="E651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7" name="Google Shape;387;p12"/>
          <p:cNvSpPr/>
          <p:nvPr/>
        </p:nvSpPr>
        <p:spPr>
          <a:xfrm>
            <a:off x="6848856" y="1033272"/>
            <a:ext cx="1920240" cy="4572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E65100"/>
              </a:buClr>
              <a:buSzPts val="2400"/>
              <a:buFont typeface="Calibri"/>
              <a:buNone/>
            </a:pPr>
            <a:r>
              <a:rPr lang="en-US" sz="2400" b="1" i="0" u="none" strike="noStrike" cap="none">
                <a:solidFill>
                  <a:srgbClr val="E65100"/>
                </a:solidFill>
                <a:latin typeface="Calibri"/>
                <a:ea typeface="Calibri"/>
                <a:cs typeface="Calibri"/>
                <a:sym typeface="Calibri"/>
              </a:rPr>
              <a:t>15.8%</a:t>
            </a:r>
            <a:endParaRPr sz="2400" b="0" i="0" u="none" strike="noStrike" cap="none">
              <a:solidFill>
                <a:schemeClr val="dk1"/>
              </a:solidFill>
              <a:latin typeface="Calibri"/>
              <a:ea typeface="Calibri"/>
              <a:cs typeface="Calibri"/>
              <a:sym typeface="Calibri"/>
            </a:endParaRPr>
          </a:p>
        </p:txBody>
      </p:sp>
      <p:sp>
        <p:nvSpPr>
          <p:cNvPr id="388" name="Google Shape;388;p12"/>
          <p:cNvSpPr/>
          <p:nvPr/>
        </p:nvSpPr>
        <p:spPr>
          <a:xfrm>
            <a:off x="6848856" y="1481328"/>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000"/>
              <a:buFont typeface="Calibri"/>
              <a:buNone/>
            </a:pPr>
            <a:r>
              <a:rPr lang="en-US" sz="1000" b="1" i="0" u="none" strike="noStrike" cap="none">
                <a:solidFill>
                  <a:srgbClr val="0D1B4B"/>
                </a:solidFill>
                <a:latin typeface="Calibri"/>
                <a:ea typeface="Calibri"/>
                <a:cs typeface="Calibri"/>
                <a:sym typeface="Calibri"/>
              </a:rPr>
              <a:t>MAPE</a:t>
            </a:r>
            <a:endParaRPr sz="1000" b="0" i="0" u="none" strike="noStrike" cap="none">
              <a:solidFill>
                <a:schemeClr val="dk1"/>
              </a:solidFill>
              <a:latin typeface="Calibri"/>
              <a:ea typeface="Calibri"/>
              <a:cs typeface="Calibri"/>
              <a:sym typeface="Calibri"/>
            </a:endParaRPr>
          </a:p>
        </p:txBody>
      </p:sp>
      <p:sp>
        <p:nvSpPr>
          <p:cNvPr id="389" name="Google Shape;389;p12"/>
          <p:cNvSpPr/>
          <p:nvPr/>
        </p:nvSpPr>
        <p:spPr>
          <a:xfrm>
            <a:off x="6848856" y="1682496"/>
            <a:ext cx="1920240" cy="20116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4748B"/>
              </a:buClr>
              <a:buSzPts val="800"/>
              <a:buFont typeface="Calibri"/>
              <a:buNone/>
            </a:pPr>
            <a:r>
              <a:rPr lang="en-US" sz="800" b="0" i="0" u="none" strike="noStrike" cap="none">
                <a:solidFill>
                  <a:srgbClr val="64748B"/>
                </a:solidFill>
                <a:latin typeface="Calibri"/>
                <a:ea typeface="Calibri"/>
                <a:cs typeface="Calibri"/>
                <a:sym typeface="Calibri"/>
              </a:rPr>
              <a:t>Error porcentual medio</a:t>
            </a:r>
            <a:endParaRPr sz="800" b="0" i="0" u="none" strike="noStrike" cap="none">
              <a:solidFill>
                <a:schemeClr val="dk1"/>
              </a:solidFill>
              <a:latin typeface="Calibri"/>
              <a:ea typeface="Calibri"/>
              <a:cs typeface="Calibri"/>
              <a:sym typeface="Calibri"/>
            </a:endParaRPr>
          </a:p>
        </p:txBody>
      </p:sp>
      <p:sp>
        <p:nvSpPr>
          <p:cNvPr id="390" name="Google Shape;390;p12"/>
          <p:cNvSpPr/>
          <p:nvPr/>
        </p:nvSpPr>
        <p:spPr>
          <a:xfrm>
            <a:off x="320040" y="2057400"/>
            <a:ext cx="484632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1100"/>
              <a:buFont typeface="Calibri"/>
              <a:buNone/>
            </a:pPr>
            <a:r>
              <a:rPr lang="en-US" sz="1100" b="1" i="0" u="none" strike="noStrike" cap="none">
                <a:solidFill>
                  <a:srgbClr val="2E7D32"/>
                </a:solidFill>
                <a:latin typeface="Calibri"/>
                <a:ea typeface="Calibri"/>
                <a:cs typeface="Calibri"/>
                <a:sym typeface="Calibri"/>
              </a:rPr>
              <a:t>Real vs Predicho — Random Forest</a:t>
            </a:r>
            <a:endParaRPr sz="1100" b="0" i="0" u="none" strike="noStrike" cap="none">
              <a:solidFill>
                <a:schemeClr val="dk1"/>
              </a:solidFill>
              <a:latin typeface="Calibri"/>
              <a:ea typeface="Calibri"/>
              <a:cs typeface="Calibri"/>
              <a:sym typeface="Calibri"/>
            </a:endParaRPr>
          </a:p>
        </p:txBody>
      </p:sp>
      <p:sp>
        <p:nvSpPr>
          <p:cNvPr id="391" name="Google Shape;391;p12"/>
          <p:cNvSpPr/>
          <p:nvPr/>
        </p:nvSpPr>
        <p:spPr>
          <a:xfrm>
            <a:off x="5303520" y="2057400"/>
            <a:ext cx="3520440" cy="2743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Validación Cruzada 5-Fold</a:t>
            </a:r>
            <a:endParaRPr sz="1100" b="0" i="0" u="none" strike="noStrike" cap="none">
              <a:solidFill>
                <a:schemeClr val="dk1"/>
              </a:solidFill>
              <a:latin typeface="Calibri"/>
              <a:ea typeface="Calibri"/>
              <a:cs typeface="Calibri"/>
              <a:sym typeface="Calibri"/>
            </a:endParaRPr>
          </a:p>
        </p:txBody>
      </p:sp>
      <p:sp>
        <p:nvSpPr>
          <p:cNvPr id="392" name="Google Shape;392;p12"/>
          <p:cNvSpPr/>
          <p:nvPr/>
        </p:nvSpPr>
        <p:spPr>
          <a:xfrm>
            <a:off x="5212080" y="4224528"/>
            <a:ext cx="3657600" cy="566928"/>
          </a:xfrm>
          <a:prstGeom prst="rect">
            <a:avLst/>
          </a:prstGeom>
          <a:solidFill>
            <a:srgbClr val="E8F5E9"/>
          </a:solidFill>
          <a:ln w="1015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3" name="Google Shape;393;p12"/>
          <p:cNvSpPr/>
          <p:nvPr/>
        </p:nvSpPr>
        <p:spPr>
          <a:xfrm>
            <a:off x="5285232" y="4251960"/>
            <a:ext cx="3511296"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2E7D32"/>
              </a:buClr>
              <a:buSzPts val="950"/>
              <a:buFont typeface="Calibri"/>
              <a:buNone/>
            </a:pPr>
            <a:r>
              <a:rPr lang="en-US" sz="950" b="1" i="0" u="none" strike="noStrike" cap="none">
                <a:solidFill>
                  <a:srgbClr val="2E7D32"/>
                </a:solidFill>
                <a:latin typeface="Calibri"/>
                <a:ea typeface="Calibri"/>
                <a:cs typeface="Calibri"/>
                <a:sym typeface="Calibri"/>
              </a:rPr>
              <a:t>R² promedio CV: 0.7930 ± 0.0194  </a:t>
            </a:r>
            <a:r>
              <a:rPr lang="en-US" sz="950" b="0" i="0" u="none" strike="noStrike" cap="none">
                <a:solidFill>
                  <a:srgbClr val="333333"/>
                </a:solidFill>
                <a:latin typeface="Calibri"/>
                <a:ea typeface="Calibri"/>
                <a:cs typeface="Calibri"/>
                <a:sym typeface="Calibri"/>
              </a:rPr>
              <a:t>Sin overfitting: CV ≈ Test score (Δ=0.036)</a:t>
            </a:r>
            <a:endParaRPr sz="950" b="0" i="0" u="none" strike="noStrike" cap="none">
              <a:solidFill>
                <a:schemeClr val="dk1"/>
              </a:solidFill>
              <a:latin typeface="Calibri"/>
              <a:ea typeface="Calibri"/>
              <a:cs typeface="Calibri"/>
              <a:sym typeface="Calibri"/>
            </a:endParaRPr>
          </a:p>
        </p:txBody>
      </p:sp>
      <p:sp>
        <p:nvSpPr>
          <p:cNvPr id="394" name="Google Shape;394;p12"/>
          <p:cNvSpPr/>
          <p:nvPr/>
        </p:nvSpPr>
        <p:spPr>
          <a:xfrm>
            <a:off x="320040" y="4828032"/>
            <a:ext cx="8503920" cy="246888"/>
          </a:xfrm>
          <a:prstGeom prst="rect">
            <a:avLst/>
          </a:prstGeom>
          <a:solidFill>
            <a:srgbClr val="E8F5E9"/>
          </a:solidFill>
          <a:ln w="1015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5" name="Google Shape;395;p12"/>
          <p:cNvSpPr/>
          <p:nvPr/>
        </p:nvSpPr>
        <p:spPr>
          <a:xfrm>
            <a:off x="411480" y="4837176"/>
            <a:ext cx="8321040" cy="21945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1B5E20"/>
              </a:buClr>
              <a:buSzPts val="900"/>
              <a:buFont typeface="Calibri"/>
              <a:buNone/>
            </a:pPr>
            <a:r>
              <a:rPr lang="en-US" sz="900" b="0" i="0" u="none" strike="noStrike" cap="none">
                <a:solidFill>
                  <a:srgbClr val="1B5E20"/>
                </a:solidFill>
                <a:latin typeface="Calibri"/>
                <a:ea typeface="Calibri"/>
                <a:cs typeface="Calibri"/>
                <a:sym typeface="Calibri"/>
              </a:rPr>
              <a:t>✅  Modelo estable, sin sobreajuste. Los puntos en el scatter están bien pegados a la línea perfecta, demostrando alta confiabilidad.</a:t>
            </a:r>
            <a:endParaRPr sz="900" b="0" i="0" u="none" strike="noStrike" cap="none">
              <a:solidFill>
                <a:schemeClr val="dk1"/>
              </a:solidFill>
              <a:latin typeface="Calibri"/>
              <a:ea typeface="Calibri"/>
              <a:cs typeface="Calibri"/>
              <a:sym typeface="Calibri"/>
            </a:endParaRPr>
          </a:p>
        </p:txBody>
      </p:sp>
      <p:pic>
        <p:nvPicPr>
          <p:cNvPr id="396" name="Google Shape;396;p12"/>
          <p:cNvPicPr preferRelativeResize="0"/>
          <p:nvPr/>
        </p:nvPicPr>
        <p:blipFill rotWithShape="1">
          <a:blip r:embed="rId3">
            <a:alphaModFix/>
          </a:blip>
          <a:srcRect t="52622"/>
          <a:stretch/>
        </p:blipFill>
        <p:spPr>
          <a:xfrm>
            <a:off x="365760" y="2505450"/>
            <a:ext cx="4796697" cy="2039118"/>
          </a:xfrm>
          <a:prstGeom prst="rect">
            <a:avLst/>
          </a:prstGeom>
          <a:noFill/>
          <a:ln>
            <a:noFill/>
          </a:ln>
        </p:spPr>
      </p:pic>
      <p:pic>
        <p:nvPicPr>
          <p:cNvPr id="397" name="Google Shape;397;p12"/>
          <p:cNvPicPr preferRelativeResize="0"/>
          <p:nvPr/>
        </p:nvPicPr>
        <p:blipFill rotWithShape="1">
          <a:blip r:embed="rId4">
            <a:alphaModFix/>
          </a:blip>
          <a:srcRect/>
          <a:stretch/>
        </p:blipFill>
        <p:spPr>
          <a:xfrm>
            <a:off x="5303525" y="2331727"/>
            <a:ext cx="3657599" cy="1812160"/>
          </a:xfrm>
          <a:prstGeom prst="rect">
            <a:avLst/>
          </a:prstGeom>
          <a:noFill/>
          <a:ln>
            <a:noFill/>
          </a:ln>
        </p:spPr>
      </p:pic>
      <p:sp>
        <p:nvSpPr>
          <p:cNvPr id="398" name="Google Shape;398;p12"/>
          <p:cNvSpPr/>
          <p:nvPr/>
        </p:nvSpPr>
        <p:spPr>
          <a:xfrm>
            <a:off x="0" y="777240"/>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BFF"/>
        </a:solidFill>
        <a:effectLst/>
      </p:bgPr>
    </p:bg>
    <p:spTree>
      <p:nvGrpSpPr>
        <p:cNvPr id="1" name="Shape 403"/>
        <p:cNvGrpSpPr/>
        <p:nvPr/>
      </p:nvGrpSpPr>
      <p:grpSpPr>
        <a:xfrm>
          <a:off x="0" y="0"/>
          <a:ext cx="0" cy="0"/>
          <a:chOff x="0" y="0"/>
          <a:chExt cx="0" cy="0"/>
        </a:xfrm>
      </p:grpSpPr>
      <p:sp>
        <p:nvSpPr>
          <p:cNvPr id="404" name="Google Shape;404;p13"/>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5" name="Google Shape;405;p13"/>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2200"/>
              <a:buFont typeface="Calibri"/>
              <a:buNone/>
            </a:pPr>
            <a:r>
              <a:rPr lang="en-US" sz="2200" b="1" i="0" u="none" strike="noStrike" cap="none">
                <a:solidFill>
                  <a:srgbClr val="FFFFFF"/>
                </a:solidFill>
                <a:latin typeface="Calibri"/>
                <a:ea typeface="Calibri"/>
                <a:cs typeface="Calibri"/>
                <a:sym typeface="Calibri"/>
              </a:rPr>
              <a:t>COMPARACIÓN: KNN vs RANDOM FOREST</a:t>
            </a:r>
            <a:endParaRPr sz="2200" b="0" i="0" u="none" strike="noStrike" cap="none">
              <a:solidFill>
                <a:schemeClr val="dk1"/>
              </a:solidFill>
              <a:latin typeface="Calibri"/>
              <a:ea typeface="Calibri"/>
              <a:cs typeface="Calibri"/>
              <a:sym typeface="Calibri"/>
            </a:endParaRPr>
          </a:p>
        </p:txBody>
      </p:sp>
      <p:sp>
        <p:nvSpPr>
          <p:cNvPr id="406" name="Google Shape;406;p13"/>
          <p:cNvSpPr/>
          <p:nvPr/>
        </p:nvSpPr>
        <p:spPr>
          <a:xfrm>
            <a:off x="0" y="777240"/>
            <a:ext cx="9144000" cy="54864"/>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13"/>
          <p:cNvSpPr/>
          <p:nvPr/>
        </p:nvSpPr>
        <p:spPr>
          <a:xfrm>
            <a:off x="5486400" y="868680"/>
            <a:ext cx="3337560" cy="2743200"/>
          </a:xfrm>
          <a:prstGeom prst="rect">
            <a:avLst/>
          </a:prstGeom>
          <a:solidFill>
            <a:srgbClr val="FFFFFF"/>
          </a:solidFill>
          <a:ln>
            <a:noFill/>
          </a:ln>
          <a:effectLst>
            <a:outerShdw blurRad="101600" dist="25400" dir="81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8" name="Google Shape;408;p13"/>
          <p:cNvSpPr/>
          <p:nvPr/>
        </p:nvSpPr>
        <p:spPr>
          <a:xfrm>
            <a:off x="5486400" y="915924"/>
            <a:ext cx="3337560" cy="54864"/>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9" name="Google Shape;409;p13"/>
          <p:cNvSpPr/>
          <p:nvPr/>
        </p:nvSpPr>
        <p:spPr>
          <a:xfrm>
            <a:off x="5577840" y="1042416"/>
            <a:ext cx="3154680" cy="292608"/>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Mejoras de RF sobre KNN</a:t>
            </a:r>
            <a:endParaRPr sz="1100" b="0" i="0" u="none" strike="noStrike" cap="none">
              <a:solidFill>
                <a:schemeClr val="dk1"/>
              </a:solidFill>
              <a:latin typeface="Calibri"/>
              <a:ea typeface="Calibri"/>
              <a:cs typeface="Calibri"/>
              <a:sym typeface="Calibri"/>
            </a:endParaRPr>
          </a:p>
        </p:txBody>
      </p:sp>
      <p:sp>
        <p:nvSpPr>
          <p:cNvPr id="410" name="Google Shape;410;p13"/>
          <p:cNvSpPr/>
          <p:nvPr/>
        </p:nvSpPr>
        <p:spPr>
          <a:xfrm>
            <a:off x="5577840" y="1377696"/>
            <a:ext cx="3154680" cy="594360"/>
          </a:xfrm>
          <a:prstGeom prst="rect">
            <a:avLst/>
          </a:prstGeom>
          <a:solidFill>
            <a:srgbClr val="E3F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1" name="Google Shape;411;p13"/>
          <p:cNvSpPr/>
          <p:nvPr/>
        </p:nvSpPr>
        <p:spPr>
          <a:xfrm>
            <a:off x="5623560" y="1453896"/>
            <a:ext cx="5486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300"/>
              <a:buFont typeface="Calibri"/>
              <a:buNone/>
            </a:pPr>
            <a:r>
              <a:rPr lang="en-US" sz="1300" b="1" i="0" u="none" strike="noStrike" cap="none">
                <a:solidFill>
                  <a:srgbClr val="0D1B4B"/>
                </a:solidFill>
                <a:latin typeface="Calibri"/>
                <a:ea typeface="Calibri"/>
                <a:cs typeface="Calibri"/>
                <a:sym typeface="Calibri"/>
              </a:rPr>
              <a:t>R²</a:t>
            </a:r>
            <a:endParaRPr sz="1300" b="0" i="0" u="none" strike="noStrike" cap="none">
              <a:solidFill>
                <a:schemeClr val="dk1"/>
              </a:solidFill>
              <a:latin typeface="Calibri"/>
              <a:ea typeface="Calibri"/>
              <a:cs typeface="Calibri"/>
              <a:sym typeface="Calibri"/>
            </a:endParaRPr>
          </a:p>
        </p:txBody>
      </p:sp>
      <p:sp>
        <p:nvSpPr>
          <p:cNvPr id="412" name="Google Shape;412;p13"/>
          <p:cNvSpPr/>
          <p:nvPr/>
        </p:nvSpPr>
        <p:spPr>
          <a:xfrm>
            <a:off x="6172200" y="1453896"/>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88"/>
              </a:buClr>
              <a:buSzPts val="1000"/>
              <a:buFont typeface="Calibri"/>
              <a:buNone/>
            </a:pPr>
            <a:r>
              <a:rPr lang="en-US" sz="1000" b="0" i="0" u="none" strike="noStrike" cap="none">
                <a:solidFill>
                  <a:srgbClr val="888888"/>
                </a:solidFill>
                <a:latin typeface="Calibri"/>
                <a:ea typeface="Calibri"/>
                <a:cs typeface="Calibri"/>
                <a:sym typeface="Calibri"/>
              </a:rPr>
              <a:t>63.8%</a:t>
            </a:r>
            <a:endParaRPr sz="1000" b="0" i="0" u="none" strike="noStrike" cap="none">
              <a:solidFill>
                <a:schemeClr val="dk1"/>
              </a:solidFill>
              <a:latin typeface="Calibri"/>
              <a:ea typeface="Calibri"/>
              <a:cs typeface="Calibri"/>
              <a:sym typeface="Calibri"/>
            </a:endParaRPr>
          </a:p>
        </p:txBody>
      </p:sp>
      <p:sp>
        <p:nvSpPr>
          <p:cNvPr id="413" name="Google Shape;413;p13"/>
          <p:cNvSpPr/>
          <p:nvPr/>
        </p:nvSpPr>
        <p:spPr>
          <a:xfrm>
            <a:off x="6172200" y="1700784"/>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7D32"/>
              </a:buClr>
              <a:buSzPts val="1000"/>
              <a:buFont typeface="Calibri"/>
              <a:buNone/>
            </a:pPr>
            <a:r>
              <a:rPr lang="en-US" sz="1000" b="1" i="0" u="none" strike="noStrike" cap="none">
                <a:solidFill>
                  <a:srgbClr val="2E7D32"/>
                </a:solidFill>
                <a:latin typeface="Calibri"/>
                <a:ea typeface="Calibri"/>
                <a:cs typeface="Calibri"/>
                <a:sym typeface="Calibri"/>
              </a:rPr>
              <a:t>→ 82,9%</a:t>
            </a:r>
            <a:endParaRPr sz="1000" b="0" i="0" u="none" strike="noStrike" cap="none">
              <a:solidFill>
                <a:schemeClr val="dk1"/>
              </a:solidFill>
              <a:latin typeface="Calibri"/>
              <a:ea typeface="Calibri"/>
              <a:cs typeface="Calibri"/>
              <a:sym typeface="Calibri"/>
            </a:endParaRPr>
          </a:p>
        </p:txBody>
      </p:sp>
      <p:sp>
        <p:nvSpPr>
          <p:cNvPr id="414" name="Google Shape;414;p13"/>
          <p:cNvSpPr/>
          <p:nvPr/>
        </p:nvSpPr>
        <p:spPr>
          <a:xfrm>
            <a:off x="7269480" y="1527048"/>
            <a:ext cx="868680" cy="36576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5" name="Google Shape;415;p13"/>
          <p:cNvSpPr/>
          <p:nvPr/>
        </p:nvSpPr>
        <p:spPr>
          <a:xfrm>
            <a:off x="7269480" y="1517904"/>
            <a:ext cx="86868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+19,1pp</a:t>
            </a:r>
            <a:endParaRPr sz="1100" b="0" i="0" u="none" strike="noStrike" cap="none">
              <a:solidFill>
                <a:schemeClr val="dk1"/>
              </a:solidFill>
              <a:latin typeface="Calibri"/>
              <a:ea typeface="Calibri"/>
              <a:cs typeface="Calibri"/>
              <a:sym typeface="Calibri"/>
            </a:endParaRPr>
          </a:p>
        </p:txBody>
      </p:sp>
      <p:sp>
        <p:nvSpPr>
          <p:cNvPr id="416" name="Google Shape;416;p13"/>
          <p:cNvSpPr/>
          <p:nvPr/>
        </p:nvSpPr>
        <p:spPr>
          <a:xfrm>
            <a:off x="5577840" y="2112264"/>
            <a:ext cx="3154680" cy="594360"/>
          </a:xfrm>
          <a:prstGeom prst="rect">
            <a:avLst/>
          </a:prstGeom>
          <a:solidFill>
            <a:srgbClr val="E3F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7" name="Google Shape;417;p13"/>
          <p:cNvSpPr/>
          <p:nvPr/>
        </p:nvSpPr>
        <p:spPr>
          <a:xfrm>
            <a:off x="5623560" y="2157984"/>
            <a:ext cx="5486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300"/>
              <a:buFont typeface="Calibri"/>
              <a:buNone/>
            </a:pPr>
            <a:r>
              <a:rPr lang="en-US" sz="1300" b="1" i="0" u="none" strike="noStrike" cap="none">
                <a:solidFill>
                  <a:srgbClr val="0D1B4B"/>
                </a:solidFill>
                <a:latin typeface="Calibri"/>
                <a:ea typeface="Calibri"/>
                <a:cs typeface="Calibri"/>
                <a:sym typeface="Calibri"/>
              </a:rPr>
              <a:t>MAE</a:t>
            </a:r>
            <a:endParaRPr sz="1300" b="0" i="0" u="none" strike="noStrike" cap="none">
              <a:solidFill>
                <a:schemeClr val="dk1"/>
              </a:solidFill>
              <a:latin typeface="Calibri"/>
              <a:ea typeface="Calibri"/>
              <a:cs typeface="Calibri"/>
              <a:sym typeface="Calibri"/>
            </a:endParaRPr>
          </a:p>
        </p:txBody>
      </p:sp>
      <p:sp>
        <p:nvSpPr>
          <p:cNvPr id="418" name="Google Shape;418;p13"/>
          <p:cNvSpPr/>
          <p:nvPr/>
        </p:nvSpPr>
        <p:spPr>
          <a:xfrm>
            <a:off x="6172200" y="2157984"/>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88"/>
              </a:buClr>
              <a:buSzPts val="1000"/>
              <a:buFont typeface="Calibri"/>
              <a:buNone/>
            </a:pPr>
            <a:r>
              <a:rPr lang="en-US" sz="1000" b="0" i="0" u="none" strike="noStrike" cap="none">
                <a:solidFill>
                  <a:srgbClr val="888888"/>
                </a:solidFill>
                <a:latin typeface="Calibri"/>
                <a:ea typeface="Calibri"/>
                <a:cs typeface="Calibri"/>
                <a:sym typeface="Calibri"/>
              </a:rPr>
              <a:t>$120,365</a:t>
            </a:r>
            <a:endParaRPr sz="1000" b="0" i="0" u="none" strike="noStrike" cap="none">
              <a:solidFill>
                <a:schemeClr val="dk1"/>
              </a:solidFill>
              <a:latin typeface="Calibri"/>
              <a:ea typeface="Calibri"/>
              <a:cs typeface="Calibri"/>
              <a:sym typeface="Calibri"/>
            </a:endParaRPr>
          </a:p>
        </p:txBody>
      </p:sp>
      <p:sp>
        <p:nvSpPr>
          <p:cNvPr id="419" name="Google Shape;419;p13"/>
          <p:cNvSpPr/>
          <p:nvPr/>
        </p:nvSpPr>
        <p:spPr>
          <a:xfrm>
            <a:off x="6172200" y="2404872"/>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7D32"/>
              </a:buClr>
              <a:buSzPts val="1000"/>
              <a:buFont typeface="Calibri"/>
              <a:buNone/>
            </a:pPr>
            <a:r>
              <a:rPr lang="en-US" sz="1000" b="1" i="0" u="none" strike="noStrike" cap="none">
                <a:solidFill>
                  <a:srgbClr val="2E7D32"/>
                </a:solidFill>
                <a:latin typeface="Calibri"/>
                <a:ea typeface="Calibri"/>
                <a:cs typeface="Calibri"/>
                <a:sym typeface="Calibri"/>
              </a:rPr>
              <a:t>→ $78,586</a:t>
            </a:r>
            <a:endParaRPr sz="1000" b="0" i="0" u="none" strike="noStrike" cap="none">
              <a:solidFill>
                <a:schemeClr val="dk1"/>
              </a:solidFill>
              <a:latin typeface="Calibri"/>
              <a:ea typeface="Calibri"/>
              <a:cs typeface="Calibri"/>
              <a:sym typeface="Calibri"/>
            </a:endParaRPr>
          </a:p>
        </p:txBody>
      </p:sp>
      <p:sp>
        <p:nvSpPr>
          <p:cNvPr id="420" name="Google Shape;420;p13"/>
          <p:cNvSpPr/>
          <p:nvPr/>
        </p:nvSpPr>
        <p:spPr>
          <a:xfrm>
            <a:off x="7269480" y="2221992"/>
            <a:ext cx="868680" cy="36576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1" name="Google Shape;421;p13"/>
          <p:cNvSpPr/>
          <p:nvPr/>
        </p:nvSpPr>
        <p:spPr>
          <a:xfrm>
            <a:off x="7269480" y="2221992"/>
            <a:ext cx="86868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-33.9%</a:t>
            </a:r>
            <a:endParaRPr sz="1100" b="0" i="0" u="none" strike="noStrike" cap="none">
              <a:solidFill>
                <a:schemeClr val="dk1"/>
              </a:solidFill>
              <a:latin typeface="Calibri"/>
              <a:ea typeface="Calibri"/>
              <a:cs typeface="Calibri"/>
              <a:sym typeface="Calibri"/>
            </a:endParaRPr>
          </a:p>
        </p:txBody>
      </p:sp>
      <p:sp>
        <p:nvSpPr>
          <p:cNvPr id="422" name="Google Shape;422;p13"/>
          <p:cNvSpPr/>
          <p:nvPr/>
        </p:nvSpPr>
        <p:spPr>
          <a:xfrm>
            <a:off x="5577840" y="2807208"/>
            <a:ext cx="3154680" cy="594360"/>
          </a:xfrm>
          <a:prstGeom prst="rect">
            <a:avLst/>
          </a:prstGeom>
          <a:solidFill>
            <a:srgbClr val="E3F0F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3" name="Google Shape;423;p13"/>
          <p:cNvSpPr/>
          <p:nvPr/>
        </p:nvSpPr>
        <p:spPr>
          <a:xfrm>
            <a:off x="5623560" y="2852928"/>
            <a:ext cx="54864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D1B4B"/>
              </a:buClr>
              <a:buSzPts val="1300"/>
              <a:buFont typeface="Calibri"/>
              <a:buNone/>
            </a:pPr>
            <a:r>
              <a:rPr lang="en-US" sz="1300" b="1" i="0" u="none" strike="noStrike" cap="none">
                <a:solidFill>
                  <a:srgbClr val="0D1B4B"/>
                </a:solidFill>
                <a:latin typeface="Calibri"/>
                <a:ea typeface="Calibri"/>
                <a:cs typeface="Calibri"/>
                <a:sym typeface="Calibri"/>
              </a:rPr>
              <a:t>RMSE</a:t>
            </a:r>
            <a:endParaRPr sz="1300" b="0" i="0" u="none" strike="noStrike" cap="none">
              <a:solidFill>
                <a:schemeClr val="dk1"/>
              </a:solidFill>
              <a:latin typeface="Calibri"/>
              <a:ea typeface="Calibri"/>
              <a:cs typeface="Calibri"/>
              <a:sym typeface="Calibri"/>
            </a:endParaRPr>
          </a:p>
        </p:txBody>
      </p:sp>
      <p:sp>
        <p:nvSpPr>
          <p:cNvPr id="424" name="Google Shape;424;p13"/>
          <p:cNvSpPr/>
          <p:nvPr/>
        </p:nvSpPr>
        <p:spPr>
          <a:xfrm>
            <a:off x="6172200" y="2852928"/>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888888"/>
              </a:buClr>
              <a:buSzPts val="1000"/>
              <a:buFont typeface="Calibri"/>
              <a:buNone/>
            </a:pPr>
            <a:r>
              <a:rPr lang="en-US" sz="1000" b="0" i="0" u="none" strike="noStrike" cap="none">
                <a:solidFill>
                  <a:srgbClr val="888888"/>
                </a:solidFill>
                <a:latin typeface="Calibri"/>
                <a:ea typeface="Calibri"/>
                <a:cs typeface="Calibri"/>
                <a:sym typeface="Calibri"/>
              </a:rPr>
              <a:t>$151,178</a:t>
            </a:r>
            <a:endParaRPr sz="1000" b="0" i="0" u="none" strike="noStrike" cap="none">
              <a:solidFill>
                <a:schemeClr val="dk1"/>
              </a:solidFill>
              <a:latin typeface="Calibri"/>
              <a:ea typeface="Calibri"/>
              <a:cs typeface="Calibri"/>
              <a:sym typeface="Calibri"/>
            </a:endParaRPr>
          </a:p>
        </p:txBody>
      </p:sp>
      <p:sp>
        <p:nvSpPr>
          <p:cNvPr id="425" name="Google Shape;425;p13"/>
          <p:cNvSpPr/>
          <p:nvPr/>
        </p:nvSpPr>
        <p:spPr>
          <a:xfrm>
            <a:off x="6172200" y="3099816"/>
            <a:ext cx="1005840" cy="2560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E7D32"/>
              </a:buClr>
              <a:buSzPts val="1000"/>
              <a:buFont typeface="Calibri"/>
              <a:buNone/>
            </a:pPr>
            <a:r>
              <a:rPr lang="en-US" sz="1000" b="1" i="0" u="none" strike="noStrike" cap="none">
                <a:solidFill>
                  <a:srgbClr val="2E7D32"/>
                </a:solidFill>
                <a:latin typeface="Calibri"/>
                <a:ea typeface="Calibri"/>
                <a:cs typeface="Calibri"/>
                <a:sym typeface="Calibri"/>
              </a:rPr>
              <a:t>→ $104,209</a:t>
            </a:r>
            <a:endParaRPr sz="1400" b="0" i="0" u="none" strike="noStrike" cap="none">
              <a:solidFill>
                <a:srgbClr val="000000"/>
              </a:solidFill>
              <a:latin typeface="Arial"/>
              <a:ea typeface="Arial"/>
              <a:cs typeface="Arial"/>
              <a:sym typeface="Arial"/>
            </a:endParaRPr>
          </a:p>
        </p:txBody>
      </p:sp>
      <p:sp>
        <p:nvSpPr>
          <p:cNvPr id="426" name="Google Shape;426;p13"/>
          <p:cNvSpPr/>
          <p:nvPr/>
        </p:nvSpPr>
        <p:spPr>
          <a:xfrm>
            <a:off x="7269480" y="2916936"/>
            <a:ext cx="868680" cy="36576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27" name="Google Shape;427;p13"/>
          <p:cNvSpPr/>
          <p:nvPr/>
        </p:nvSpPr>
        <p:spPr>
          <a:xfrm>
            <a:off x="7269480" y="2916936"/>
            <a:ext cx="868680" cy="36576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100"/>
              <a:buFont typeface="Calibri"/>
              <a:buNone/>
            </a:pPr>
            <a:r>
              <a:rPr lang="en-US" sz="1100" b="1" i="0" u="none" strike="noStrike" cap="none">
                <a:solidFill>
                  <a:srgbClr val="FFFFFF"/>
                </a:solidFill>
                <a:latin typeface="Calibri"/>
                <a:ea typeface="Calibri"/>
                <a:cs typeface="Calibri"/>
                <a:sym typeface="Calibri"/>
              </a:rPr>
              <a:t>-31.1%</a:t>
            </a:r>
            <a:endParaRPr sz="1100" b="0" i="0" u="none" strike="noStrike" cap="none">
              <a:solidFill>
                <a:schemeClr val="dk1"/>
              </a:solidFill>
              <a:latin typeface="Calibri"/>
              <a:ea typeface="Calibri"/>
              <a:cs typeface="Calibri"/>
              <a:sym typeface="Calibri"/>
            </a:endParaRPr>
          </a:p>
        </p:txBody>
      </p:sp>
      <p:sp>
        <p:nvSpPr>
          <p:cNvPr id="428" name="Google Shape;428;p13"/>
          <p:cNvSpPr/>
          <p:nvPr/>
        </p:nvSpPr>
        <p:spPr>
          <a:xfrm>
            <a:off x="0" y="2925009"/>
            <a:ext cx="5486400" cy="255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D1B4B"/>
              </a:buClr>
              <a:buSzPts val="1100"/>
              <a:buFont typeface="Calibri"/>
              <a:buNone/>
            </a:pPr>
            <a:r>
              <a:rPr lang="en-US" sz="1100" b="1" i="0" u="none" strike="noStrike" cap="none">
                <a:solidFill>
                  <a:srgbClr val="0D1B4B"/>
                </a:solidFill>
                <a:latin typeface="Calibri"/>
                <a:ea typeface="Calibri"/>
                <a:cs typeface="Calibri"/>
                <a:sym typeface="Calibri"/>
              </a:rPr>
              <a:t>Tabla Comparativa Completa</a:t>
            </a:r>
            <a:endParaRPr sz="1100" b="0" i="0" u="none" strike="noStrike" cap="none">
              <a:solidFill>
                <a:schemeClr val="dk1"/>
              </a:solidFill>
              <a:latin typeface="Calibri"/>
              <a:ea typeface="Calibri"/>
              <a:cs typeface="Calibri"/>
              <a:sym typeface="Calibri"/>
            </a:endParaRPr>
          </a:p>
        </p:txBody>
      </p:sp>
      <p:graphicFrame>
        <p:nvGraphicFramePr>
          <p:cNvPr id="429" name="Google Shape;429;p13"/>
          <p:cNvGraphicFramePr/>
          <p:nvPr/>
        </p:nvGraphicFramePr>
        <p:xfrm>
          <a:off x="198120" y="3190208"/>
          <a:ext cx="4617725" cy="1645980"/>
        </p:xfrm>
        <a:graphic>
          <a:graphicData uri="http://schemas.openxmlformats.org/drawingml/2006/table">
            <a:tbl>
              <a:tblPr>
                <a:noFill/>
                <a:tableStyleId>{F6C17A80-BBBF-421A-A5CC-24DABD9C2D8D}</a:tableStyleId>
              </a:tblPr>
              <a:tblGrid>
                <a:gridCol w="1234450">
                  <a:extLst>
                    <a:ext uri="{9D8B030D-6E8A-4147-A177-3AD203B41FA5}">
                      <a16:colId xmlns:a16="http://schemas.microsoft.com/office/drawing/2014/main" val="20000"/>
                    </a:ext>
                  </a:extLst>
                </a:gridCol>
                <a:gridCol w="1508750">
                  <a:extLst>
                    <a:ext uri="{9D8B030D-6E8A-4147-A177-3AD203B41FA5}">
                      <a16:colId xmlns:a16="http://schemas.microsoft.com/office/drawing/2014/main" val="20001"/>
                    </a:ext>
                  </a:extLst>
                </a:gridCol>
                <a:gridCol w="1874525">
                  <a:extLst>
                    <a:ext uri="{9D8B030D-6E8A-4147-A177-3AD203B41FA5}">
                      <a16:colId xmlns:a16="http://schemas.microsoft.com/office/drawing/2014/main" val="20002"/>
                    </a:ext>
                  </a:extLst>
                </a:gridCol>
              </a:tblGrid>
              <a:tr h="152400">
                <a:tc>
                  <a:txBody>
                    <a:bodyPr/>
                    <a:lstStyle/>
                    <a:p>
                      <a:pPr marL="0" marR="0" lvl="0" indent="0" algn="l" rtl="0">
                        <a:lnSpc>
                          <a:spcPct val="100000"/>
                        </a:lnSpc>
                        <a:spcBef>
                          <a:spcPts val="0"/>
                        </a:spcBef>
                        <a:spcAft>
                          <a:spcPts val="0"/>
                        </a:spcAft>
                        <a:buClr>
                          <a:srgbClr val="FFFFFF"/>
                        </a:buClr>
                        <a:buSzPts val="1200"/>
                        <a:buFont typeface="Calibri"/>
                        <a:buNone/>
                      </a:pPr>
                      <a:r>
                        <a:rPr lang="en-US" sz="1200" b="1" u="none" strike="noStrike" cap="none">
                          <a:solidFill>
                            <a:srgbClr val="FFFFFF"/>
                          </a:solidFill>
                        </a:rPr>
                        <a:t>Métrica</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0D1B4B"/>
                    </a:solidFill>
                  </a:tcPr>
                </a:tc>
                <a:tc>
                  <a:txBody>
                    <a:bodyPr/>
                    <a:lstStyle/>
                    <a:p>
                      <a:pPr marL="0" marR="0" lvl="0" indent="0" algn="l" rtl="0">
                        <a:lnSpc>
                          <a:spcPct val="100000"/>
                        </a:lnSpc>
                        <a:spcBef>
                          <a:spcPts val="0"/>
                        </a:spcBef>
                        <a:spcAft>
                          <a:spcPts val="0"/>
                        </a:spcAft>
                        <a:buClr>
                          <a:srgbClr val="FFFFFF"/>
                        </a:buClr>
                        <a:buSzPts val="1200"/>
                        <a:buFont typeface="Calibri"/>
                        <a:buNone/>
                      </a:pPr>
                      <a:r>
                        <a:rPr lang="en-US" sz="1200" b="1" u="none" strike="noStrike" cap="none">
                          <a:solidFill>
                            <a:srgbClr val="FFFFFF"/>
                          </a:solidFill>
                        </a:rPr>
                        <a:t>KNN (K=11)</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1976D2"/>
                    </a:solidFill>
                  </a:tcPr>
                </a:tc>
                <a:tc>
                  <a:txBody>
                    <a:bodyPr/>
                    <a:lstStyle/>
                    <a:p>
                      <a:pPr marL="0" marR="0" lvl="0" indent="0" algn="l" rtl="0">
                        <a:lnSpc>
                          <a:spcPct val="100000"/>
                        </a:lnSpc>
                        <a:spcBef>
                          <a:spcPts val="0"/>
                        </a:spcBef>
                        <a:spcAft>
                          <a:spcPts val="0"/>
                        </a:spcAft>
                        <a:buClr>
                          <a:srgbClr val="FFFFFF"/>
                        </a:buClr>
                        <a:buSzPts val="1200"/>
                        <a:buFont typeface="Calibri"/>
                        <a:buNone/>
                      </a:pPr>
                      <a:r>
                        <a:rPr lang="en-US" sz="1200" b="1" u="none" strike="noStrike" cap="none">
                          <a:solidFill>
                            <a:srgbClr val="FFFFFF"/>
                          </a:solidFill>
                        </a:rPr>
                        <a:t>Random Forest</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solidFill>
                      <a:srgbClr val="2E7D32"/>
                    </a:solidFill>
                  </a:tcPr>
                </a:tc>
                <a:extLst>
                  <a:ext uri="{0D108BD9-81ED-4DB2-BD59-A6C34878D82A}">
                    <a16:rowId xmlns:a16="http://schemas.microsoft.com/office/drawing/2014/main" val="10000"/>
                  </a:ext>
                </a:extLst>
              </a:tr>
              <a:tr h="152400">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R² (Precisión)</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0.6</a:t>
                      </a:r>
                      <a:r>
                        <a:rPr lang="en-US" sz="1200" u="none" strike="noStrike" cap="none"/>
                        <a:t>3</a:t>
                      </a:r>
                      <a:r>
                        <a:rPr lang="en-US" sz="1200" u="none" strike="noStrike" cap="none">
                          <a:solidFill>
                            <a:srgbClr val="000000"/>
                          </a:solidFill>
                        </a:rPr>
                        <a:t>8</a:t>
                      </a:r>
                      <a:r>
                        <a:rPr lang="en-US" sz="1200" u="none" strike="noStrike" cap="none"/>
                        <a:t>3</a:t>
                      </a:r>
                      <a:r>
                        <a:rPr lang="en-US" sz="1200" u="none" strike="noStrike" cap="none">
                          <a:solidFill>
                            <a:srgbClr val="000000"/>
                          </a:solidFill>
                        </a:rPr>
                        <a:t> (6</a:t>
                      </a:r>
                      <a:r>
                        <a:rPr lang="en-US" sz="1200" u="none" strike="noStrike" cap="none"/>
                        <a:t>3</a:t>
                      </a:r>
                      <a:r>
                        <a:rPr lang="en-US" sz="1200" u="none" strike="noStrike" cap="none">
                          <a:solidFill>
                            <a:srgbClr val="000000"/>
                          </a:solidFill>
                        </a:rPr>
                        <a:t>.4%)</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0.8</a:t>
                      </a:r>
                      <a:r>
                        <a:rPr lang="en-US" sz="1200" u="none" strike="noStrike" cap="none"/>
                        <a:t>288</a:t>
                      </a:r>
                      <a:r>
                        <a:rPr lang="en-US" sz="1200" u="none" strike="noStrike" cap="none">
                          <a:solidFill>
                            <a:srgbClr val="000000"/>
                          </a:solidFill>
                        </a:rPr>
                        <a:t> (8</a:t>
                      </a:r>
                      <a:r>
                        <a:rPr lang="en-US" sz="1200" u="none" strike="noStrike" cap="none"/>
                        <a:t>2</a:t>
                      </a:r>
                      <a:r>
                        <a:rPr lang="en-US" sz="1200" u="none" strike="noStrike" cap="none">
                          <a:solidFill>
                            <a:srgbClr val="000000"/>
                          </a:solidFill>
                        </a:rPr>
                        <a:t>.</a:t>
                      </a:r>
                      <a:r>
                        <a:rPr lang="en-US" sz="1200" u="none" strike="noStrike" cap="none"/>
                        <a:t>9</a:t>
                      </a:r>
                      <a:r>
                        <a:rPr lang="en-US" sz="1200" u="none" strike="noStrike" cap="none">
                          <a:solidFill>
                            <a:srgbClr val="000000"/>
                          </a:solidFill>
                        </a:rPr>
                        <a:t>%)</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1"/>
                  </a:ext>
                </a:extLst>
              </a:tr>
              <a:tr h="152400">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MAE</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a:t>
                      </a:r>
                      <a:r>
                        <a:rPr lang="en-US" sz="1200" u="none" strike="noStrike" cap="none"/>
                        <a:t>20</a:t>
                      </a:r>
                      <a:r>
                        <a:rPr lang="en-US" sz="1200" u="none" strike="noStrike" cap="none">
                          <a:solidFill>
                            <a:srgbClr val="000000"/>
                          </a:solidFill>
                        </a:rPr>
                        <a:t>,</a:t>
                      </a:r>
                      <a:r>
                        <a:rPr lang="en-US" sz="1200" u="none" strike="noStrike" cap="none"/>
                        <a:t>365</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$7</a:t>
                      </a:r>
                      <a:r>
                        <a:rPr lang="en-US" sz="1200" u="none" strike="noStrike" cap="none"/>
                        <a:t>8</a:t>
                      </a:r>
                      <a:r>
                        <a:rPr lang="en-US" sz="1200" u="none" strike="noStrike" cap="none">
                          <a:solidFill>
                            <a:srgbClr val="000000"/>
                          </a:solidFill>
                        </a:rPr>
                        <a:t>,</a:t>
                      </a:r>
                      <a:r>
                        <a:rPr lang="en-US" sz="1200" u="none" strike="noStrike" cap="none"/>
                        <a:t>586</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2"/>
                  </a:ext>
                </a:extLst>
              </a:tr>
              <a:tr h="152400">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RMSE</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a:t>
                      </a:r>
                      <a:r>
                        <a:rPr lang="en-US" sz="1200" u="none" strike="noStrike" cap="none"/>
                        <a:t>51.178</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$10</a:t>
                      </a:r>
                      <a:r>
                        <a:rPr lang="en-US" sz="1200" u="none" strike="noStrike" cap="none"/>
                        <a:t>4</a:t>
                      </a:r>
                      <a:r>
                        <a:rPr lang="en-US" sz="1200" u="none" strike="noStrike" cap="none">
                          <a:solidFill>
                            <a:srgbClr val="000000"/>
                          </a:solidFill>
                        </a:rPr>
                        <a:t>,</a:t>
                      </a:r>
                      <a:r>
                        <a:rPr lang="en-US" sz="1200" u="none" strike="noStrike" cap="none"/>
                        <a:t>189</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3"/>
                  </a:ext>
                </a:extLst>
              </a:tr>
              <a:tr h="152400">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Error Medio</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a:t>
                      </a:r>
                      <a:r>
                        <a:rPr lang="en-US" sz="1200" u="none" strike="noStrike" cap="none"/>
                        <a:t>4</a:t>
                      </a:r>
                      <a:r>
                        <a:rPr lang="en-US" sz="1200" u="none" strike="noStrike" cap="none">
                          <a:solidFill>
                            <a:srgbClr val="000000"/>
                          </a:solidFill>
                        </a:rPr>
                        <a:t>,</a:t>
                      </a:r>
                      <a:r>
                        <a:rPr lang="en-US" sz="1200" u="none" strike="noStrike" cap="none"/>
                        <a:t>493</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a:t>
                      </a:r>
                      <a:r>
                        <a:rPr lang="en-US" sz="1200" u="none" strike="noStrike" cap="none"/>
                        <a:t>$5</a:t>
                      </a:r>
                      <a:r>
                        <a:rPr lang="en-US" sz="1200" u="none" strike="noStrike" cap="none">
                          <a:solidFill>
                            <a:srgbClr val="000000"/>
                          </a:solidFill>
                        </a:rPr>
                        <a:t>,</a:t>
                      </a:r>
                      <a:r>
                        <a:rPr lang="en-US" sz="1200" u="none" strike="noStrike" cap="none"/>
                        <a:t>323</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4"/>
                  </a:ext>
                </a:extLst>
              </a:tr>
              <a:tr h="152400">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Desv. Error</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a:t>
                      </a:r>
                      <a:r>
                        <a:rPr lang="en-US" sz="1200" u="none" strike="noStrike" cap="none"/>
                        <a:t>50</a:t>
                      </a:r>
                      <a:r>
                        <a:rPr lang="en-US" sz="1200" u="none" strike="noStrike" cap="none">
                          <a:solidFill>
                            <a:srgbClr val="000000"/>
                          </a:solidFill>
                        </a:rPr>
                        <a:t>,</a:t>
                      </a:r>
                      <a:r>
                        <a:rPr lang="en-US" sz="1200" u="none" strike="noStrike" cap="none"/>
                        <a:t>650</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200"/>
                        <a:buFont typeface="Calibri"/>
                        <a:buNone/>
                      </a:pPr>
                      <a:r>
                        <a:rPr lang="en-US" sz="1200" u="none" strike="noStrike" cap="none">
                          <a:solidFill>
                            <a:srgbClr val="000000"/>
                          </a:solidFill>
                        </a:rPr>
                        <a:t>$102,537</a:t>
                      </a:r>
                      <a:endParaRPr sz="1200" u="none" strike="noStrike" cap="none"/>
                    </a:p>
                  </a:txBody>
                  <a:tcPr marL="91450" marR="91450" marT="45725" marB="45725">
                    <a:lnL w="9525" cap="flat" cmpd="sng">
                      <a:solidFill>
                        <a:srgbClr val="DDDDDD"/>
                      </a:solidFill>
                      <a:prstDash val="solid"/>
                      <a:round/>
                      <a:headEnd type="none" w="sm" len="sm"/>
                      <a:tailEnd type="none" w="sm" len="sm"/>
                    </a:lnL>
                    <a:lnR w="9525" cap="flat" cmpd="sng">
                      <a:solidFill>
                        <a:srgbClr val="DDDDDD"/>
                      </a:solidFill>
                      <a:prstDash val="solid"/>
                      <a:round/>
                      <a:headEnd type="none" w="sm" len="sm"/>
                      <a:tailEnd type="none" w="sm" len="sm"/>
                    </a:lnR>
                    <a:lnT w="9525" cap="flat" cmpd="sng">
                      <a:solidFill>
                        <a:srgbClr val="DDDDDD"/>
                      </a:solidFill>
                      <a:prstDash val="solid"/>
                      <a:round/>
                      <a:headEnd type="none" w="sm" len="sm"/>
                      <a:tailEnd type="none" w="sm" len="sm"/>
                    </a:lnT>
                    <a:lnB w="9525" cap="flat" cmpd="sng">
                      <a:solidFill>
                        <a:srgbClr val="DDDDDD"/>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430" name="Google Shape;430;p13"/>
          <p:cNvSpPr/>
          <p:nvPr/>
        </p:nvSpPr>
        <p:spPr>
          <a:xfrm>
            <a:off x="5212080" y="4224528"/>
            <a:ext cx="3657600" cy="566928"/>
          </a:xfrm>
          <a:prstGeom prst="rect">
            <a:avLst/>
          </a:prstGeom>
          <a:solidFill>
            <a:srgbClr val="E8F5E9"/>
          </a:solidFill>
          <a:ln w="10150" cap="flat" cmpd="sng">
            <a:solidFill>
              <a:srgbClr val="2E7D3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1" i="0" u="none" strike="noStrike" cap="none">
                <a:solidFill>
                  <a:srgbClr val="548135"/>
                </a:solidFill>
                <a:latin typeface="Calibri"/>
                <a:ea typeface="Calibri"/>
                <a:cs typeface="Calibri"/>
                <a:sym typeface="Calibri"/>
              </a:rPr>
              <a:t>■ Random Forest tiene errores más consistentes (menor desviación)</a:t>
            </a:r>
            <a:endParaRPr sz="1400" b="1" i="0" u="none" strike="noStrike" cap="none">
              <a:solidFill>
                <a:srgbClr val="548135"/>
              </a:solidFill>
              <a:latin typeface="Calibri"/>
              <a:ea typeface="Calibri"/>
              <a:cs typeface="Calibri"/>
              <a:sym typeface="Calibri"/>
            </a:endParaRPr>
          </a:p>
        </p:txBody>
      </p:sp>
      <p:pic>
        <p:nvPicPr>
          <p:cNvPr id="431" name="Google Shape;431;p13"/>
          <p:cNvPicPr preferRelativeResize="0"/>
          <p:nvPr/>
        </p:nvPicPr>
        <p:blipFill rotWithShape="1">
          <a:blip r:embed="rId3">
            <a:alphaModFix/>
          </a:blip>
          <a:srcRect/>
          <a:stretch/>
        </p:blipFill>
        <p:spPr>
          <a:xfrm>
            <a:off x="59300" y="1006126"/>
            <a:ext cx="5078476" cy="16459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22"/>
          <p:cNvSpPr/>
          <p:nvPr/>
        </p:nvSpPr>
        <p:spPr>
          <a:xfrm>
            <a:off x="0" y="0"/>
            <a:ext cx="9144000" cy="777240"/>
          </a:xfrm>
          <a:prstGeom prst="rect">
            <a:avLst/>
          </a:prstGeom>
          <a:solidFill>
            <a:srgbClr val="0D1B4B"/>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38" name="Google Shape;438;p22"/>
          <p:cNvSpPr/>
          <p:nvPr/>
        </p:nvSpPr>
        <p:spPr>
          <a:xfrm>
            <a:off x="365760" y="0"/>
            <a:ext cx="8229600" cy="77724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a:solidFill>
                  <a:srgbClr val="FFFFFF"/>
                </a:solidFill>
                <a:latin typeface="Calibri"/>
                <a:ea typeface="Calibri"/>
                <a:cs typeface="Calibri"/>
                <a:sym typeface="Calibri"/>
              </a:rPr>
              <a:t>CONCLUSIONES FINALES</a:t>
            </a:r>
            <a:endParaRPr/>
          </a:p>
        </p:txBody>
      </p:sp>
      <p:sp>
        <p:nvSpPr>
          <p:cNvPr id="439" name="Google Shape;439;p22"/>
          <p:cNvSpPr/>
          <p:nvPr/>
        </p:nvSpPr>
        <p:spPr>
          <a:xfrm>
            <a:off x="274320" y="914400"/>
            <a:ext cx="4116960" cy="1143000"/>
          </a:xfrm>
          <a:prstGeom prst="rect">
            <a:avLst/>
          </a:prstGeom>
          <a:solidFill>
            <a:srgbClr val="FFFFFF"/>
          </a:solidFill>
          <a:ln w="9525" cap="flat" cmpd="sng">
            <a:solidFill>
              <a:srgbClr val="E0E8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0" name="Google Shape;440;p22"/>
          <p:cNvSpPr/>
          <p:nvPr/>
        </p:nvSpPr>
        <p:spPr>
          <a:xfrm>
            <a:off x="274320" y="914400"/>
            <a:ext cx="54864" cy="1143000"/>
          </a:xfrm>
          <a:prstGeom prst="rect">
            <a:avLst/>
          </a:prstGeom>
          <a:solidFill>
            <a:srgbClr val="2E7D3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1" name="Google Shape;441;p22"/>
          <p:cNvSpPr/>
          <p:nvPr/>
        </p:nvSpPr>
        <p:spPr>
          <a:xfrm>
            <a:off x="365760" y="957600"/>
            <a:ext cx="3962400" cy="106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  Random Forest es el mejor modelo</a:t>
            </a:r>
            <a:endParaRPr/>
          </a:p>
          <a:p>
            <a:pPr marL="0" marR="0" lvl="0" indent="0" algn="l" rtl="0">
              <a:lnSpc>
                <a:spcPct val="120000"/>
              </a:lnSpc>
              <a:spcBef>
                <a:spcPts val="300"/>
              </a:spcBef>
              <a:spcAft>
                <a:spcPts val="0"/>
              </a:spcAft>
              <a:buClr>
                <a:srgbClr val="000000"/>
              </a:buClr>
              <a:buSzPts val="1050"/>
              <a:buFont typeface="Arial"/>
              <a:buNone/>
            </a:pPr>
            <a:r>
              <a:rPr lang="en-US" sz="1050" b="0" i="0" u="none" strike="noStrike" cap="none">
                <a:solidFill>
                  <a:srgbClr val="3A5070"/>
                </a:solidFill>
                <a:latin typeface="Calibri"/>
                <a:ea typeface="Calibri"/>
                <a:cs typeface="Calibri"/>
                <a:sym typeface="Calibri"/>
              </a:rPr>
              <a:t>R²=82.9% supera ampliamente a KNN (63.4%). Su capacidad de capturar relaciones no lineales y ponderar variables lo hacen ideal para datos de negocio heterogéneos.</a:t>
            </a:r>
            <a:endParaRPr/>
          </a:p>
        </p:txBody>
      </p:sp>
      <p:sp>
        <p:nvSpPr>
          <p:cNvPr id="442" name="Google Shape;442;p22"/>
          <p:cNvSpPr/>
          <p:nvPr/>
        </p:nvSpPr>
        <p:spPr>
          <a:xfrm>
            <a:off x="274320" y="2133600"/>
            <a:ext cx="4116960" cy="1295400"/>
          </a:xfrm>
          <a:prstGeom prst="rect">
            <a:avLst/>
          </a:prstGeom>
          <a:solidFill>
            <a:srgbClr val="FFFFFF"/>
          </a:solidFill>
          <a:ln w="9525" cap="flat" cmpd="sng">
            <a:solidFill>
              <a:srgbClr val="E0E8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3" name="Google Shape;443;p22"/>
          <p:cNvSpPr/>
          <p:nvPr/>
        </p:nvSpPr>
        <p:spPr>
          <a:xfrm>
            <a:off x="274320" y="2133600"/>
            <a:ext cx="54864" cy="1295400"/>
          </a:xfrm>
          <a:prstGeom prst="rect">
            <a:avLst/>
          </a:prstGeom>
          <a:solidFill>
            <a:srgbClr val="1976D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4" name="Google Shape;444;p22"/>
          <p:cNvSpPr/>
          <p:nvPr/>
        </p:nvSpPr>
        <p:spPr>
          <a:xfrm>
            <a:off x="434230" y="2476501"/>
            <a:ext cx="3962400" cy="1219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  Marketing es el driver #1 de ventas</a:t>
            </a:r>
            <a:endParaRPr/>
          </a:p>
          <a:p>
            <a:pPr marL="0" marR="0" lvl="0" indent="0" algn="l" rtl="0">
              <a:lnSpc>
                <a:spcPct val="120000"/>
              </a:lnSpc>
              <a:spcBef>
                <a:spcPts val="300"/>
              </a:spcBef>
              <a:spcAft>
                <a:spcPts val="0"/>
              </a:spcAft>
              <a:buClr>
                <a:srgbClr val="000000"/>
              </a:buClr>
              <a:buSzPts val="1050"/>
              <a:buFont typeface="Arial"/>
              <a:buNone/>
            </a:pPr>
            <a:r>
              <a:rPr lang="en-US" sz="1050" b="0" i="0" u="none" strike="noStrike" cap="none">
                <a:solidFill>
                  <a:srgbClr val="3A5070"/>
                </a:solidFill>
                <a:latin typeface="Calibri"/>
                <a:ea typeface="Calibri"/>
                <a:cs typeface="Calibri"/>
                <a:sym typeface="Calibri"/>
              </a:rPr>
              <a:t>Importancia del 64.4% en el modelo. </a:t>
            </a:r>
            <a:endParaRPr/>
          </a:p>
        </p:txBody>
      </p:sp>
      <p:sp>
        <p:nvSpPr>
          <p:cNvPr id="445" name="Google Shape;445;p22"/>
          <p:cNvSpPr/>
          <p:nvPr/>
        </p:nvSpPr>
        <p:spPr>
          <a:xfrm>
            <a:off x="274320" y="3505200"/>
            <a:ext cx="4116960" cy="1143000"/>
          </a:xfrm>
          <a:prstGeom prst="rect">
            <a:avLst/>
          </a:prstGeom>
          <a:solidFill>
            <a:srgbClr val="FFFFFF"/>
          </a:solidFill>
          <a:ln w="9525" cap="flat" cmpd="sng">
            <a:solidFill>
              <a:srgbClr val="E0E8F5"/>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6" name="Google Shape;446;p22"/>
          <p:cNvSpPr/>
          <p:nvPr/>
        </p:nvSpPr>
        <p:spPr>
          <a:xfrm>
            <a:off x="274320" y="3505200"/>
            <a:ext cx="54864" cy="1143000"/>
          </a:xfrm>
          <a:prstGeom prst="rect">
            <a:avLst/>
          </a:prstGeom>
          <a:solidFill>
            <a:srgbClr val="FFB30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47" name="Google Shape;447;p22"/>
          <p:cNvSpPr/>
          <p:nvPr/>
        </p:nvSpPr>
        <p:spPr>
          <a:xfrm>
            <a:off x="365760" y="3548400"/>
            <a:ext cx="3962400" cy="1066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rgbClr val="0D1B4B"/>
                </a:solidFill>
                <a:latin typeface="Calibri"/>
                <a:ea typeface="Calibri"/>
                <a:cs typeface="Calibri"/>
                <a:sym typeface="Calibri"/>
              </a:rPr>
              <a:t>📍  Ubicación y rubro condicionan el techo de ingresos</a:t>
            </a:r>
            <a:endParaRPr/>
          </a:p>
          <a:p>
            <a:pPr marL="0" marR="0" lvl="0" indent="0" algn="l" rtl="0">
              <a:lnSpc>
                <a:spcPct val="120000"/>
              </a:lnSpc>
              <a:spcBef>
                <a:spcPts val="300"/>
              </a:spcBef>
              <a:spcAft>
                <a:spcPts val="0"/>
              </a:spcAft>
              <a:buClr>
                <a:srgbClr val="000000"/>
              </a:buClr>
              <a:buSzPts val="1050"/>
              <a:buFont typeface="Arial"/>
              <a:buNone/>
            </a:pPr>
            <a:r>
              <a:rPr lang="en-US" sz="1050" b="0" i="0" u="none" strike="noStrike" cap="none">
                <a:solidFill>
                  <a:srgbClr val="3A5070"/>
                </a:solidFill>
                <a:latin typeface="Calibri"/>
                <a:ea typeface="Calibri"/>
                <a:cs typeface="Calibri"/>
                <a:sym typeface="Calibri"/>
              </a:rPr>
              <a:t>Locales en esquina venden 14.4% más. El tipo de ubicación impacta hasta +74%. A igual esfuerzo, el contexto determina el resultado.</a:t>
            </a:r>
            <a:endParaRPr/>
          </a:p>
        </p:txBody>
      </p:sp>
      <p:sp>
        <p:nvSpPr>
          <p:cNvPr id="448" name="Google Shape;448;p22"/>
          <p:cNvSpPr/>
          <p:nvPr/>
        </p:nvSpPr>
        <p:spPr>
          <a:xfrm>
            <a:off x="4754400" y="914400"/>
            <a:ext cx="4115520" cy="330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1" i="0" u="none" strike="noStrike" cap="none">
                <a:solidFill>
                  <a:srgbClr val="0D1B4B"/>
                </a:solidFill>
                <a:latin typeface="Calibri"/>
                <a:ea typeface="Calibri"/>
                <a:cs typeface="Calibri"/>
                <a:sym typeface="Calibri"/>
              </a:rPr>
              <a:t>💬  Respaldo Académico</a:t>
            </a:r>
            <a:endParaRPr/>
          </a:p>
        </p:txBody>
      </p:sp>
      <p:sp>
        <p:nvSpPr>
          <p:cNvPr id="449" name="Google Shape;449;p22"/>
          <p:cNvSpPr/>
          <p:nvPr/>
        </p:nvSpPr>
        <p:spPr>
          <a:xfrm>
            <a:off x="4752722" y="2253000"/>
            <a:ext cx="4115520" cy="1143000"/>
          </a:xfrm>
          <a:prstGeom prst="rect">
            <a:avLst/>
          </a:prstGeom>
          <a:solidFill>
            <a:srgbClr val="EEF4FF"/>
          </a:solidFill>
          <a:ln w="9525" cap="flat" cmpd="sng">
            <a:solidFill>
              <a:srgbClr val="C8D8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50" name="Google Shape;450;p22"/>
          <p:cNvSpPr/>
          <p:nvPr/>
        </p:nvSpPr>
        <p:spPr>
          <a:xfrm>
            <a:off x="4846701" y="2324100"/>
            <a:ext cx="365760" cy="457200"/>
          </a:xfrm>
          <a:prstGeom prst="rect">
            <a:avLst/>
          </a:prstGeom>
          <a:noFill/>
          <a:ln>
            <a:noFill/>
          </a:ln>
        </p:spPr>
        <p:txBody>
          <a:bodyPr spcFirstLastPara="1" wrap="square" lIns="91425" tIns="4570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1976D2"/>
                </a:solidFill>
                <a:latin typeface="Georgia"/>
                <a:ea typeface="Georgia"/>
                <a:cs typeface="Georgia"/>
                <a:sym typeface="Georgia"/>
              </a:rPr>
              <a:t>“</a:t>
            </a:r>
            <a:endParaRPr/>
          </a:p>
        </p:txBody>
      </p:sp>
      <p:sp>
        <p:nvSpPr>
          <p:cNvPr id="451" name="Google Shape;451;p22"/>
          <p:cNvSpPr/>
          <p:nvPr/>
        </p:nvSpPr>
        <p:spPr>
          <a:xfrm>
            <a:off x="5393182" y="2381575"/>
            <a:ext cx="3612000" cy="965200"/>
          </a:xfrm>
          <a:prstGeom prst="rect">
            <a:avLst/>
          </a:prstGeom>
          <a:noFill/>
          <a:ln>
            <a:noFill/>
          </a:ln>
        </p:spPr>
        <p:txBody>
          <a:bodyPr spcFirstLastPara="1" wrap="square" lIns="0" tIns="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en-US" sz="1050" b="0" i="1" u="none" strike="noStrike" cap="none">
                <a:solidFill>
                  <a:srgbClr val="1A3A6E"/>
                </a:solidFill>
                <a:latin typeface="Georgia"/>
                <a:ea typeface="Georgia"/>
                <a:cs typeface="Georgia"/>
                <a:sym typeface="Georgia"/>
              </a:rPr>
              <a:t>“El marketing no es el arte de encontrar formas ingeniosas de deshacerse de lo que produces; es el arte de crear valor genuino” .</a:t>
            </a:r>
            <a:endParaRPr/>
          </a:p>
          <a:p>
            <a:pPr marL="0" marR="0" lvl="0" indent="0" algn="l" rtl="0">
              <a:lnSpc>
                <a:spcPct val="100000"/>
              </a:lnSpc>
              <a:spcBef>
                <a:spcPts val="150"/>
              </a:spcBef>
              <a:spcAft>
                <a:spcPts val="0"/>
              </a:spcAft>
              <a:buClr>
                <a:srgbClr val="000000"/>
              </a:buClr>
              <a:buSzPts val="900"/>
              <a:buFont typeface="Arial"/>
              <a:buNone/>
            </a:pPr>
            <a:r>
              <a:rPr lang="en-US" sz="900" b="1" i="0" u="none" strike="noStrike" cap="none">
                <a:solidFill>
                  <a:srgbClr val="1976D2"/>
                </a:solidFill>
                <a:latin typeface="Calibri"/>
                <a:ea typeface="Calibri"/>
                <a:cs typeface="Calibri"/>
                <a:sym typeface="Calibri"/>
              </a:rPr>
              <a:t>— Kotler, 2000 </a:t>
            </a:r>
            <a:r>
              <a:rPr lang="en-US" sz="900" b="0" i="0" u="none" strike="noStrike" cap="none">
                <a:solidFill>
                  <a:srgbClr val="7090B0"/>
                </a:solidFill>
                <a:latin typeface="Calibri"/>
                <a:ea typeface="Calibri"/>
                <a:cs typeface="Calibri"/>
                <a:sym typeface="Calibri"/>
              </a:rPr>
              <a:t>  | Padre del marketing moderno</a:t>
            </a:r>
            <a:endParaRPr/>
          </a:p>
        </p:txBody>
      </p:sp>
      <p:grpSp>
        <p:nvGrpSpPr>
          <p:cNvPr id="452" name="Google Shape;452;p22"/>
          <p:cNvGrpSpPr/>
          <p:nvPr/>
        </p:nvGrpSpPr>
        <p:grpSpPr>
          <a:xfrm>
            <a:off x="4752722" y="1219350"/>
            <a:ext cx="4115520" cy="913800"/>
            <a:chOff x="4754400" y="3734400"/>
            <a:chExt cx="4115520" cy="913800"/>
          </a:xfrm>
        </p:grpSpPr>
        <p:sp>
          <p:nvSpPr>
            <p:cNvPr id="453" name="Google Shape;453;p22"/>
            <p:cNvSpPr/>
            <p:nvPr/>
          </p:nvSpPr>
          <p:spPr>
            <a:xfrm>
              <a:off x="4754400" y="3734400"/>
              <a:ext cx="4115520" cy="913800"/>
            </a:xfrm>
            <a:prstGeom prst="rect">
              <a:avLst/>
            </a:prstGeom>
            <a:solidFill>
              <a:srgbClr val="F1F8F1"/>
            </a:solidFill>
            <a:ln w="9525" cap="flat" cmpd="sng">
              <a:solidFill>
                <a:srgbClr val="A5D6A7"/>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54" name="Google Shape;454;p22"/>
            <p:cNvSpPr/>
            <p:nvPr/>
          </p:nvSpPr>
          <p:spPr>
            <a:xfrm>
              <a:off x="4800960" y="3734400"/>
              <a:ext cx="365760" cy="457200"/>
            </a:xfrm>
            <a:prstGeom prst="rect">
              <a:avLst/>
            </a:prstGeom>
            <a:noFill/>
            <a:ln>
              <a:noFill/>
            </a:ln>
          </p:spPr>
          <p:txBody>
            <a:bodyPr spcFirstLastPara="1" wrap="square" lIns="91425" tIns="4570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2E7D32"/>
                  </a:solidFill>
                  <a:latin typeface="Georgia"/>
                  <a:ea typeface="Georgia"/>
                  <a:cs typeface="Georgia"/>
                  <a:sym typeface="Georgia"/>
                </a:rPr>
                <a:t>“</a:t>
              </a:r>
              <a:endParaRPr/>
            </a:p>
          </p:txBody>
        </p:sp>
        <p:sp>
          <p:nvSpPr>
            <p:cNvPr id="455" name="Google Shape;455;p22"/>
            <p:cNvSpPr/>
            <p:nvPr/>
          </p:nvSpPr>
          <p:spPr>
            <a:xfrm>
              <a:off x="5166360" y="3790800"/>
              <a:ext cx="3612000" cy="820800"/>
            </a:xfrm>
            <a:prstGeom prst="rect">
              <a:avLst/>
            </a:prstGeom>
            <a:noFill/>
            <a:ln>
              <a:noFill/>
            </a:ln>
          </p:spPr>
          <p:txBody>
            <a:bodyPr spcFirstLastPara="1" wrap="square" lIns="0" tIns="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en-US" sz="1050" b="0" i="1" u="none" strike="noStrike" cap="none">
                  <a:solidFill>
                    <a:srgbClr val="1B5E20"/>
                  </a:solidFill>
                  <a:latin typeface="Georgia"/>
                  <a:ea typeface="Georgia"/>
                  <a:cs typeface="Georgia"/>
                  <a:sym typeface="Georgia"/>
                </a:rPr>
                <a:t>Random Forests son robustos, precisos y eficientes en grandes bases de datos.</a:t>
              </a:r>
              <a:endParaRPr/>
            </a:p>
            <a:p>
              <a:pPr marL="0" marR="0" lvl="0" indent="0" algn="l" rtl="0">
                <a:lnSpc>
                  <a:spcPct val="100000"/>
                </a:lnSpc>
                <a:spcBef>
                  <a:spcPts val="150"/>
                </a:spcBef>
                <a:spcAft>
                  <a:spcPts val="0"/>
                </a:spcAft>
                <a:buClr>
                  <a:srgbClr val="000000"/>
                </a:buClr>
                <a:buSzPts val="900"/>
                <a:buFont typeface="Arial"/>
                <a:buNone/>
              </a:pPr>
              <a:r>
                <a:rPr lang="en-US" sz="900" b="1" i="0" u="none" strike="noStrike" cap="none">
                  <a:solidFill>
                    <a:srgbClr val="2E7D32"/>
                  </a:solidFill>
                  <a:latin typeface="Calibri"/>
                  <a:ea typeface="Calibri"/>
                  <a:cs typeface="Calibri"/>
                  <a:sym typeface="Calibri"/>
                </a:rPr>
                <a:t>— Leo Breiman</a:t>
              </a:r>
              <a:r>
                <a:rPr lang="en-US" sz="900" b="0" i="0" u="none" strike="noStrike" cap="none">
                  <a:solidFill>
                    <a:srgbClr val="5A8A5C"/>
                  </a:solidFill>
                  <a:latin typeface="Calibri"/>
                  <a:ea typeface="Calibri"/>
                  <a:cs typeface="Calibri"/>
                  <a:sym typeface="Calibri"/>
                </a:rPr>
                <a:t>  |  Creador del algoritmo (2001)</a:t>
              </a:r>
              <a:endParaRPr/>
            </a:p>
          </p:txBody>
        </p:sp>
      </p:grpSp>
      <p:sp>
        <p:nvSpPr>
          <p:cNvPr id="456" name="Google Shape;456;p22"/>
          <p:cNvSpPr/>
          <p:nvPr/>
        </p:nvSpPr>
        <p:spPr>
          <a:xfrm>
            <a:off x="0" y="756666"/>
            <a:ext cx="9144000" cy="54864"/>
          </a:xfrm>
          <a:prstGeom prst="rect">
            <a:avLst/>
          </a:prstGeom>
          <a:gradFill>
            <a:gsLst>
              <a:gs pos="0">
                <a:srgbClr val="6E6E6E"/>
              </a:gs>
              <a:gs pos="48000">
                <a:srgbClr val="A7A7A7"/>
              </a:gs>
              <a:gs pos="100000">
                <a:srgbClr val="C9C9C9"/>
              </a:gs>
            </a:gsLst>
            <a:lin ang="16200000" scaled="0"/>
          </a:gra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457" name="Google Shape;457;p22"/>
          <p:cNvGrpSpPr/>
          <p:nvPr/>
        </p:nvGrpSpPr>
        <p:grpSpPr>
          <a:xfrm>
            <a:off x="4752722" y="3524575"/>
            <a:ext cx="4115520" cy="1143000"/>
            <a:chOff x="4752722" y="2493178"/>
            <a:chExt cx="4115520" cy="1143000"/>
          </a:xfrm>
        </p:grpSpPr>
        <p:grpSp>
          <p:nvGrpSpPr>
            <p:cNvPr id="458" name="Google Shape;458;p22"/>
            <p:cNvGrpSpPr/>
            <p:nvPr/>
          </p:nvGrpSpPr>
          <p:grpSpPr>
            <a:xfrm>
              <a:off x="4752722" y="2493178"/>
              <a:ext cx="4115520" cy="1143000"/>
              <a:chOff x="4754400" y="2486998"/>
              <a:chExt cx="4115520" cy="1143000"/>
            </a:xfrm>
          </p:grpSpPr>
          <p:sp>
            <p:nvSpPr>
              <p:cNvPr id="459" name="Google Shape;459;p22"/>
              <p:cNvSpPr/>
              <p:nvPr/>
            </p:nvSpPr>
            <p:spPr>
              <a:xfrm>
                <a:off x="4754400" y="2486998"/>
                <a:ext cx="4115520" cy="1143000"/>
              </a:xfrm>
              <a:prstGeom prst="rect">
                <a:avLst/>
              </a:prstGeom>
              <a:solidFill>
                <a:srgbClr val="FFF8E1"/>
              </a:solidFill>
              <a:ln w="9525" cap="flat" cmpd="sng">
                <a:solidFill>
                  <a:srgbClr val="FFD54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800" b="0" i="0" u="none" strike="noStrike" cap="none">
                  <a:solidFill>
                    <a:srgbClr val="000000"/>
                  </a:solidFill>
                  <a:latin typeface="Arial"/>
                  <a:ea typeface="Arial"/>
                  <a:cs typeface="Arial"/>
                  <a:sym typeface="Arial"/>
                </a:endParaRPr>
              </a:p>
            </p:txBody>
          </p:sp>
          <p:sp>
            <p:nvSpPr>
              <p:cNvPr id="460" name="Google Shape;460;p22"/>
              <p:cNvSpPr/>
              <p:nvPr/>
            </p:nvSpPr>
            <p:spPr>
              <a:xfrm>
                <a:off x="4800960" y="2514600"/>
                <a:ext cx="365760" cy="457200"/>
              </a:xfrm>
              <a:prstGeom prst="rect">
                <a:avLst/>
              </a:prstGeom>
              <a:noFill/>
              <a:ln>
                <a:noFill/>
              </a:ln>
            </p:spPr>
            <p:txBody>
              <a:bodyPr spcFirstLastPara="1" wrap="square" lIns="91425" tIns="45700" rIns="0" bIns="0"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US" sz="3600" b="1" i="0" u="none" strike="noStrike" cap="none">
                    <a:solidFill>
                      <a:srgbClr val="F9A825"/>
                    </a:solidFill>
                    <a:latin typeface="Georgia"/>
                    <a:ea typeface="Georgia"/>
                    <a:cs typeface="Georgia"/>
                    <a:sym typeface="Georgia"/>
                  </a:rPr>
                  <a:t>“</a:t>
                </a:r>
                <a:endParaRPr/>
              </a:p>
            </p:txBody>
          </p:sp>
        </p:grpSp>
        <p:sp>
          <p:nvSpPr>
            <p:cNvPr id="461" name="Google Shape;461;p22"/>
            <p:cNvSpPr/>
            <p:nvPr/>
          </p:nvSpPr>
          <p:spPr>
            <a:xfrm>
              <a:off x="5164682" y="2638242"/>
              <a:ext cx="3612000" cy="965200"/>
            </a:xfrm>
            <a:prstGeom prst="rect">
              <a:avLst/>
            </a:prstGeom>
            <a:noFill/>
            <a:ln>
              <a:noFill/>
            </a:ln>
          </p:spPr>
          <p:txBody>
            <a:bodyPr spcFirstLastPara="1" wrap="square" lIns="0" tIns="0" rIns="91425" bIns="45700" anchor="t" anchorCtr="0">
              <a:noAutofit/>
            </a:bodyPr>
            <a:lstStyle/>
            <a:p>
              <a:pPr marL="0" marR="0" lvl="0" indent="0" algn="l" rtl="0">
                <a:lnSpc>
                  <a:spcPct val="120000"/>
                </a:lnSpc>
                <a:spcBef>
                  <a:spcPts val="0"/>
                </a:spcBef>
                <a:spcAft>
                  <a:spcPts val="0"/>
                </a:spcAft>
                <a:buClr>
                  <a:srgbClr val="000000"/>
                </a:buClr>
                <a:buSzPts val="1050"/>
                <a:buFont typeface="Arial"/>
                <a:buNone/>
              </a:pPr>
              <a:r>
                <a:rPr lang="en-US" sz="1050" b="0" i="1" u="none" strike="noStrike" cap="none">
                  <a:solidFill>
                    <a:srgbClr val="7A5800"/>
                  </a:solidFill>
                  <a:latin typeface="Georgia"/>
                  <a:ea typeface="Georgia"/>
                  <a:cs typeface="Georgia"/>
                  <a:sym typeface="Georgia"/>
                </a:rPr>
                <a:t>La mejor publicidad es la que hacen los clientes satisfechos. El marketing crea el contexto; la ubicación lo potencia.</a:t>
              </a:r>
              <a:endParaRPr/>
            </a:p>
            <a:p>
              <a:pPr marL="0" marR="0" lvl="0" indent="0" algn="l" rtl="0">
                <a:lnSpc>
                  <a:spcPct val="100000"/>
                </a:lnSpc>
                <a:spcBef>
                  <a:spcPts val="150"/>
                </a:spcBef>
                <a:spcAft>
                  <a:spcPts val="0"/>
                </a:spcAft>
                <a:buClr>
                  <a:srgbClr val="000000"/>
                </a:buClr>
                <a:buSzPts val="900"/>
                <a:buFont typeface="Arial"/>
                <a:buNone/>
              </a:pPr>
              <a:r>
                <a:rPr lang="en-US" sz="900" b="1" i="0" u="none" strike="noStrike" cap="none">
                  <a:solidFill>
                    <a:srgbClr val="F9A825"/>
                  </a:solidFill>
                  <a:latin typeface="Calibri"/>
                  <a:ea typeface="Calibri"/>
                  <a:cs typeface="Calibri"/>
                  <a:sym typeface="Calibri"/>
                </a:rPr>
                <a:t>— Philip Kotler</a:t>
              </a:r>
              <a:r>
                <a:rPr lang="en-US" sz="900" b="0" i="0" u="none" strike="noStrike" cap="none">
                  <a:solidFill>
                    <a:srgbClr val="9A7800"/>
                  </a:solidFill>
                  <a:latin typeface="Calibri"/>
                  <a:ea typeface="Calibri"/>
                  <a:cs typeface="Calibri"/>
                  <a:sym typeface="Calibri"/>
                </a:rPr>
                <a:t>  |  Padre del Marketing Moderno</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1848"/>
        </a:solidFill>
        <a:effectLst/>
      </p:bgPr>
    </p:bg>
    <p:spTree>
      <p:nvGrpSpPr>
        <p:cNvPr id="1" name="Shape 466"/>
        <p:cNvGrpSpPr/>
        <p:nvPr/>
      </p:nvGrpSpPr>
      <p:grpSpPr>
        <a:xfrm>
          <a:off x="0" y="0"/>
          <a:ext cx="0" cy="0"/>
          <a:chOff x="0" y="0"/>
          <a:chExt cx="0" cy="0"/>
        </a:xfrm>
      </p:grpSpPr>
      <p:sp>
        <p:nvSpPr>
          <p:cNvPr id="467" name="Google Shape;467;p23"/>
          <p:cNvSpPr/>
          <p:nvPr/>
        </p:nvSpPr>
        <p:spPr>
          <a:xfrm>
            <a:off x="0" y="0"/>
            <a:ext cx="164592" cy="5143500"/>
          </a:xfrm>
          <a:prstGeom prst="rect">
            <a:avLst/>
          </a:prstGeom>
          <a:solidFill>
            <a:srgbClr val="D8D8D8"/>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8" name="Google Shape;468;p23"/>
          <p:cNvSpPr/>
          <p:nvPr/>
        </p:nvSpPr>
        <p:spPr>
          <a:xfrm>
            <a:off x="7059168" y="-571500"/>
            <a:ext cx="2926080" cy="2926080"/>
          </a:xfrm>
          <a:prstGeom prst="ellipse">
            <a:avLst/>
          </a:prstGeom>
          <a:solidFill>
            <a:srgbClr val="1A2E6E">
              <a:alpha val="70196"/>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69" name="Google Shape;469;p23"/>
          <p:cNvSpPr/>
          <p:nvPr/>
        </p:nvSpPr>
        <p:spPr>
          <a:xfrm>
            <a:off x="8065008" y="3440431"/>
            <a:ext cx="1828800" cy="1828800"/>
          </a:xfrm>
          <a:prstGeom prst="ellipse">
            <a:avLst/>
          </a:prstGeom>
          <a:solidFill>
            <a:srgbClr val="0D2255">
              <a:alpha val="60000"/>
            </a:srgbClr>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70" name="Google Shape;470;p23"/>
          <p:cNvSpPr/>
          <p:nvPr/>
        </p:nvSpPr>
        <p:spPr>
          <a:xfrm>
            <a:off x="457200" y="1937388"/>
            <a:ext cx="7772400" cy="173736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4000" b="1" i="0" u="none" strike="noStrike" cap="none" dirty="0" err="1">
                <a:solidFill>
                  <a:srgbClr val="FFFFFF"/>
                </a:solidFill>
                <a:latin typeface="Calibri"/>
                <a:ea typeface="Calibri"/>
                <a:cs typeface="Calibri"/>
                <a:sym typeface="Calibri"/>
              </a:rPr>
              <a:t>Predicción</a:t>
            </a:r>
            <a:r>
              <a:rPr lang="en-US" sz="4000" b="1" i="0" u="none" strike="noStrike" cap="none" dirty="0">
                <a:solidFill>
                  <a:srgbClr val="FFFFFF"/>
                </a:solidFill>
                <a:latin typeface="Calibri"/>
                <a:ea typeface="Calibri"/>
                <a:cs typeface="Calibri"/>
                <a:sym typeface="Calibri"/>
              </a:rPr>
              <a:t> de Ventas</a:t>
            </a:r>
          </a:p>
          <a:p>
            <a:pPr marL="0" marR="0" lvl="0" indent="0" algn="l" rtl="0">
              <a:lnSpc>
                <a:spcPct val="100000"/>
              </a:lnSpc>
              <a:spcBef>
                <a:spcPts val="0"/>
              </a:spcBef>
              <a:spcAft>
                <a:spcPts val="0"/>
              </a:spcAft>
              <a:buNone/>
            </a:pPr>
            <a:endParaRPr sz="40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FFFFFF"/>
              </a:buClr>
              <a:buSzPts val="4200"/>
              <a:buFont typeface="Calibri"/>
              <a:buNone/>
            </a:pPr>
            <a:endParaRPr lang="es-EC" sz="4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FFFFFF"/>
              </a:buClr>
              <a:buSzPts val="4200"/>
              <a:buFont typeface="Calibri"/>
              <a:buNone/>
            </a:pPr>
            <a:endParaRPr sz="4200" b="0" i="0" u="none" strike="noStrike" cap="none" dirty="0">
              <a:solidFill>
                <a:schemeClr val="dk1"/>
              </a:solidFill>
              <a:latin typeface="Calibri"/>
              <a:ea typeface="Calibri"/>
              <a:cs typeface="Calibri"/>
              <a:sym typeface="Calibri"/>
            </a:endParaRPr>
          </a:p>
        </p:txBody>
      </p:sp>
      <p:sp>
        <p:nvSpPr>
          <p:cNvPr id="471" name="Google Shape;471;p23"/>
          <p:cNvSpPr/>
          <p:nvPr/>
        </p:nvSpPr>
        <p:spPr>
          <a:xfrm>
            <a:off x="457200" y="4892040"/>
            <a:ext cx="8229600" cy="18288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5A7AB5"/>
              </a:buClr>
              <a:buSzPts val="850"/>
              <a:buFont typeface="Calibri"/>
              <a:buNone/>
            </a:pPr>
            <a:r>
              <a:rPr lang="en-US" sz="850" b="0" i="0" u="none" strike="noStrike" cap="none">
                <a:solidFill>
                  <a:srgbClr val="5A7AB5"/>
                </a:solidFill>
                <a:latin typeface="Calibri"/>
                <a:ea typeface="Calibri"/>
                <a:cs typeface="Calibri"/>
                <a:sym typeface="Calibri"/>
              </a:rPr>
              <a:t>Hackaton 2026 • Machine Learning Aplicado al Retail</a:t>
            </a:r>
            <a:endParaRPr sz="850" b="0" i="0" u="none" strike="noStrike" cap="none">
              <a:solidFill>
                <a:schemeClr val="dk1"/>
              </a:solidFill>
              <a:latin typeface="Calibri"/>
              <a:ea typeface="Calibri"/>
              <a:cs typeface="Calibri"/>
              <a:sym typeface="Calibri"/>
            </a:endParaRPr>
          </a:p>
        </p:txBody>
      </p:sp>
      <p:sp>
        <p:nvSpPr>
          <p:cNvPr id="472" name="Google Shape;472;p23"/>
          <p:cNvSpPr/>
          <p:nvPr/>
        </p:nvSpPr>
        <p:spPr>
          <a:xfrm>
            <a:off x="530352" y="2988948"/>
            <a:ext cx="731520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00"/>
              <a:buFont typeface="Arial"/>
              <a:buNone/>
            </a:pPr>
            <a:endParaRPr lang="en-US" sz="1700" b="0" i="0" u="none" strike="noStrike" cap="none" dirty="0">
              <a:solidFill>
                <a:srgbClr val="A0B8C8"/>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endParaRPr lang="en-US" sz="1700" dirty="0">
              <a:solidFill>
                <a:srgbClr val="A0B8C8"/>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err="1">
                <a:solidFill>
                  <a:srgbClr val="A0B8C8"/>
                </a:solidFill>
                <a:latin typeface="Calibri"/>
                <a:ea typeface="Calibri"/>
                <a:cs typeface="Calibri"/>
                <a:sym typeface="Calibri"/>
              </a:rPr>
              <a:t>Autores</a:t>
            </a:r>
            <a:r>
              <a:rPr lang="en-US" sz="1700" b="0" i="0" u="none" strike="noStrike" cap="none" dirty="0">
                <a:solidFill>
                  <a:srgbClr val="A0B8C8"/>
                </a:solidFill>
                <a:latin typeface="Calibri"/>
                <a:ea typeface="Calibri"/>
                <a:cs typeface="Calibri"/>
                <a:sym typeface="Calibri"/>
              </a:rPr>
              <a:t>:</a:t>
            </a:r>
            <a:endParaRPr dirty="0"/>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a:solidFill>
                  <a:srgbClr val="A0B8C8"/>
                </a:solidFill>
                <a:latin typeface="Calibri"/>
                <a:ea typeface="Calibri"/>
                <a:cs typeface="Calibri"/>
                <a:sym typeface="Calibri"/>
              </a:rPr>
              <a:t>Morawski, Damaris Celeste</a:t>
            </a: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err="1">
                <a:solidFill>
                  <a:srgbClr val="A0B8C8"/>
                </a:solidFill>
                <a:latin typeface="Calibri"/>
                <a:ea typeface="Calibri"/>
                <a:cs typeface="Calibri"/>
                <a:sym typeface="Calibri"/>
              </a:rPr>
              <a:t>Arluna</a:t>
            </a:r>
            <a:r>
              <a:rPr lang="en-US" sz="1700" b="0" i="0" u="none" strike="noStrike" cap="none" dirty="0">
                <a:solidFill>
                  <a:srgbClr val="A0B8C8"/>
                </a:solidFill>
                <a:latin typeface="Calibri"/>
                <a:ea typeface="Calibri"/>
                <a:cs typeface="Calibri"/>
                <a:sym typeface="Calibri"/>
              </a:rPr>
              <a:t>, Gustavo</a:t>
            </a:r>
          </a:p>
          <a:p>
            <a:pPr marL="0" marR="0" lvl="0" indent="0" algn="l" rtl="0">
              <a:lnSpc>
                <a:spcPct val="100000"/>
              </a:lnSpc>
              <a:spcBef>
                <a:spcPts val="0"/>
              </a:spcBef>
              <a:spcAft>
                <a:spcPts val="0"/>
              </a:spcAft>
              <a:buClr>
                <a:srgbClr val="000000"/>
              </a:buClr>
              <a:buSzPts val="1700"/>
              <a:buFont typeface="Arial"/>
              <a:buNone/>
            </a:pPr>
            <a:r>
              <a:rPr lang="en-US" sz="1700" dirty="0">
                <a:solidFill>
                  <a:srgbClr val="A0B8C8"/>
                </a:solidFill>
                <a:latin typeface="Calibri"/>
                <a:ea typeface="Calibri"/>
                <a:cs typeface="Calibri"/>
                <a:sym typeface="Calibri"/>
              </a:rPr>
              <a:t>Reyna, Rolando</a:t>
            </a:r>
          </a:p>
          <a:p>
            <a:pPr marL="0" marR="0" lvl="0" indent="0" algn="l" rtl="0">
              <a:lnSpc>
                <a:spcPct val="100000"/>
              </a:lnSpc>
              <a:spcBef>
                <a:spcPts val="0"/>
              </a:spcBef>
              <a:spcAft>
                <a:spcPts val="0"/>
              </a:spcAft>
              <a:buClr>
                <a:srgbClr val="000000"/>
              </a:buClr>
              <a:buSzPts val="1700"/>
              <a:buFont typeface="Arial"/>
              <a:buNone/>
            </a:pPr>
            <a:r>
              <a:rPr lang="en-US" sz="1700" b="0" i="0" u="none" strike="noStrike" cap="none" dirty="0">
                <a:solidFill>
                  <a:srgbClr val="A0B8C8"/>
                </a:solidFill>
                <a:latin typeface="Calibri"/>
                <a:ea typeface="Calibri"/>
                <a:cs typeface="Calibri"/>
                <a:sym typeface="Calibri"/>
              </a:rPr>
              <a:t>Videla, Gustavo</a:t>
            </a:r>
            <a:endParaRPr sz="1700" b="0" i="0" u="none" strike="noStrike" cap="none" dirty="0">
              <a:solidFill>
                <a:srgbClr val="A0B8C8"/>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700"/>
              <a:buFont typeface="Arial"/>
              <a:buNone/>
            </a:pPr>
            <a:endParaRPr sz="1700" dirty="0">
              <a:solidFill>
                <a:srgbClr val="A0B8C8"/>
              </a:solidFill>
              <a:latin typeface="Calibri"/>
              <a:ea typeface="Calibri"/>
              <a:cs typeface="Calibri"/>
              <a:sym typeface="Calibri"/>
            </a:endParaRPr>
          </a:p>
        </p:txBody>
      </p:sp>
      <p:sp>
        <p:nvSpPr>
          <p:cNvPr id="473" name="Google Shape;473;p23"/>
          <p:cNvSpPr/>
          <p:nvPr/>
        </p:nvSpPr>
        <p:spPr>
          <a:xfrm>
            <a:off x="457200" y="1097280"/>
            <a:ext cx="54864" cy="2926080"/>
          </a:xfrm>
          <a:prstGeom prst="rect">
            <a:avLst/>
          </a:pr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4" name="Google Shape;474;p23"/>
          <p:cNvSpPr/>
          <p:nvPr/>
        </p:nvSpPr>
        <p:spPr>
          <a:xfrm>
            <a:off x="457200" y="4114800"/>
            <a:ext cx="8229600" cy="13716"/>
          </a:xfrm>
          <a:prstGeom prst="rect">
            <a:avLst/>
          </a:prstGeom>
          <a:solidFill>
            <a:srgbClr val="2A3E52"/>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4432</Words>
  <Application>Microsoft Office PowerPoint</Application>
  <PresentationFormat>Presentación en pantalla (16:9)</PresentationFormat>
  <Paragraphs>418</Paragraphs>
  <Slides>19</Slides>
  <Notes>19</Notes>
  <HiddenSlides>2</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Calibri</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PptxGenJS</dc:creator>
  <cp:lastModifiedBy>admin</cp:lastModifiedBy>
  <cp:revision>3</cp:revision>
  <dcterms:created xsi:type="dcterms:W3CDTF">2026-02-17T20:03:46Z</dcterms:created>
  <dcterms:modified xsi:type="dcterms:W3CDTF">2026-02-25T20:49:52Z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c8d6ef0-491d-4f17-aead-12ed260929f1_Enabled">
    <vt:lpwstr>true</vt:lpwstr>
  </property>
  <property fmtid="{D5CDD505-2E9C-101B-9397-08002B2CF9AE}" pid="3" name="MSIP_Label_4c8d6ef0-491d-4f17-aead-12ed260929f1_SetDate">
    <vt:lpwstr>2026-02-25T18:13:00Z</vt:lpwstr>
  </property>
  <property fmtid="{D5CDD505-2E9C-101B-9397-08002B2CF9AE}" pid="4" name="MSIP_Label_4c8d6ef0-491d-4f17-aead-12ed260929f1_Method">
    <vt:lpwstr>Standard</vt:lpwstr>
  </property>
  <property fmtid="{D5CDD505-2E9C-101B-9397-08002B2CF9AE}" pid="5" name="MSIP_Label_4c8d6ef0-491d-4f17-aead-12ed260929f1_Name">
    <vt:lpwstr>Internal</vt:lpwstr>
  </property>
  <property fmtid="{D5CDD505-2E9C-101B-9397-08002B2CF9AE}" pid="6" name="MSIP_Label_4c8d6ef0-491d-4f17-aead-12ed260929f1_SiteId">
    <vt:lpwstr>f101208c-39d3-4c8a-8cc7-ad896b25954f</vt:lpwstr>
  </property>
  <property fmtid="{D5CDD505-2E9C-101B-9397-08002B2CF9AE}" pid="7" name="MSIP_Label_4c8d6ef0-491d-4f17-aead-12ed260929f1_ActionId">
    <vt:lpwstr>945e2b36-45ad-4e81-be1b-2bf4af86b1b1</vt:lpwstr>
  </property>
  <property fmtid="{D5CDD505-2E9C-101B-9397-08002B2CF9AE}" pid="8" name="MSIP_Label_4c8d6ef0-491d-4f17-aead-12ed260929f1_ContentBits">
    <vt:lpwstr>2</vt:lpwstr>
  </property>
  <property fmtid="{D5CDD505-2E9C-101B-9397-08002B2CF9AE}" pid="9" name="MSIP_Label_4c8d6ef0-491d-4f17-aead-12ed260929f1_Tag">
    <vt:lpwstr>10, 3, 0, 1</vt:lpwstr>
  </property>
  <property fmtid="{D5CDD505-2E9C-101B-9397-08002B2CF9AE}" pid="10" name="ClassificationContentMarkingFooterLocations">
    <vt:lpwstr>Office Theme:3</vt:lpwstr>
  </property>
  <property fmtid="{D5CDD505-2E9C-101B-9397-08002B2CF9AE}" pid="11" name="ClassificationContentMarkingFooterText">
    <vt:lpwstr>ESSITY INTERNAL</vt:lpwstr>
  </property>
</Properties>
</file>