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bR3EabFiPkoQHhxv3VjFvcuEBz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14FBB0-4828-4D77-9EB4-C81A93320AC9}">
  <a:tblStyle styleId="{CB14FBB0-4828-4D77-9EB4-C81A93320AC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lang="en-US" sz="1200"/>
              <a:t>El problema que se busca abordar es la dificultad de estimar las ventas futuras de un negocio antes de invertir en él. Muchas decisiones de apertura de locales o franquicias se toman con información limitada, lo que incrementa el riesgo financiero. El proyecto propone desarrollar un modelo de Machine Learning que permita predecir ventas en función de variables comerciales y contextuales.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El dataset tiene 20 variables originales porpias del Dataset pero al procesarlas para el modelo se convierten en 30 features debido al encoding de las variables categóricas (Dummies)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Clr>
                <a:schemeClr val="dk1"/>
              </a:buClr>
              <a:buSzPts val="1100"/>
              <a:buFont typeface="Arial"/>
              <a:buNone/>
            </a:pPr>
            <a:r>
              <a:rPr lang="en-US" sz="1200"/>
              <a:t>¿Por qué predecir Ventas y no EBITDA?</a:t>
            </a:r>
            <a:endParaRPr/>
          </a:p>
          <a:p>
            <a:pPr indent="0" lvl="0" marL="0" rtl="0" algn="l">
              <a:lnSpc>
                <a:spcPct val="100000"/>
              </a:lnSpc>
              <a:spcBef>
                <a:spcPts val="0"/>
              </a:spcBef>
              <a:spcAft>
                <a:spcPts val="0"/>
              </a:spcAft>
              <a:buClr>
                <a:schemeClr val="dk1"/>
              </a:buClr>
              <a:buSzPts val="1100"/>
              <a:buFont typeface="Arial"/>
              <a:buNone/>
            </a:pPr>
            <a:r>
              <a:rPr lang="en-US" sz="1200"/>
              <a:t>Elegimos ventas porque es el primer eslabón de la cadena de valor  Sin embargo, reconocemos que la rentabilidad es el objetivo final.</a:t>
            </a:r>
            <a:endParaRPr/>
          </a:p>
          <a:p>
            <a:pPr indent="0" lvl="0" marL="0" rtl="0" algn="l">
              <a:lnSpc>
                <a:spcPct val="100000"/>
              </a:lnSpc>
              <a:spcBef>
                <a:spcPts val="0"/>
              </a:spcBef>
              <a:spcAft>
                <a:spcPts val="0"/>
              </a:spcAft>
              <a:buClr>
                <a:schemeClr val="dk1"/>
              </a:buClr>
              <a:buSzPts val="1100"/>
              <a:buFont typeface="Arial"/>
              <a:buNone/>
            </a:pPr>
            <a:r>
              <a:rPr lang="en-US" sz="1200"/>
              <a:t>Solución: Como extensión, desarrollaremos un segundo modelo que estime el margen EBITDA por rubro y ubicación, y lo integraremos para que el usuario pueda calcular su EBITDA proyectado a partir de la predicción de ventas y sus costos estimados. Incluso podríamos ofrecer una calculadora de punto de equilibrio.</a:t>
            </a:r>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 Hipotesis del modelo: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H1: Mayor antigüedad del negocio se asocia con mayores ventas.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H2: Ubicaciones con mayor flujo de personas generan mayores ventas.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H3: Un margen adecuado combinado con buen marketing incrementa ventas.</a:t>
            </a:r>
            <a:br>
              <a:rPr lang="en-US" sz="1200">
                <a:solidFill>
                  <a:schemeClr val="dk1"/>
                </a:solidFill>
              </a:rPr>
            </a:br>
            <a:r>
              <a:rPr lang="en-US" sz="1200">
                <a:solidFill>
                  <a:schemeClr val="dk1"/>
                </a:solidFill>
              </a:rPr>
              <a:t>H4: La relación entre variables no es completamente lineal.</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2: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158750" marR="0" rtl="0" algn="l">
              <a:lnSpc>
                <a:spcPct val="100000"/>
              </a:lnSpc>
              <a:spcBef>
                <a:spcPts val="0"/>
              </a:spcBef>
              <a:spcAft>
                <a:spcPts val="0"/>
              </a:spcAft>
              <a:buClr>
                <a:srgbClr val="000000"/>
              </a:buClr>
              <a:buSzPts val="1100"/>
              <a:buFont typeface="Arial"/>
              <a:buNone/>
            </a:pPr>
            <a:r>
              <a:rPr lang="en-US"/>
              <a:t>La tasa de supervivencia empresarial a 5 años en Latinoamérica ronda el 30–50 % está sustentado en benchmarks técnicos utilizados por organismos como la </a:t>
            </a:r>
            <a:r>
              <a:rPr i="1" lang="en-US"/>
              <a:t>OECD (</a:t>
            </a:r>
            <a:r>
              <a:rPr lang="en-US"/>
              <a:t>Organización para la Cooperación y el Desarrollo Económicos) </a:t>
            </a:r>
            <a:r>
              <a:rPr i="1" lang="en-US"/>
              <a:t>/CAF ( Banco de desarrollo de America latina y Caribe) </a:t>
            </a:r>
            <a:r>
              <a:rPr lang="en-US"/>
              <a:t>, que comparan tasas de supervivencia empresarial entre países.</a:t>
            </a:r>
            <a:br>
              <a:rPr lang="en-US"/>
            </a:br>
            <a:r>
              <a:rPr lang="en-US"/>
              <a:t>En Argentina, los números locales (CAME) muestran supervivencias aún menores, lo que explica por qué factores como </a:t>
            </a:r>
            <a:r>
              <a:rPr b="1" lang="en-US"/>
              <a:t>rubro y ubicación</a:t>
            </a:r>
            <a:r>
              <a:rPr lang="en-US"/>
              <a:t> —variables de mi modelo— son claves para predecir el desempeño de nuevos locales</a:t>
            </a:r>
            <a:endParaRPr/>
          </a:p>
          <a:p>
            <a:pPr indent="0" lvl="0" marL="158750" rtl="0" algn="l">
              <a:lnSpc>
                <a:spcPct val="100000"/>
              </a:lnSpc>
              <a:spcBef>
                <a:spcPts val="0"/>
              </a:spcBef>
              <a:spcAft>
                <a:spcPts val="0"/>
              </a:spcAft>
              <a:buSzPts val="1100"/>
              <a:buNone/>
            </a:pPr>
            <a:r>
              <a:t/>
            </a:r>
            <a:endParaRPr/>
          </a:p>
          <a:p>
            <a:pPr indent="0" lvl="0" marL="158750" rtl="0" algn="l">
              <a:lnSpc>
                <a:spcPct val="100000"/>
              </a:lnSpc>
              <a:spcBef>
                <a:spcPts val="0"/>
              </a:spcBef>
              <a:spcAft>
                <a:spcPts val="0"/>
              </a:spcAft>
              <a:buSzPts val="1100"/>
              <a:buNone/>
            </a:pPr>
            <a:r>
              <a:rPr lang="en-US"/>
              <a:t>La literatura en entrepreneurship identifica </a:t>
            </a:r>
            <a:r>
              <a:rPr b="1" lang="en-US"/>
              <a:t>ubicación, segmentación de mercado y adecuación del rubro</a:t>
            </a:r>
            <a:r>
              <a:rPr lang="en-US"/>
              <a:t> como determinantes clave de fracaso temprano.</a:t>
            </a:r>
            <a:endParaRPr/>
          </a:p>
          <a:p>
            <a:pPr indent="0" lvl="0" marL="158750" rtl="0" algn="l">
              <a:lnSpc>
                <a:spcPct val="100000"/>
              </a:lnSpc>
              <a:spcBef>
                <a:spcPts val="0"/>
              </a:spcBef>
              <a:spcAft>
                <a:spcPts val="0"/>
              </a:spcAft>
              <a:buSzPts val="1100"/>
              <a:buNone/>
            </a:pPr>
            <a:r>
              <a:rPr lang="en-US"/>
              <a:t>Por eso tu modelo incorpora variables como:</a:t>
            </a:r>
            <a:endParaRPr/>
          </a:p>
          <a:p>
            <a:pPr indent="-298450" lvl="1" marL="914400" rtl="0" algn="l">
              <a:lnSpc>
                <a:spcPct val="100000"/>
              </a:lnSpc>
              <a:spcBef>
                <a:spcPts val="0"/>
              </a:spcBef>
              <a:spcAft>
                <a:spcPts val="0"/>
              </a:spcAft>
              <a:buSzPts val="1100"/>
              <a:buChar char="○"/>
            </a:pPr>
            <a:r>
              <a:rPr lang="en-US"/>
              <a:t>Zona / tipo de ubicación</a:t>
            </a:r>
            <a:endParaRPr/>
          </a:p>
          <a:p>
            <a:pPr indent="-298450" lvl="1" marL="914400" rtl="0" algn="l">
              <a:lnSpc>
                <a:spcPct val="100000"/>
              </a:lnSpc>
              <a:spcBef>
                <a:spcPts val="0"/>
              </a:spcBef>
              <a:spcAft>
                <a:spcPts val="0"/>
              </a:spcAft>
              <a:buSzPts val="1100"/>
              <a:buChar char="○"/>
            </a:pPr>
            <a:r>
              <a:rPr lang="en-US"/>
              <a:t>Nivel socioeconómico</a:t>
            </a:r>
            <a:endParaRPr/>
          </a:p>
          <a:p>
            <a:pPr indent="-298450" lvl="1" marL="914400" rtl="0" algn="l">
              <a:lnSpc>
                <a:spcPct val="100000"/>
              </a:lnSpc>
              <a:spcBef>
                <a:spcPts val="0"/>
              </a:spcBef>
              <a:spcAft>
                <a:spcPts val="0"/>
              </a:spcAft>
              <a:buSzPts val="1100"/>
              <a:buChar char="○"/>
            </a:pPr>
            <a:r>
              <a:rPr lang="en-US"/>
              <a:t>Tipo de centro comercial vs calle</a:t>
            </a:r>
            <a:endParaRPr/>
          </a:p>
          <a:p>
            <a:pPr indent="-298450" lvl="1" marL="914400" rtl="0" algn="l">
              <a:lnSpc>
                <a:spcPct val="100000"/>
              </a:lnSpc>
              <a:spcBef>
                <a:spcPts val="0"/>
              </a:spcBef>
              <a:spcAft>
                <a:spcPts val="0"/>
              </a:spcAft>
              <a:buSzPts val="1100"/>
              <a:buChar char="○"/>
            </a:pPr>
            <a:r>
              <a:rPr lang="en-US"/>
              <a:t>Rubro</a:t>
            </a:r>
            <a:endParaRPr/>
          </a:p>
          <a:p>
            <a:pPr indent="-228600" lvl="1" marL="914400" rtl="0" algn="l">
              <a:lnSpc>
                <a:spcPct val="100000"/>
              </a:lnSpc>
              <a:spcBef>
                <a:spcPts val="0"/>
              </a:spcBef>
              <a:spcAft>
                <a:spcPts val="0"/>
              </a:spcAft>
              <a:buSzPts val="1100"/>
              <a:buNone/>
            </a:pPr>
            <a:r>
              <a:t/>
            </a:r>
            <a:endParaRPr/>
          </a:p>
          <a:p>
            <a:pPr indent="0" lvl="1" marL="615950" rtl="0" algn="l">
              <a:lnSpc>
                <a:spcPct val="100000"/>
              </a:lnSpc>
              <a:spcBef>
                <a:spcPts val="0"/>
              </a:spcBef>
              <a:spcAft>
                <a:spcPts val="0"/>
              </a:spcAft>
              <a:buSzPts val="1100"/>
              <a:buNone/>
            </a:pPr>
            <a:r>
              <a:rPr lang="en-US"/>
              <a:t>Me baso en estudios publicados en revistas líderes sobre emprendimiento —como </a:t>
            </a:r>
            <a:r>
              <a:rPr i="1" lang="en-US"/>
              <a:t>Journal of Business Venturing</a:t>
            </a:r>
            <a:r>
              <a:rPr lang="en-US"/>
              <a:t>, </a:t>
            </a:r>
            <a:r>
              <a:rPr i="1" lang="en-US"/>
              <a:t>Entrepreneurship Theory and Practice</a:t>
            </a:r>
            <a:r>
              <a:rPr lang="en-US"/>
              <a:t> y </a:t>
            </a:r>
            <a:r>
              <a:rPr i="1" lang="en-US"/>
              <a:t>Small Business Economics</a:t>
            </a:r>
            <a:r>
              <a:rPr lang="en-US"/>
              <a:t>— que investigan las causas del fracaso empresarial. La literatura académica revisada (p. ej., Zambrano Farias et al., 2021) identifica sistemáticamente que variables estructurales como ubicación, adecuación al mercado y elección de rubro están asociadas con probabilidad de fracaso temprano.” </a:t>
            </a:r>
            <a:endParaRPr/>
          </a:p>
          <a:p>
            <a:pPr indent="0" lvl="0" marL="15875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b="1"/>
          </a:p>
        </p:txBody>
      </p:sp>
      <p:sp>
        <p:nvSpPr>
          <p:cNvPr id="34" name="Google Shape;34;p2: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dk1"/>
                </a:solidFill>
              </a:rPr>
              <a:t>La estimación precisa de ventas es clave para:</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Evaluar la rentabilidad potencial de un negocio.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Reducir riesgo de inversión.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Determinar ubicaciones óptimas para franquicias.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Presentar proyecciones fundamentadas ante entidades financieras.</a:t>
            </a:r>
            <a:endParaRPr sz="1100">
              <a:solidFill>
                <a:schemeClr val="dk1"/>
              </a:solidFill>
            </a:endParaRPr>
          </a:p>
          <a:p>
            <a:pPr indent="0" lvl="0" marL="0" rtl="0" algn="l">
              <a:lnSpc>
                <a:spcPct val="115000"/>
              </a:lnSpc>
              <a:spcBef>
                <a:spcPts val="1200"/>
              </a:spcBef>
              <a:spcAft>
                <a:spcPts val="1200"/>
              </a:spcAft>
              <a:buSzPts val="1100"/>
              <a:buNone/>
            </a:pPr>
            <a:r>
              <a:rPr lang="en-US" sz="1100">
                <a:solidFill>
                  <a:schemeClr val="dk1"/>
                </a:solidFill>
              </a:rPr>
              <a:t>Un modelo predictivo aporta soporte cuantitativo a decisiones estratégicas.</a:t>
            </a:r>
            <a:endParaRPr sz="1200">
              <a:solidFill>
                <a:schemeClr val="dk1"/>
              </a:solidFill>
            </a:endParaRPr>
          </a:p>
        </p:txBody>
      </p:sp>
      <p:sp>
        <p:nvSpPr>
          <p:cNvPr id="57" name="Google Shape;5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Naturaleza de los outliers dataset</a:t>
            </a:r>
            <a:endParaRPr sz="1200">
              <a:solidFill>
                <a:schemeClr val="dk1"/>
              </a:solidFill>
            </a:endParaRPr>
          </a:p>
          <a:p>
            <a:pPr indent="0" lvl="0" marL="0" marR="0" rtl="0" algn="l">
              <a:lnSpc>
                <a:spcPct val="100000"/>
              </a:lnSpc>
              <a:spcBef>
                <a:spcPts val="0"/>
              </a:spcBef>
              <a:spcAft>
                <a:spcPts val="0"/>
              </a:spcAft>
              <a:buSzPts val="1100"/>
              <a:buNone/>
            </a:pPr>
            <a:r>
              <a:rPr lang="en-US" sz="1200">
                <a:solidFill>
                  <a:schemeClr val="dk1"/>
                </a:solidFill>
              </a:rPr>
              <a:t>Los outliers detectados (en inversión CAPEX, marketing, alquiler, ventas) corresponden a locales premium legítimos: shoppings de lujo, grandes superficies, rubros de alta gama. Estos casos extremos son parte del fenómeno real y contienen información valiosa sobre la relación entre variables en el extremo superior del mercado.</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Outliers Detectados</a:t>
            </a:r>
            <a:br>
              <a:rPr b="0" lang="en-US" sz="1200">
                <a:solidFill>
                  <a:schemeClr val="dk1"/>
                </a:solidFill>
                <a:latin typeface="Arial"/>
                <a:ea typeface="Arial"/>
                <a:cs typeface="Arial"/>
                <a:sym typeface="Arial"/>
              </a:rPr>
            </a:br>
            <a:endParaRPr b="0"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#Inversión CAPEX: 108 outliers → Algunos locales invierten mucho más (locales premium)</a:t>
            </a:r>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#Marketing: 128 outliers → Estrategias agresivas de marketing</a:t>
            </a:r>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#Alquiler: 101 outliers → Locales en ubicaciones premium (shopping de lujo)</a:t>
            </a:r>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#Ticket Promedio: 40 outliers → Negocios de alta gama (joyerías, tecnología)</a:t>
            </a:r>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#Ventas: 66 outliers → Los locales top performers</a:t>
            </a:r>
            <a:endParaRPr b="0"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b="0" lang="en-US" sz="1200">
                <a:solidFill>
                  <a:schemeClr val="dk1"/>
                </a:solidFill>
                <a:latin typeface="Arial"/>
                <a:ea typeface="Arial"/>
                <a:cs typeface="Arial"/>
                <a:sym typeface="Arial"/>
              </a:rPr>
              <a:t>#No los eliminaremos - ya que son casos de negocio legítimos (ej: una joyería en shopping ABC1 tendrá ventas muy superiores al promedio).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79" name="Google Shape;7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a65b628b7_1_0:notes"/>
          <p:cNvSpPr/>
          <p:nvPr>
            <p:ph idx="2" type="sldImg"/>
          </p:nvPr>
        </p:nvSpPr>
        <p:spPr>
          <a:xfrm>
            <a:off x="-47625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3ca65b628b7_1_0:notes"/>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Solo mostrar si cuestionan </a:t>
            </a:r>
            <a:r>
              <a:rPr lang="en-US" sz="1200">
                <a:solidFill>
                  <a:schemeClr val="dk1"/>
                </a:solidFill>
              </a:rPr>
              <a:t>¿Cómo impactan esos outliers en el rendimiento de nuestros modelos, especialmente en el KNN? ya que como el KNN es muy sensible a la escala y a los outliers.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Conclusión: Los outliers son información valiosa y legítima. Random Forest ya es robusto a ellos (R² original 82.9%). Eliminarlos empobrece el modelo porque pierde capacidad de predecir los casos extremos, que son justamente los de mayor interés comercial.</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Decisión: Mantenemos los outliers y aplicamos transformación logarítmica a la variable objetivo para comprimir la escala y mejorar la estabilidad sin perder información. Validamos que el modelo mantiene R² &gt; 80% en todos los segmentos.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None/>
            </a:pPr>
            <a:r>
              <a:rPr lang="en-US">
                <a:solidFill>
                  <a:schemeClr val="dk1"/>
                </a:solidFill>
              </a:rPr>
              <a:t>A</a:t>
            </a:r>
            <a:r>
              <a:rPr lang="en-US"/>
              <a:t>ntes de modelar, analizamos cómo se comportan las ventas en términos generales. Esto nos permite entender dispersión, sesgo y diferencias estructurales entre rubros, La media es ligeramente superior a la mediana, lo que indica una distribución asimétrica positiva: existen algunos locales con ventas muy altas que elevan el promedio, el rango es amplio — desde 115 mil hasta 1.8 millones — lo que confirma alta heterogeneidad en desempeño, La mayoría de los locales se concentra entre 300 mil y 700 mil dólares anuales. Sin embargo, existe una cola derecha que refleja casos de alto desempeño.</a:t>
            </a:r>
            <a:endParaRPr/>
          </a:p>
          <a:p>
            <a:pPr indent="0" lvl="0" marL="158750" rtl="0" algn="l">
              <a:lnSpc>
                <a:spcPct val="100000"/>
              </a:lnSpc>
              <a:spcBef>
                <a:spcPts val="0"/>
              </a:spcBef>
              <a:spcAft>
                <a:spcPts val="0"/>
              </a:spcAft>
              <a:buSzPts val="1100"/>
              <a:buNone/>
            </a:pPr>
            <a:r>
              <a:rPr lang="en-US"/>
              <a:t>Observamos diferencias estructurales entre categorías. Tecnología y Farmacia lideran el promedio de ventas, mientras que rubros como Petshop o Librería operan en niveles significativamente menores. Esto te permite decir  El rubro establece un techo estructural de ingresos. No es solo ubicación: el sector condiciona el potencial máximo</a:t>
            </a:r>
            <a:endParaRPr/>
          </a:p>
          <a:p>
            <a:pPr indent="-228600" lvl="0" marL="457200" rtl="0" algn="l">
              <a:lnSpc>
                <a:spcPct val="115000"/>
              </a:lnSpc>
              <a:spcBef>
                <a:spcPts val="1200"/>
              </a:spcBef>
              <a:spcAft>
                <a:spcPts val="0"/>
              </a:spcAft>
              <a:buClr>
                <a:schemeClr val="dk1"/>
              </a:buClr>
              <a:buSzPts val="1100"/>
              <a:buNone/>
            </a:pPr>
            <a:r>
              <a:rPr lang="en-US">
                <a:solidFill>
                  <a:schemeClr val="dk1"/>
                </a:solidFill>
              </a:rPr>
              <a:t>Posibiles análisis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Análisis exploratorio de datos (EDA)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Matriz de correlación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Validaciones cruzadas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Modelos de regresión supervisada:</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K-Nearest Neighbors (KNN)</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Random Forest</a:t>
            </a:r>
            <a:endParaRPr sz="1100">
              <a:solidFill>
                <a:schemeClr val="dk1"/>
              </a:solidFill>
            </a:endParaRPr>
          </a:p>
          <a:p>
            <a:pPr indent="-298450" lvl="1" marL="914400" rtl="0" algn="l">
              <a:lnSpc>
                <a:spcPct val="115000"/>
              </a:lnSpc>
              <a:spcBef>
                <a:spcPts val="0"/>
              </a:spcBef>
              <a:spcAft>
                <a:spcPts val="0"/>
              </a:spcAft>
              <a:buClr>
                <a:schemeClr val="dk1"/>
              </a:buClr>
              <a:buSzPts val="1100"/>
              <a:buChar char="○"/>
            </a:pPr>
            <a:r>
              <a:rPr lang="en-US" sz="1100">
                <a:solidFill>
                  <a:schemeClr val="dk1"/>
                </a:solidFill>
              </a:rPr>
              <a:t>Regresión Lineal (como baseline)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Evaluación con métricas: MAE, RMSE y R²</a:t>
            </a:r>
            <a:endParaRPr sz="1100">
              <a:solidFill>
                <a:schemeClr val="dk1"/>
              </a:solidFill>
            </a:endParaRPr>
          </a:p>
          <a:p>
            <a:pPr indent="0" lvl="0" marL="0" rtl="0" algn="l">
              <a:lnSpc>
                <a:spcPct val="115000"/>
              </a:lnSpc>
              <a:spcBef>
                <a:spcPts val="1200"/>
              </a:spcBef>
              <a:spcAft>
                <a:spcPts val="0"/>
              </a:spcAft>
              <a:buSzPts val="1100"/>
              <a:buNone/>
            </a:pPr>
            <a:r>
              <a:rPr lang="en-US" sz="1100">
                <a:solidFill>
                  <a:schemeClr val="dk1"/>
                </a:solidFill>
              </a:rPr>
              <a:t>si pregunta porque no una Red Neuronal!!</a:t>
            </a:r>
            <a:endParaRPr sz="1100">
              <a:solidFill>
                <a:schemeClr val="dk1"/>
              </a:solidFill>
            </a:endParaRPr>
          </a:p>
          <a:p>
            <a:pPr indent="0" lvl="0" marL="0" rtl="0" algn="l">
              <a:lnSpc>
                <a:spcPct val="115000"/>
              </a:lnSpc>
              <a:spcBef>
                <a:spcPts val="1200"/>
              </a:spcBef>
              <a:spcAft>
                <a:spcPts val="1200"/>
              </a:spcAft>
              <a:buSzPts val="1100"/>
              <a:buNone/>
            </a:pPr>
            <a:r>
              <a:rPr lang="en-US" sz="1100">
                <a:solidFill>
                  <a:schemeClr val="dk1"/>
                </a:solidFill>
              </a:rPr>
              <a:t>Las RNN son modelos diseñados para capturar dependencias temporales en datos secuenciales. En este proyecto, el objetivo no es modelar una serie temporal de ventas históricas de un mismo negocio, sino predecir ventas en función de variables estructurales y comerciales comparables entre distintos casos. Por lo tanto, el problema se ajusta mejor a modelos supervisados de regresión para datos tabulares como Random Forest o KNN</a:t>
            </a:r>
            <a:endParaRPr sz="1100">
              <a:solidFill>
                <a:schemeClr val="dk1"/>
              </a:solidFill>
            </a:endParaRPr>
          </a:p>
        </p:txBody>
      </p:sp>
      <p:sp>
        <p:nvSpPr>
          <p:cNvPr id="133" name="Google Shape;13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159" name="Google Shape;15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71" name="Google Shape;17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90" name="Google Shape;19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t>En esta sección analizamos qué variables realmente explican las diferencias de desempeño entre locales.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El tránsito (0,123) muestra una correlación positiva, aunque moderada. Esto indica que mayor flujo ayuda, pero no garantiza ventas altas por sí solo. Es una condición necesaria, pero no suficiente</a:t>
            </a:r>
            <a:endParaRPr/>
          </a:p>
          <a:p>
            <a:pPr indent="0" lvl="0" marL="0" marR="0" rtl="0" algn="l">
              <a:lnSpc>
                <a:spcPct val="100000"/>
              </a:lnSpc>
              <a:spcBef>
                <a:spcPts val="0"/>
              </a:spcBef>
              <a:spcAft>
                <a:spcPts val="0"/>
              </a:spcAft>
              <a:buSzPts val="1100"/>
              <a:buNone/>
            </a:pPr>
            <a:r>
              <a:rPr lang="en-US" sz="1200"/>
              <a:t>Distnacia al ancla observamos una relación negativa clara (-0,307) : a mayor distancia del ancla, menores ventas. Esto confirma la importancia de las economías de aglomeración. La cercanía potencia la captación de demanda</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La densidad poblacional muestra relación negativa (-0,302). Esto puede parecer contraintuitivo, pero sugiere que en zonas extremadamente densas puede existir mayor competencia o saturación comercial y esta relacionado con nivel de facturación zonas D1 mas venta pero mas humides/ Precarias </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EBITDA </a:t>
            </a:r>
            <a:r>
              <a:rPr lang="en-US" sz="1200"/>
              <a:t>El rubro introduce una diferencia estructural en el techo de rentabilidad. A igual ubicación y tránsito, el margen cambia significativamente según la categoría. “Esto valida que la elección del rubro no es secundaria: condiciona tanto el nivel de ventas como la rentabilidad final.”</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Los resultados muestran que el desempeño no depende de un único factor, sino de la interacción entre ubicación estratégica y adecuación del rubro. El modelo captura precisamente esa combinación</a:t>
            </a:r>
            <a:endParaRPr sz="1200">
              <a:solidFill>
                <a:schemeClr val="dk1"/>
              </a:solidFill>
              <a:latin typeface="Arial"/>
              <a:ea typeface="Arial"/>
              <a:cs typeface="Arial"/>
              <a:sym typeface="Arial"/>
            </a:endParaRPr>
          </a:p>
        </p:txBody>
      </p:sp>
      <p:sp>
        <p:nvSpPr>
          <p:cNvPr id="206" name="Google Shape;20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¿Qué variables influyen más en el nivel de ventas?</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¿Existe relación positiva entre antigüedad y ventas</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¿Cómo impacta la ubicación en el desempeño comercial?</a:t>
            </a:r>
            <a:endParaRPr b="1"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US" sz="1200">
                <a:solidFill>
                  <a:schemeClr val="dk1"/>
                </a:solidFill>
              </a:rPr>
              <a:t>¿Qué nivel de marketing mejora significativamente las ventas?</a:t>
            </a:r>
            <a:endParaRPr b="1" sz="1200">
              <a:solidFill>
                <a:schemeClr val="dk1"/>
              </a:solidFill>
            </a:endParaRPr>
          </a:p>
          <a:p>
            <a:pPr indent="0" lvl="0" marL="0" rtl="0" algn="l">
              <a:lnSpc>
                <a:spcPct val="100000"/>
              </a:lnSpc>
              <a:spcBef>
                <a:spcPts val="0"/>
              </a:spcBef>
              <a:spcAft>
                <a:spcPts val="0"/>
              </a:spcAft>
              <a:buSzPts val="1100"/>
              <a:buNone/>
            </a:pPr>
            <a:r>
              <a:rPr b="1" lang="en-US" sz="1200">
                <a:solidFill>
                  <a:schemeClr val="dk1"/>
                </a:solidFill>
              </a:rPr>
              <a:t>¿Cuál modelo ofrece mejor capacidad predictiva?</a:t>
            </a:r>
            <a:endParaRPr b="1" sz="1200">
              <a:solidFill>
                <a:schemeClr val="dk1"/>
              </a:solidFill>
            </a:endParaRPr>
          </a:p>
          <a:p>
            <a:pPr indent="0" lvl="0" marL="0" marR="0" rtl="0" algn="l">
              <a:lnSpc>
                <a:spcPct val="100000"/>
              </a:lnSpc>
              <a:spcBef>
                <a:spcPts val="0"/>
              </a:spcBef>
              <a:spcAft>
                <a:spcPts val="0"/>
              </a:spcAft>
              <a:buSzPts val="1100"/>
              <a:buNone/>
            </a:pPr>
            <a:r>
              <a:t/>
            </a:r>
            <a:endParaRPr b="1" sz="1200">
              <a:solidFill>
                <a:schemeClr val="dk1"/>
              </a:solidFill>
            </a:endParaRPr>
          </a:p>
          <a:p>
            <a:pPr indent="0" lvl="0" marL="0" marR="0" rtl="0" algn="l">
              <a:lnSpc>
                <a:spcPct val="100000"/>
              </a:lnSpc>
              <a:spcBef>
                <a:spcPts val="0"/>
              </a:spcBef>
              <a:spcAft>
                <a:spcPts val="0"/>
              </a:spcAft>
              <a:buSzPts val="1100"/>
              <a:buNone/>
            </a:pPr>
            <a:r>
              <a:rPr b="1" lang="en-US" sz="1200">
                <a:solidFill>
                  <a:schemeClr val="dk1"/>
                </a:solidFill>
              </a:rPr>
              <a:t>El</a:t>
            </a:r>
            <a:r>
              <a:rPr b="1" lang="en-US" sz="1200">
                <a:solidFill>
                  <a:schemeClr val="dk1"/>
                </a:solidFill>
                <a:latin typeface="Arial"/>
                <a:ea typeface="Arial"/>
                <a:cs typeface="Arial"/>
                <a:sym typeface="Arial"/>
              </a:rPr>
              <a:t> eje horizontal (Valor de K):</a:t>
            </a:r>
            <a:r>
              <a:rPr lang="en-US" sz="1200">
                <a:solidFill>
                  <a:schemeClr val="dk1"/>
                </a:solidFill>
                <a:latin typeface="Arial"/>
                <a:ea typeface="Arial"/>
                <a:cs typeface="Arial"/>
                <a:sym typeface="Arial"/>
              </a:rPr>
              <a:t> Representa el número de "vecinos" que el modelo consulta para tomar una decisión. Probaste desde $K=1$ hasta $K=30$.</a:t>
            </a:r>
            <a:endParaRPr/>
          </a:p>
          <a:p>
            <a:pPr indent="0" lvl="0" marL="0" marR="0" rtl="0" algn="l">
              <a:lnSpc>
                <a:spcPct val="100000"/>
              </a:lnSpc>
              <a:spcBef>
                <a:spcPts val="0"/>
              </a:spcBef>
              <a:spcAft>
                <a:spcPts val="0"/>
              </a:spcAft>
              <a:buSzPts val="1100"/>
              <a:buNone/>
            </a:pPr>
            <a:r>
              <a:rPr b="1" lang="en-US" sz="1200">
                <a:solidFill>
                  <a:schemeClr val="dk1"/>
                </a:solidFill>
                <a:latin typeface="Arial"/>
                <a:ea typeface="Arial"/>
                <a:cs typeface="Arial"/>
                <a:sym typeface="Arial"/>
              </a:rPr>
              <a:t>El eje vertical (RMSE):</a:t>
            </a:r>
            <a:r>
              <a:rPr lang="en-US" sz="1200">
                <a:solidFill>
                  <a:schemeClr val="dk1"/>
                </a:solidFill>
                <a:latin typeface="Arial"/>
                <a:ea typeface="Arial"/>
                <a:cs typeface="Arial"/>
                <a:sym typeface="Arial"/>
              </a:rPr>
              <a:t> Es el </a:t>
            </a:r>
            <a:r>
              <a:rPr b="1" lang="en-US" sz="1200">
                <a:solidFill>
                  <a:schemeClr val="dk1"/>
                </a:solidFill>
                <a:latin typeface="Arial"/>
                <a:ea typeface="Arial"/>
                <a:cs typeface="Arial"/>
                <a:sym typeface="Arial"/>
              </a:rPr>
              <a:t>Error Cuadrático Medio</a:t>
            </a:r>
            <a:r>
              <a:rPr lang="en-US" sz="1200">
                <a:solidFill>
                  <a:schemeClr val="dk1"/>
                </a:solidFill>
                <a:latin typeface="Arial"/>
                <a:ea typeface="Arial"/>
                <a:cs typeface="Arial"/>
                <a:sym typeface="Arial"/>
              </a:rPr>
              <a:t> expresado en dólares (USD). En términos simples: </a:t>
            </a:r>
            <a:r>
              <a:rPr b="1" lang="en-US" sz="1200">
                <a:solidFill>
                  <a:schemeClr val="dk1"/>
                </a:solidFill>
                <a:latin typeface="Arial"/>
                <a:ea typeface="Arial"/>
                <a:cs typeface="Arial"/>
                <a:sym typeface="Arial"/>
              </a:rPr>
              <a:t>mientras más baja esté la línea azul, mejor es el modelo</a:t>
            </a:r>
            <a:r>
              <a:rPr lang="en-US" sz="1200">
                <a:solidFill>
                  <a:schemeClr val="dk1"/>
                </a:solidFill>
                <a:latin typeface="Arial"/>
                <a:ea typeface="Arial"/>
                <a:cs typeface="Arial"/>
                <a:sym typeface="Arial"/>
              </a:rPr>
              <a:t>, porque significa que se equivoca por menos dinero.</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18" name="Google Shape;21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63" name="Google Shape;26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1: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sz="1200">
                <a:solidFill>
                  <a:schemeClr val="dk1"/>
                </a:solidFill>
              </a:rPr>
              <a:t>Importancia de las variables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Inversión en marketing es, con diferencia, la variable más importante (64% de la importancia total).</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Rubro_Farmacia es la segunda más importante lo que significa que los locales que son farmacia tienen un patrón de ventas muy diferente al resto.</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Luego vienen distancia al ancla (6.4%)</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Las demás variables tienen importancias mucho más bajas.</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Por rubro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Aunque la correlación lineal entre "ser farmacia" y ventas pueda ser baja (porque hay farmacias de todos los tamaños y ubicaciones), en el contexto de las demás variables, el modelo descubre que saber si un local es farmacia es crucial para ajustar la predicción.</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Por ejemplo: para un mismo nivel de inversión en marketing y misma ubicación, una farmacia puede vender sistemáticamente más (o de forma más predecible) que una librería. </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Eso es porque el Modelo detecta que las farmacias tienen un comportamiento de ventas muy diferente al resto:</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Demanda estable y recurrente (salud, medicamentos) vs. otros rubros más estacionales (indumentaria, deportes).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Menor sensibilidad a crisis económicas (productos de primera necesidad).</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Mayor ticket promedio en muchos casos (farmacias de cadenas, venta de productos de cuidado personal de alto valor).</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Ubicaciones estratégicas (cerca de centros de salud, gran afluencia).</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Esto hace que para el modelo, saber si un local es farmacia sea casi tan importante como cuánto invierte en marketing.</a:t>
            </a:r>
            <a:endParaRPr sz="1200">
              <a:solidFill>
                <a:schemeClr val="dk1"/>
              </a:solidFill>
            </a:endParaRPr>
          </a:p>
          <a:p>
            <a:pPr indent="0" lvl="0" marL="0" rtl="0" algn="l">
              <a:lnSpc>
                <a:spcPct val="100000"/>
              </a:lnSpc>
              <a:spcBef>
                <a:spcPts val="0"/>
              </a:spcBef>
              <a:spcAft>
                <a:spcPts val="0"/>
              </a:spcAft>
              <a:buSzPts val="1100"/>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marR="0" rtl="0" algn="l">
              <a:lnSpc>
                <a:spcPct val="100000"/>
              </a:lnSpc>
              <a:spcBef>
                <a:spcPts val="0"/>
              </a:spcBef>
              <a:spcAft>
                <a:spcPts val="0"/>
              </a:spcAft>
              <a:buSzPts val="1100"/>
              <a:buNone/>
            </a:pPr>
            <a:r>
              <a:t/>
            </a:r>
            <a:endParaRPr sz="1200">
              <a:solidFill>
                <a:schemeClr val="dk1"/>
              </a:solidFill>
            </a:endParaRPr>
          </a:p>
        </p:txBody>
      </p:sp>
      <p:sp>
        <p:nvSpPr>
          <p:cNvPr id="298" name="Google Shape;298;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R2 </a:t>
            </a:r>
            <a:r>
              <a:rPr lang="en-US" sz="1200"/>
              <a:t>Mi modelo explica el </a:t>
            </a:r>
            <a:r>
              <a:rPr b="1" lang="en-US" sz="1200"/>
              <a:t>82.8% de la variabilidad de las ventas</a:t>
            </a:r>
            <a:endParaRPr/>
          </a:p>
          <a:p>
            <a:pPr indent="0" lvl="0" marL="0" marR="0" rtl="0" algn="l">
              <a:lnSpc>
                <a:spcPct val="100000"/>
              </a:lnSpc>
              <a:spcBef>
                <a:spcPts val="0"/>
              </a:spcBef>
              <a:spcAft>
                <a:spcPts val="0"/>
              </a:spcAft>
              <a:buSzPts val="1100"/>
              <a:buNone/>
            </a:pPr>
            <a:r>
              <a:rPr b="0" i="0" lang="en-US" sz="1200" u="none" cap="none" strike="noStrike">
                <a:solidFill>
                  <a:schemeClr val="dk1"/>
                </a:solidFill>
                <a:latin typeface="Arial"/>
                <a:ea typeface="Arial"/>
                <a:cs typeface="Arial"/>
                <a:sym typeface="Arial"/>
              </a:rPr>
              <a:t>MAE </a:t>
            </a:r>
            <a:r>
              <a:rPr lang="en-US" sz="1200"/>
              <a:t>Si abrís un local proyectando ventas, deberías esperar un margen de error promedio cercano a $80 mil</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RMSE </a:t>
            </a:r>
            <a:r>
              <a:rPr lang="en-US" sz="1200"/>
              <a:t>Existen algunos casos donde el error es más grande (~100 mil o más). Es decir, hay decisiones donde el modelo puede fallar más fuerte.</a:t>
            </a:r>
            <a:endParaRPr/>
          </a:p>
          <a:p>
            <a:pPr indent="0" lvl="0" marL="0" marR="0" rtl="0" algn="l">
              <a:lnSpc>
                <a:spcPct val="100000"/>
              </a:lnSpc>
              <a:spcBef>
                <a:spcPts val="0"/>
              </a:spcBef>
              <a:spcAft>
                <a:spcPts val="0"/>
              </a:spcAft>
              <a:buSzPts val="1100"/>
              <a:buNone/>
            </a:pPr>
            <a:r>
              <a:rPr lang="en-US" sz="1200">
                <a:solidFill>
                  <a:schemeClr val="dk1"/>
                </a:solidFill>
                <a:latin typeface="Arial"/>
                <a:ea typeface="Arial"/>
                <a:cs typeface="Arial"/>
                <a:sym typeface="Arial"/>
              </a:rPr>
              <a:t>MAPE </a:t>
            </a:r>
            <a:r>
              <a:rPr lang="en-US" sz="1200"/>
              <a:t>En promedio, el modelo se equivoca un 15.8% respecto a la venta real.</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SzPts val="1100"/>
              <a:buNone/>
            </a:pPr>
            <a:r>
              <a:rPr lang="en-US" sz="1200"/>
              <a:t>La diferencia moderada entre MAE y RMSE indica que el modelo no presenta errores extremos significativos, lo que reduce el riesgo de decisiones estratégicas erróneas de gran magnitud</a:t>
            </a:r>
            <a:endParaRPr/>
          </a:p>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28" name="Google Shape;32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100">
                <a:solidFill>
                  <a:schemeClr val="dk1"/>
                </a:solidFill>
              </a:rPr>
              <a:t>¿Por qué el R² de KNN es 63.4% y no más alto?</a:t>
            </a:r>
            <a:endParaRPr sz="1100">
              <a:solidFill>
                <a:schemeClr val="dk1"/>
              </a:solidFill>
            </a:endParaRPr>
          </a:p>
          <a:p>
            <a:pPr indent="0" lvl="0" marL="0" marR="0" rtl="0" algn="l">
              <a:lnSpc>
                <a:spcPct val="100000"/>
              </a:lnSpc>
              <a:spcBef>
                <a:spcPts val="0"/>
              </a:spcBef>
              <a:spcAft>
                <a:spcPts val="0"/>
              </a:spcAft>
              <a:buSzPts val="1100"/>
              <a:buNone/>
            </a:pPr>
            <a:r>
              <a:rPr lang="en-US" sz="1100">
                <a:solidFill>
                  <a:schemeClr val="dk1"/>
                </a:solidFill>
              </a:rPr>
              <a:t>No es un error. KNN tiene una limitación real con este dataset: hay una variable dominante (Inversion_Marketing, correlación 0.77) y el resto son débiles. KNN trata todas las distancias por igual y le cuesta capturar esa dominancia. Por eso Random Forest lo supera ampliamente (82.9%) — porque puede ponderar la importancia de cada variable.</a:t>
            </a:r>
            <a:endParaRPr sz="1100"/>
          </a:p>
          <a:p>
            <a:pPr indent="0" lvl="0" marL="0" marR="0" rtl="0" algn="l">
              <a:lnSpc>
                <a:spcPct val="100000"/>
              </a:lnSpc>
              <a:spcBef>
                <a:spcPts val="0"/>
              </a:spcBef>
              <a:spcAft>
                <a:spcPts val="0"/>
              </a:spcAft>
              <a:buSzPts val="1100"/>
              <a:buNone/>
            </a:pPr>
            <a:r>
              <a:t/>
            </a:r>
            <a:endParaRPr sz="1100">
              <a:solidFill>
                <a:schemeClr val="dk1"/>
              </a:solidFill>
            </a:endParaRPr>
          </a:p>
          <a:p>
            <a:pPr indent="0" lvl="0" marL="0" marR="0" rtl="0" algn="l">
              <a:lnSpc>
                <a:spcPct val="100000"/>
              </a:lnSpc>
              <a:spcBef>
                <a:spcPts val="0"/>
              </a:spcBef>
              <a:spcAft>
                <a:spcPts val="0"/>
              </a:spcAft>
              <a:buSzPts val="1100"/>
              <a:buNone/>
            </a:pPr>
            <a:r>
              <a:rPr lang="en-US" sz="1100">
                <a:solidFill>
                  <a:schemeClr val="dk1"/>
                </a:solidFill>
              </a:rPr>
              <a:t> Mientras que el </a:t>
            </a:r>
            <a:r>
              <a:rPr i="1" lang="en-US" sz="1100">
                <a:solidFill>
                  <a:schemeClr val="dk1"/>
                </a:solidFill>
              </a:rPr>
              <a:t>R</a:t>
            </a:r>
            <a:r>
              <a:rPr lang="en-US" sz="1100">
                <a:solidFill>
                  <a:schemeClr val="dk1"/>
                </a:solidFill>
              </a:rPr>
              <a:t>2 te dice qué tan bueno es el modelo en general, estas estadísticas te dicen cuánto y cómo se equivoca en términos de dinero (USD).</a:t>
            </a:r>
            <a:endParaRPr sz="1100"/>
          </a:p>
          <a:p>
            <a:pPr indent="0" lvl="0" marL="0" marR="0" rtl="0" algn="l">
              <a:lnSpc>
                <a:spcPct val="100000"/>
              </a:lnSpc>
              <a:spcBef>
                <a:spcPts val="0"/>
              </a:spcBef>
              <a:spcAft>
                <a:spcPts val="0"/>
              </a:spcAft>
              <a:buSzPts val="1100"/>
              <a:buNone/>
            </a:pPr>
            <a:r>
              <a:rPr lang="en-US" sz="1100">
                <a:solidFill>
                  <a:schemeClr val="dk1"/>
                </a:solidFill>
              </a:rPr>
              <a:t>1. Error Medio (Sesgo)</a:t>
            </a:r>
            <a:endParaRPr sz="1100"/>
          </a:p>
          <a:p>
            <a:pPr indent="0" lvl="0" marL="0" marR="0" rtl="0" algn="l">
              <a:lnSpc>
                <a:spcPct val="100000"/>
              </a:lnSpc>
              <a:spcBef>
                <a:spcPts val="0"/>
              </a:spcBef>
              <a:spcAft>
                <a:spcPts val="0"/>
              </a:spcAft>
              <a:buSzPts val="1100"/>
              <a:buNone/>
            </a:pPr>
            <a:r>
              <a:rPr lang="en-US" sz="1100">
                <a:solidFill>
                  <a:schemeClr val="dk1"/>
                </a:solidFill>
              </a:rPr>
              <a:t>KNN (14,493): En promedio, este modelo tiende a sobreestimar el precio (predice valores más altos de lo que realmente son).</a:t>
            </a:r>
            <a:endParaRPr sz="1100"/>
          </a:p>
          <a:p>
            <a:pPr indent="0" lvl="0" marL="0" marR="0" rtl="0" algn="l">
              <a:lnSpc>
                <a:spcPct val="100000"/>
              </a:lnSpc>
              <a:spcBef>
                <a:spcPts val="0"/>
              </a:spcBef>
              <a:spcAft>
                <a:spcPts val="0"/>
              </a:spcAft>
              <a:buSzPts val="1100"/>
              <a:buNone/>
            </a:pPr>
            <a:r>
              <a:rPr lang="en-US" sz="1100">
                <a:solidFill>
                  <a:schemeClr val="dk1"/>
                </a:solidFill>
              </a:rPr>
              <a:t>Random Forest (−5,323): El error es negativo, lo que significa que tiende a subestimar ligeramente, pero el valor absoluto es mucho menor (-5.3 vs 14.493). Esto indica que Random Forest está más "centrado" en el valor real.</a:t>
            </a:r>
            <a:endParaRPr sz="1100">
              <a:solidFill>
                <a:schemeClr val="dk1"/>
              </a:solidFill>
            </a:endParaRPr>
          </a:p>
          <a:p>
            <a:pPr indent="0" lvl="0" marL="0" marR="0" rtl="0" algn="l">
              <a:lnSpc>
                <a:spcPct val="100000"/>
              </a:lnSpc>
              <a:spcBef>
                <a:spcPts val="0"/>
              </a:spcBef>
              <a:spcAft>
                <a:spcPts val="0"/>
              </a:spcAft>
              <a:buSzPts val="1100"/>
              <a:buNone/>
            </a:pPr>
            <a:r>
              <a:t/>
            </a:r>
            <a:endParaRPr sz="1100">
              <a:solidFill>
                <a:schemeClr val="dk1"/>
              </a:solidFill>
            </a:endParaRPr>
          </a:p>
          <a:p>
            <a:pPr indent="0" lvl="0" marL="0" marR="0" rtl="0" algn="l">
              <a:lnSpc>
                <a:spcPct val="100000"/>
              </a:lnSpc>
              <a:spcBef>
                <a:spcPts val="0"/>
              </a:spcBef>
              <a:spcAft>
                <a:spcPts val="0"/>
              </a:spcAft>
              <a:buSzPts val="1100"/>
              <a:buNone/>
            </a:pPr>
            <a:r>
              <a:rPr lang="en-US" sz="1100">
                <a:solidFill>
                  <a:schemeClr val="dk1"/>
                </a:solidFill>
              </a:rPr>
              <a:t>2. Desviación Estándar (Consistencia)</a:t>
            </a:r>
            <a:endParaRPr sz="1100"/>
          </a:p>
          <a:p>
            <a:pPr indent="0" lvl="0" marL="0" marR="0" rtl="0" algn="l">
              <a:lnSpc>
                <a:spcPct val="100000"/>
              </a:lnSpc>
              <a:spcBef>
                <a:spcPts val="0"/>
              </a:spcBef>
              <a:spcAft>
                <a:spcPts val="0"/>
              </a:spcAft>
              <a:buSzPts val="1100"/>
              <a:buNone/>
            </a:pPr>
            <a:r>
              <a:rPr lang="en-US" sz="1100">
                <a:solidFill>
                  <a:schemeClr val="dk1"/>
                </a:solidFill>
              </a:rPr>
              <a:t>Esta es la métrica más importante de tu tabla:</a:t>
            </a:r>
            <a:endParaRPr sz="1100"/>
          </a:p>
          <a:p>
            <a:pPr indent="0" lvl="0" marL="0" marR="0" rtl="0" algn="l">
              <a:lnSpc>
                <a:spcPct val="100000"/>
              </a:lnSpc>
              <a:spcBef>
                <a:spcPts val="0"/>
              </a:spcBef>
              <a:spcAft>
                <a:spcPts val="0"/>
              </a:spcAft>
              <a:buSzPts val="1100"/>
              <a:buNone/>
            </a:pPr>
            <a:r>
              <a:rPr lang="en-US" sz="1100">
                <a:solidFill>
                  <a:schemeClr val="dk1"/>
                </a:solidFill>
              </a:rPr>
              <a:t>KNN (150,650): Los errores varían muchísimo. A veces acierta y a veces se equivoca por una fortuna.</a:t>
            </a:r>
            <a:endParaRPr sz="1100"/>
          </a:p>
          <a:p>
            <a:pPr indent="0" lvl="0" marL="0" marR="0" rtl="0" algn="l">
              <a:lnSpc>
                <a:spcPct val="100000"/>
              </a:lnSpc>
              <a:spcBef>
                <a:spcPts val="0"/>
              </a:spcBef>
              <a:spcAft>
                <a:spcPts val="0"/>
              </a:spcAft>
              <a:buSzPts val="1100"/>
              <a:buNone/>
            </a:pPr>
            <a:r>
              <a:rPr lang="en-US" sz="1100">
                <a:solidFill>
                  <a:schemeClr val="dk1"/>
                </a:solidFill>
              </a:rPr>
              <a:t>Random Forest (102,537): Como bien anotaste, es más consistente. Sus errores están más agrupados; es decir, es un modelo más "predecible" en su margen de error.</a:t>
            </a:r>
            <a:endParaRPr sz="1100"/>
          </a:p>
          <a:p>
            <a:pPr indent="0" lvl="0" marL="0" marR="0" rtl="0" algn="l">
              <a:lnSpc>
                <a:spcPct val="100000"/>
              </a:lnSpc>
              <a:spcBef>
                <a:spcPts val="0"/>
              </a:spcBef>
              <a:spcAft>
                <a:spcPts val="0"/>
              </a:spcAft>
              <a:buSzPts val="1100"/>
              <a:buNone/>
            </a:pPr>
            <a:r>
              <a:t/>
            </a:r>
            <a:endParaRPr sz="1100">
              <a:solidFill>
                <a:schemeClr val="dk1"/>
              </a:solidFill>
            </a:endParaRPr>
          </a:p>
        </p:txBody>
      </p:sp>
      <p:sp>
        <p:nvSpPr>
          <p:cNvPr id="364" name="Google Shape;36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rPr>
              <a:t>Utilizamos Python</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Google Colab</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Pandas</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NumPy</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US" sz="1200">
                <a:solidFill>
                  <a:schemeClr val="dk1"/>
                </a:solidFill>
              </a:rPr>
              <a:t>Matplotlib y Seaborn</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Scikit-learn</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GITHUB</a:t>
            </a:r>
            <a:endParaRPr sz="1200">
              <a:solidFill>
                <a:schemeClr val="dk1"/>
              </a:solidFill>
            </a:endParaRPr>
          </a:p>
        </p:txBody>
      </p:sp>
      <p:sp>
        <p:nvSpPr>
          <p:cNvPr id="397" name="Google Shape;397;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ca65b628b7_1_67: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g3ca65b628b7_1_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lang="en-US" sz="1200">
                <a:solidFill>
                  <a:schemeClr val="dk1"/>
                </a:solidFill>
              </a:rPr>
              <a:t>Utilizamos Python</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Google Colab</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Pandas</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NumPy</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Matplotlib y Seaborn</a:t>
            </a:r>
            <a:endParaRPr sz="1200">
              <a:solidFill>
                <a:schemeClr val="dk1"/>
              </a:solidFill>
            </a:endParaRPr>
          </a:p>
          <a:p>
            <a:pPr indent="0" lvl="0" marL="0" rtl="0" algn="l">
              <a:lnSpc>
                <a:spcPct val="100000"/>
              </a:lnSpc>
              <a:spcBef>
                <a:spcPts val="0"/>
              </a:spcBef>
              <a:spcAft>
                <a:spcPts val="0"/>
              </a:spcAft>
              <a:buSzPts val="1100"/>
              <a:buNone/>
            </a:pPr>
            <a:r>
              <a:rPr lang="en-US" sz="1200">
                <a:solidFill>
                  <a:schemeClr val="dk1"/>
                </a:solidFill>
              </a:rPr>
              <a:t>Scikit-learn</a:t>
            </a:r>
            <a:endParaRPr sz="1200">
              <a:solidFill>
                <a:schemeClr val="dk1"/>
              </a:solidFill>
            </a:endParaRPr>
          </a:p>
        </p:txBody>
      </p:sp>
      <p:sp>
        <p:nvSpPr>
          <p:cNvPr id="422" name="Google Shape;422;g3ca65b628b7_1_6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18.png"/><Relationship Id="rId5" Type="http://schemas.openxmlformats.org/officeDocument/2006/relationships/image" Target="../media/image9.png"/><Relationship Id="rId6"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mercado.com.ar/economia-y-politica/solo-el-5-de-las-empresas-familiares-argentinas-supera-las-dos-decadas-de-actividad/?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B"/>
        </a:solidFill>
      </p:bgPr>
    </p:bg>
    <p:spTree>
      <p:nvGrpSpPr>
        <p:cNvPr id="11" name="Shape 11"/>
        <p:cNvGrpSpPr/>
        <p:nvPr/>
      </p:nvGrpSpPr>
      <p:grpSpPr>
        <a:xfrm>
          <a:off x="0" y="0"/>
          <a:ext cx="0" cy="0"/>
          <a:chOff x="0" y="0"/>
          <a:chExt cx="0" cy="0"/>
        </a:xfrm>
      </p:grpSpPr>
      <p:sp>
        <p:nvSpPr>
          <p:cNvPr id="12" name="Google Shape;12;p1"/>
          <p:cNvSpPr/>
          <p:nvPr/>
        </p:nvSpPr>
        <p:spPr>
          <a:xfrm>
            <a:off x="0" y="0"/>
            <a:ext cx="164592" cy="51435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1"/>
          <p:cNvSpPr/>
          <p:nvPr/>
        </p:nvSpPr>
        <p:spPr>
          <a:xfrm>
            <a:off x="7498080" y="-731520"/>
            <a:ext cx="2926080" cy="2926080"/>
          </a:xfrm>
          <a:prstGeom prst="ellipse">
            <a:avLst/>
          </a:prstGeom>
          <a:solidFill>
            <a:srgbClr val="1A2E6E">
              <a:alpha val="7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1"/>
          <p:cNvSpPr/>
          <p:nvPr/>
        </p:nvSpPr>
        <p:spPr>
          <a:xfrm>
            <a:off x="8229600" y="3200400"/>
            <a:ext cx="1828800" cy="1828800"/>
          </a:xfrm>
          <a:prstGeom prst="ellipse">
            <a:avLst/>
          </a:prstGeom>
          <a:solidFill>
            <a:srgbClr val="0D2255">
              <a:alpha val="6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1"/>
          <p:cNvSpPr/>
          <p:nvPr/>
        </p:nvSpPr>
        <p:spPr>
          <a:xfrm>
            <a:off x="457200" y="822960"/>
            <a:ext cx="3200400" cy="347472"/>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 name="Google Shape;16;p1"/>
          <p:cNvSpPr/>
          <p:nvPr/>
        </p:nvSpPr>
        <p:spPr>
          <a:xfrm>
            <a:off x="457200" y="822960"/>
            <a:ext cx="320040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ANÁLISIS PREDICTIVO • RETAIL</a:t>
            </a:r>
            <a:endParaRPr b="0" i="0" sz="900" u="none" cap="none" strike="noStrike">
              <a:solidFill>
                <a:schemeClr val="dk1"/>
              </a:solidFill>
              <a:latin typeface="Calibri"/>
              <a:ea typeface="Calibri"/>
              <a:cs typeface="Calibri"/>
              <a:sym typeface="Calibri"/>
            </a:endParaRPr>
          </a:p>
        </p:txBody>
      </p:sp>
      <p:sp>
        <p:nvSpPr>
          <p:cNvPr id="17" name="Google Shape;17;p1"/>
          <p:cNvSpPr/>
          <p:nvPr/>
        </p:nvSpPr>
        <p:spPr>
          <a:xfrm>
            <a:off x="457200" y="1417320"/>
            <a:ext cx="7772400" cy="1737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Modelo de Predicción</a:t>
            </a:r>
            <a:endParaRPr b="0" i="0" sz="4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4200"/>
              <a:buFont typeface="Calibri"/>
              <a:buNone/>
            </a:pPr>
            <a:r>
              <a:rPr b="1" i="0" lang="en-US" sz="4200" u="none" cap="none" strike="noStrike">
                <a:solidFill>
                  <a:srgbClr val="FFFFFF"/>
                </a:solidFill>
                <a:latin typeface="Calibri"/>
                <a:ea typeface="Calibri"/>
                <a:cs typeface="Calibri"/>
                <a:sym typeface="Calibri"/>
              </a:rPr>
              <a:t>de Ventas</a:t>
            </a:r>
            <a:endParaRPr b="0" i="0" sz="4200" u="none" cap="none" strike="noStrike">
              <a:solidFill>
                <a:schemeClr val="dk1"/>
              </a:solidFill>
              <a:latin typeface="Calibri"/>
              <a:ea typeface="Calibri"/>
              <a:cs typeface="Calibri"/>
              <a:sym typeface="Calibri"/>
            </a:endParaRPr>
          </a:p>
        </p:txBody>
      </p:sp>
      <p:sp>
        <p:nvSpPr>
          <p:cNvPr id="18" name="Google Shape;18;p1"/>
          <p:cNvSpPr/>
          <p:nvPr/>
        </p:nvSpPr>
        <p:spPr>
          <a:xfrm>
            <a:off x="507500" y="3358145"/>
            <a:ext cx="777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A0BCEF"/>
              </a:buClr>
              <a:buSzPts val="1500"/>
              <a:buFont typeface="Calibri"/>
              <a:buNone/>
            </a:pPr>
            <a:r>
              <a:rPr b="0" i="0" lang="en-US" sz="1500" u="none" cap="none" strike="noStrike">
                <a:solidFill>
                  <a:srgbClr val="A0BCEF"/>
                </a:solidFill>
                <a:latin typeface="Calibri"/>
                <a:ea typeface="Calibri"/>
                <a:cs typeface="Calibri"/>
                <a:sym typeface="Calibri"/>
              </a:rPr>
              <a:t>KNN vs Random Forest — Dataset de 3,000 Locales Comerciales</a:t>
            </a:r>
            <a:endParaRPr b="0" i="0" sz="1500" u="none" cap="none" strike="noStrike">
              <a:solidFill>
                <a:schemeClr val="dk1"/>
              </a:solidFill>
              <a:latin typeface="Calibri"/>
              <a:ea typeface="Calibri"/>
              <a:cs typeface="Calibri"/>
              <a:sym typeface="Calibri"/>
            </a:endParaRPr>
          </a:p>
        </p:txBody>
      </p:sp>
      <p:sp>
        <p:nvSpPr>
          <p:cNvPr id="19" name="Google Shape;19;p1"/>
          <p:cNvSpPr/>
          <p:nvPr/>
        </p:nvSpPr>
        <p:spPr>
          <a:xfrm>
            <a:off x="457200" y="3977640"/>
            <a:ext cx="1920240" cy="777240"/>
          </a:xfrm>
          <a:prstGeom prst="roundRect">
            <a:avLst>
              <a:gd fmla="val 9412" name="adj"/>
            </a:avLst>
          </a:prstGeom>
          <a:solidFill>
            <a:srgbClr val="1A2E6E"/>
          </a:solidFill>
          <a:ln cap="flat" cmpd="sng" w="190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 name="Google Shape;20;p1"/>
          <p:cNvSpPr/>
          <p:nvPr/>
        </p:nvSpPr>
        <p:spPr>
          <a:xfrm>
            <a:off x="457200" y="400507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300"/>
              </a:buClr>
              <a:buSzPts val="1800"/>
              <a:buFont typeface="Calibri"/>
              <a:buNone/>
            </a:pPr>
            <a:r>
              <a:rPr b="1" i="0" lang="en-US" sz="1800" u="none" cap="none" strike="noStrike">
                <a:solidFill>
                  <a:srgbClr val="FFB300"/>
                </a:solidFill>
                <a:latin typeface="Calibri"/>
                <a:ea typeface="Calibri"/>
                <a:cs typeface="Calibri"/>
                <a:sym typeface="Calibri"/>
              </a:rPr>
              <a:t>3,000</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457200" y="433425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BCEF"/>
              </a:buClr>
              <a:buSzPts val="900"/>
              <a:buFont typeface="Calibri"/>
              <a:buNone/>
            </a:pPr>
            <a:r>
              <a:rPr b="0" i="0" lang="en-US" sz="900" u="none" cap="none" strike="noStrike">
                <a:solidFill>
                  <a:srgbClr val="A0BCEF"/>
                </a:solidFill>
                <a:latin typeface="Calibri"/>
                <a:ea typeface="Calibri"/>
                <a:cs typeface="Calibri"/>
                <a:sym typeface="Calibri"/>
              </a:rPr>
              <a:t>Registros</a:t>
            </a:r>
            <a:endParaRPr b="0" i="0" sz="900" u="none" cap="none" strike="noStrike">
              <a:solidFill>
                <a:schemeClr val="dk1"/>
              </a:solidFill>
              <a:latin typeface="Calibri"/>
              <a:ea typeface="Calibri"/>
              <a:cs typeface="Calibri"/>
              <a:sym typeface="Calibri"/>
            </a:endParaRPr>
          </a:p>
        </p:txBody>
      </p:sp>
      <p:sp>
        <p:nvSpPr>
          <p:cNvPr id="22" name="Google Shape;22;p1"/>
          <p:cNvSpPr/>
          <p:nvPr/>
        </p:nvSpPr>
        <p:spPr>
          <a:xfrm>
            <a:off x="2743200" y="3977640"/>
            <a:ext cx="1920240" cy="777240"/>
          </a:xfrm>
          <a:prstGeom prst="roundRect">
            <a:avLst>
              <a:gd fmla="val 9412" name="adj"/>
            </a:avLst>
          </a:prstGeom>
          <a:solidFill>
            <a:srgbClr val="1A2E6E"/>
          </a:solidFill>
          <a:ln cap="flat" cmpd="sng" w="190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
          <p:cNvSpPr/>
          <p:nvPr/>
        </p:nvSpPr>
        <p:spPr>
          <a:xfrm>
            <a:off x="2816860" y="4011168"/>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300"/>
              </a:buClr>
              <a:buSzPts val="1800"/>
              <a:buFont typeface="Calibri"/>
              <a:buNone/>
            </a:pPr>
            <a:r>
              <a:rPr b="1" i="0" lang="en-US" sz="1800" u="none" cap="none" strike="noStrike">
                <a:solidFill>
                  <a:srgbClr val="FFB300"/>
                </a:solidFill>
                <a:latin typeface="Calibri"/>
                <a:ea typeface="Calibri"/>
                <a:cs typeface="Calibri"/>
                <a:sym typeface="Calibri"/>
              </a:rPr>
              <a:t>20</a:t>
            </a:r>
            <a:endParaRPr b="0" i="0" sz="1800" u="none" cap="none" strike="noStrike">
              <a:solidFill>
                <a:schemeClr val="dk1"/>
              </a:solidFill>
              <a:latin typeface="Calibri"/>
              <a:ea typeface="Calibri"/>
              <a:cs typeface="Calibri"/>
              <a:sym typeface="Calibri"/>
            </a:endParaRPr>
          </a:p>
        </p:txBody>
      </p:sp>
      <p:sp>
        <p:nvSpPr>
          <p:cNvPr id="24" name="Google Shape;24;p1"/>
          <p:cNvSpPr/>
          <p:nvPr/>
        </p:nvSpPr>
        <p:spPr>
          <a:xfrm>
            <a:off x="2743200" y="433425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BCEF"/>
              </a:buClr>
              <a:buSzPts val="900"/>
              <a:buFont typeface="Calibri"/>
              <a:buNone/>
            </a:pPr>
            <a:r>
              <a:rPr b="0" i="0" lang="en-US" sz="900" u="none" cap="none" strike="noStrike">
                <a:solidFill>
                  <a:srgbClr val="A0BCEF"/>
                </a:solidFill>
                <a:latin typeface="Calibri"/>
                <a:ea typeface="Calibri"/>
                <a:cs typeface="Calibri"/>
                <a:sym typeface="Calibri"/>
              </a:rPr>
              <a:t>Variables</a:t>
            </a:r>
            <a:endParaRPr b="0" i="0" sz="900" u="none" cap="none" strike="noStrike">
              <a:solidFill>
                <a:schemeClr val="dk1"/>
              </a:solidFill>
              <a:latin typeface="Calibri"/>
              <a:ea typeface="Calibri"/>
              <a:cs typeface="Calibri"/>
              <a:sym typeface="Calibri"/>
            </a:endParaRPr>
          </a:p>
        </p:txBody>
      </p:sp>
      <p:sp>
        <p:nvSpPr>
          <p:cNvPr id="25" name="Google Shape;25;p1"/>
          <p:cNvSpPr/>
          <p:nvPr/>
        </p:nvSpPr>
        <p:spPr>
          <a:xfrm>
            <a:off x="4904740" y="3977640"/>
            <a:ext cx="1920240" cy="777240"/>
          </a:xfrm>
          <a:prstGeom prst="roundRect">
            <a:avLst>
              <a:gd fmla="val 9412" name="adj"/>
            </a:avLst>
          </a:prstGeom>
          <a:solidFill>
            <a:srgbClr val="1A2E6E"/>
          </a:solidFill>
          <a:ln cap="flat" cmpd="sng" w="190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 name="Google Shape;26;p1"/>
          <p:cNvSpPr/>
          <p:nvPr/>
        </p:nvSpPr>
        <p:spPr>
          <a:xfrm>
            <a:off x="4935220" y="4059936"/>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300"/>
              </a:buClr>
              <a:buSzPts val="1800"/>
              <a:buFont typeface="Calibri"/>
              <a:buNone/>
            </a:pPr>
            <a:r>
              <a:rPr b="1" i="0" lang="en-US" sz="1800" u="none" cap="none" strike="noStrike">
                <a:solidFill>
                  <a:srgbClr val="FFB300"/>
                </a:solidFill>
                <a:latin typeface="Calibri"/>
                <a:ea typeface="Calibri"/>
                <a:cs typeface="Calibri"/>
                <a:sym typeface="Calibri"/>
              </a:rPr>
              <a:t>82.9%</a:t>
            </a:r>
            <a:endParaRPr b="0" i="0" sz="1800" u="none" cap="none" strike="noStrike">
              <a:solidFill>
                <a:schemeClr val="dk1"/>
              </a:solidFill>
              <a:latin typeface="Calibri"/>
              <a:ea typeface="Calibri"/>
              <a:cs typeface="Calibri"/>
              <a:sym typeface="Calibri"/>
            </a:endParaRPr>
          </a:p>
        </p:txBody>
      </p:sp>
      <p:sp>
        <p:nvSpPr>
          <p:cNvPr id="27" name="Google Shape;27;p1"/>
          <p:cNvSpPr/>
          <p:nvPr/>
        </p:nvSpPr>
        <p:spPr>
          <a:xfrm>
            <a:off x="4935220" y="4357272"/>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BCEF"/>
              </a:buClr>
              <a:buSzPts val="900"/>
              <a:buFont typeface="Calibri"/>
              <a:buNone/>
            </a:pPr>
            <a:r>
              <a:rPr b="0" i="0" lang="en-US" sz="900" u="none" cap="none" strike="noStrike">
                <a:solidFill>
                  <a:srgbClr val="A0BCEF"/>
                </a:solidFill>
                <a:latin typeface="Calibri"/>
                <a:ea typeface="Calibri"/>
                <a:cs typeface="Calibri"/>
                <a:sym typeface="Calibri"/>
              </a:rPr>
              <a:t>Precisión RF</a:t>
            </a:r>
            <a:endParaRPr b="0" i="0" sz="900" u="none" cap="none" strike="noStrike">
              <a:solidFill>
                <a:schemeClr val="dk1"/>
              </a:solidFill>
              <a:latin typeface="Calibri"/>
              <a:ea typeface="Calibri"/>
              <a:cs typeface="Calibri"/>
              <a:sym typeface="Calibri"/>
            </a:endParaRPr>
          </a:p>
        </p:txBody>
      </p:sp>
      <p:sp>
        <p:nvSpPr>
          <p:cNvPr id="28" name="Google Shape;28;p1"/>
          <p:cNvSpPr/>
          <p:nvPr/>
        </p:nvSpPr>
        <p:spPr>
          <a:xfrm>
            <a:off x="457200" y="4892040"/>
            <a:ext cx="8229600" cy="18288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A7AB5"/>
              </a:buClr>
              <a:buSzPts val="850"/>
              <a:buFont typeface="Calibri"/>
              <a:buNone/>
            </a:pPr>
            <a:r>
              <a:rPr b="0" i="0" lang="en-US" sz="850" u="none" cap="none" strike="noStrike">
                <a:solidFill>
                  <a:srgbClr val="5A7AB5"/>
                </a:solidFill>
                <a:latin typeface="Calibri"/>
                <a:ea typeface="Calibri"/>
                <a:cs typeface="Calibri"/>
                <a:sym typeface="Calibri"/>
              </a:rPr>
              <a:t>Hackaton 2026 • Machine Learning Aplicado al Retail</a:t>
            </a:r>
            <a:endParaRPr b="0" i="0" sz="850" u="none" cap="none" strike="noStrike">
              <a:solidFill>
                <a:schemeClr val="dk1"/>
              </a:solidFill>
              <a:latin typeface="Calibri"/>
              <a:ea typeface="Calibri"/>
              <a:cs typeface="Calibri"/>
              <a:sym typeface="Calibri"/>
            </a:endParaRPr>
          </a:p>
        </p:txBody>
      </p:sp>
      <p:sp>
        <p:nvSpPr>
          <p:cNvPr id="29" name="Google Shape;29;p1"/>
          <p:cNvSpPr/>
          <p:nvPr/>
        </p:nvSpPr>
        <p:spPr>
          <a:xfrm>
            <a:off x="7066280" y="3977640"/>
            <a:ext cx="1920240" cy="777240"/>
          </a:xfrm>
          <a:prstGeom prst="roundRect">
            <a:avLst>
              <a:gd fmla="val 9412" name="adj"/>
            </a:avLst>
          </a:prstGeom>
          <a:solidFill>
            <a:srgbClr val="1A2E6E"/>
          </a:solidFill>
          <a:ln cap="flat" cmpd="sng" w="190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Google Shape;30;p1"/>
          <p:cNvSpPr/>
          <p:nvPr/>
        </p:nvSpPr>
        <p:spPr>
          <a:xfrm>
            <a:off x="7101840" y="4018788"/>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B300"/>
              </a:buClr>
              <a:buSzPts val="1800"/>
              <a:buFont typeface="Calibri"/>
              <a:buNone/>
            </a:pPr>
            <a:r>
              <a:rPr b="1" i="0" lang="en-US" sz="1800" u="none" cap="none" strike="noStrike">
                <a:solidFill>
                  <a:srgbClr val="FFB300"/>
                </a:solidFill>
                <a:latin typeface="Calibri"/>
                <a:ea typeface="Calibri"/>
                <a:cs typeface="Calibri"/>
                <a:sym typeface="Calibri"/>
              </a:rPr>
              <a:t>10</a:t>
            </a:r>
            <a:endParaRPr b="0" i="0" sz="1800" u="none" cap="none" strike="noStrike">
              <a:solidFill>
                <a:schemeClr val="dk1"/>
              </a:solidFill>
              <a:latin typeface="Calibri"/>
              <a:ea typeface="Calibri"/>
              <a:cs typeface="Calibri"/>
              <a:sym typeface="Calibri"/>
            </a:endParaRPr>
          </a:p>
        </p:txBody>
      </p:sp>
      <p:sp>
        <p:nvSpPr>
          <p:cNvPr id="31" name="Google Shape;31;p1"/>
          <p:cNvSpPr/>
          <p:nvPr/>
        </p:nvSpPr>
        <p:spPr>
          <a:xfrm>
            <a:off x="7096760" y="435254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Sectores Comerciales</a:t>
            </a:r>
            <a:endParaRPr b="1" i="0" sz="9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2"/>
          <p:cNvSpPr/>
          <p:nvPr/>
        </p:nvSpPr>
        <p:spPr>
          <a:xfrm>
            <a:off x="134389" y="1258443"/>
            <a:ext cx="4437611" cy="3394711"/>
          </a:xfrm>
          <a:prstGeom prst="rect">
            <a:avLst/>
          </a:prstGeom>
          <a:solidFill>
            <a:srgbClr val="0A164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 name="Google Shape;37;p2"/>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 name="Google Shape;38;p2"/>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 name="Google Shape;39;p2"/>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2200"/>
              <a:buFont typeface="Calibri"/>
              <a:buNone/>
            </a:pPr>
            <a:r>
              <a:t/>
            </a:r>
            <a:endParaRPr b="0" i="0" sz="2200" u="none" cap="none" strike="noStrike">
              <a:solidFill>
                <a:schemeClr val="dk1"/>
              </a:solidFill>
              <a:latin typeface="Calibri"/>
              <a:ea typeface="Calibri"/>
              <a:cs typeface="Calibri"/>
              <a:sym typeface="Calibri"/>
            </a:endParaRPr>
          </a:p>
        </p:txBody>
      </p:sp>
      <p:sp>
        <p:nvSpPr>
          <p:cNvPr id="40" name="Google Shape;40;p2"/>
          <p:cNvSpPr/>
          <p:nvPr/>
        </p:nvSpPr>
        <p:spPr>
          <a:xfrm>
            <a:off x="259080" y="27432"/>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¿PARA QUE SIRVE EL MODELO?</a:t>
            </a:r>
            <a:endParaRPr b="0" i="0" sz="2200" u="none" cap="none" strike="noStrike">
              <a:solidFill>
                <a:schemeClr val="dk1"/>
              </a:solidFill>
              <a:latin typeface="Calibri"/>
              <a:ea typeface="Calibri"/>
              <a:cs typeface="Calibri"/>
              <a:sym typeface="Calibri"/>
            </a:endParaRPr>
          </a:p>
        </p:txBody>
      </p:sp>
      <p:sp>
        <p:nvSpPr>
          <p:cNvPr id="41" name="Google Shape;41;p2"/>
          <p:cNvSpPr/>
          <p:nvPr/>
        </p:nvSpPr>
        <p:spPr>
          <a:xfrm>
            <a:off x="4706389" y="1268602"/>
            <a:ext cx="4437611" cy="3394712"/>
          </a:xfrm>
          <a:prstGeom prst="rect">
            <a:avLst/>
          </a:prstGeom>
          <a:solidFill>
            <a:srgbClr val="2E75B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 name="Google Shape;42;p2"/>
          <p:cNvSpPr txBox="1"/>
          <p:nvPr/>
        </p:nvSpPr>
        <p:spPr>
          <a:xfrm>
            <a:off x="259080" y="1466071"/>
            <a:ext cx="4003964" cy="1107955"/>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1F4E79"/>
                </a:solidFill>
                <a:latin typeface="Calibri"/>
                <a:ea typeface="Calibri"/>
                <a:cs typeface="Calibri"/>
                <a:sym typeface="Calibri"/>
              </a:rPr>
              <a:t>Estudios sobre supervivencia empresarial en Argentina muestran que entre el 50 % y 70 % de los nuevos negocios no superan los primeros 3 a 5 años, siendo la elección del rubro y la ubicación factores críticos en su desempeño. </a:t>
            </a:r>
            <a:r>
              <a:rPr b="1" i="0" lang="en-US" sz="600" u="none" cap="none" strike="noStrike">
                <a:solidFill>
                  <a:srgbClr val="1F4E79"/>
                </a:solidFill>
                <a:latin typeface="Calibri"/>
                <a:ea typeface="Calibri"/>
                <a:cs typeface="Calibri"/>
                <a:sym typeface="Calibri"/>
              </a:rPr>
              <a:t>(Relevamiento CAME – Sobrevivencia de empresas familiares (2025)</a:t>
            </a:r>
            <a:endParaRPr b="1" i="0" sz="600" u="none" cap="none" strike="noStrike">
              <a:solidFill>
                <a:srgbClr val="1F4E79"/>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00"/>
              <a:buFont typeface="Arial"/>
              <a:buNone/>
            </a:pPr>
            <a:r>
              <a:t/>
            </a:r>
            <a:endParaRPr b="1" i="0" sz="1200" u="none" cap="none" strike="noStrike">
              <a:solidFill>
                <a:srgbClr val="1F4E79"/>
              </a:solidFill>
              <a:latin typeface="Calibri"/>
              <a:ea typeface="Calibri"/>
              <a:cs typeface="Calibri"/>
              <a:sym typeface="Calibri"/>
            </a:endParaRPr>
          </a:p>
        </p:txBody>
      </p:sp>
      <p:sp>
        <p:nvSpPr>
          <p:cNvPr id="43" name="Google Shape;43;p2"/>
          <p:cNvSpPr txBox="1"/>
          <p:nvPr/>
        </p:nvSpPr>
        <p:spPr>
          <a:xfrm>
            <a:off x="259080" y="2827008"/>
            <a:ext cx="4003964" cy="646331"/>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F4E79"/>
                </a:solidFill>
                <a:latin typeface="Calibri"/>
                <a:ea typeface="Calibri"/>
                <a:cs typeface="Calibri"/>
                <a:sym typeface="Calibri"/>
              </a:rPr>
              <a:t>Los propietarios toman decisiones fundamentadas en la intuición, sin contar con datos objetivos que apoyen la inversión</a:t>
            </a:r>
            <a:endParaRPr b="1" i="0" sz="1200" u="none" cap="none" strike="noStrike">
              <a:solidFill>
                <a:srgbClr val="1E4E79"/>
              </a:solidFill>
              <a:latin typeface="Calibri"/>
              <a:ea typeface="Calibri"/>
              <a:cs typeface="Calibri"/>
              <a:sym typeface="Calibri"/>
            </a:endParaRPr>
          </a:p>
        </p:txBody>
      </p:sp>
      <p:sp>
        <p:nvSpPr>
          <p:cNvPr id="44" name="Google Shape;44;p2"/>
          <p:cNvSpPr txBox="1"/>
          <p:nvPr/>
        </p:nvSpPr>
        <p:spPr>
          <a:xfrm>
            <a:off x="259080" y="3778007"/>
            <a:ext cx="4003964" cy="461665"/>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F4E79"/>
                </a:solidFill>
                <a:latin typeface="Calibri"/>
                <a:ea typeface="Calibri"/>
                <a:cs typeface="Calibri"/>
                <a:sym typeface="Calibri"/>
              </a:rPr>
              <a:t>No hay una herramienta disponible que permita calcular las ventas antes de concretar un contrato de arrendamiento.</a:t>
            </a:r>
            <a:endParaRPr b="1" i="0" sz="1200" u="none" cap="none" strike="noStrike">
              <a:solidFill>
                <a:srgbClr val="1E4E79"/>
              </a:solidFill>
              <a:latin typeface="Calibri"/>
              <a:ea typeface="Calibri"/>
              <a:cs typeface="Calibri"/>
              <a:sym typeface="Calibri"/>
            </a:endParaRPr>
          </a:p>
        </p:txBody>
      </p:sp>
      <p:sp>
        <p:nvSpPr>
          <p:cNvPr id="45" name="Google Shape;45;p2"/>
          <p:cNvSpPr txBox="1"/>
          <p:nvPr/>
        </p:nvSpPr>
        <p:spPr>
          <a:xfrm>
            <a:off x="5015345" y="1417162"/>
            <a:ext cx="4003964" cy="461665"/>
          </a:xfrm>
          <a:prstGeom prst="rect">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E4E79"/>
                </a:solidFill>
                <a:latin typeface="Calibri"/>
                <a:ea typeface="Calibri"/>
                <a:cs typeface="Calibri"/>
                <a:sym typeface="Calibri"/>
              </a:rPr>
              <a:t>Algoritmos de ML (KNN y Random Forest) entrenados con 3,000 locales para predecir ventas anuales</a:t>
            </a:r>
            <a:endParaRPr b="0" i="0" sz="1400" u="none" cap="none" strike="noStrike">
              <a:solidFill>
                <a:srgbClr val="000000"/>
              </a:solidFill>
              <a:latin typeface="Arial"/>
              <a:ea typeface="Arial"/>
              <a:cs typeface="Arial"/>
              <a:sym typeface="Arial"/>
            </a:endParaRPr>
          </a:p>
        </p:txBody>
      </p:sp>
      <p:sp>
        <p:nvSpPr>
          <p:cNvPr id="46" name="Google Shape;46;p2"/>
          <p:cNvSpPr txBox="1"/>
          <p:nvPr/>
        </p:nvSpPr>
        <p:spPr>
          <a:xfrm>
            <a:off x="5015345" y="2211711"/>
            <a:ext cx="4003964" cy="461665"/>
          </a:xfrm>
          <a:prstGeom prst="rect">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E4E79"/>
                </a:solidFill>
                <a:latin typeface="Calibri"/>
                <a:ea typeface="Calibri"/>
                <a:cs typeface="Calibri"/>
                <a:sym typeface="Calibri"/>
              </a:rPr>
              <a:t>20 variables clave: ubicación, rubro, NSE, marketing, tránsito peatonal y más.</a:t>
            </a:r>
            <a:endParaRPr b="0" i="0" sz="1400" u="none" cap="none" strike="noStrike">
              <a:solidFill>
                <a:srgbClr val="000000"/>
              </a:solidFill>
              <a:latin typeface="Arial"/>
              <a:ea typeface="Arial"/>
              <a:cs typeface="Arial"/>
              <a:sym typeface="Arial"/>
            </a:endParaRPr>
          </a:p>
        </p:txBody>
      </p:sp>
      <p:sp>
        <p:nvSpPr>
          <p:cNvPr id="47" name="Google Shape;47;p2"/>
          <p:cNvSpPr txBox="1"/>
          <p:nvPr/>
        </p:nvSpPr>
        <p:spPr>
          <a:xfrm>
            <a:off x="5005647" y="3024664"/>
            <a:ext cx="4003964" cy="461665"/>
          </a:xfrm>
          <a:prstGeom prst="rect">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E4E79"/>
                </a:solidFill>
                <a:latin typeface="Calibri"/>
                <a:ea typeface="Calibri"/>
                <a:cs typeface="Calibri"/>
                <a:sym typeface="Calibri"/>
              </a:rPr>
              <a:t>Random Forest logra un R² de 82.9%, prediciendo las ventas con un error promedio del 15%</a:t>
            </a:r>
            <a:endParaRPr b="0" i="0" sz="1400" u="none" cap="none" strike="noStrike">
              <a:solidFill>
                <a:srgbClr val="000000"/>
              </a:solidFill>
              <a:latin typeface="Arial"/>
              <a:ea typeface="Arial"/>
              <a:cs typeface="Arial"/>
              <a:sym typeface="Arial"/>
            </a:endParaRPr>
          </a:p>
        </p:txBody>
      </p:sp>
      <p:sp>
        <p:nvSpPr>
          <p:cNvPr id="48" name="Google Shape;48;p2"/>
          <p:cNvSpPr txBox="1"/>
          <p:nvPr/>
        </p:nvSpPr>
        <p:spPr>
          <a:xfrm>
            <a:off x="5015345" y="4019832"/>
            <a:ext cx="4003964" cy="461665"/>
          </a:xfrm>
          <a:prstGeom prst="rect">
            <a:avLst/>
          </a:prstGeom>
          <a:gradFill>
            <a:gsLst>
              <a:gs pos="0">
                <a:srgbClr val="B4D4A5"/>
              </a:gs>
              <a:gs pos="50000">
                <a:srgbClr val="A8CD97"/>
              </a:gs>
              <a:gs pos="100000">
                <a:srgbClr val="9BC985"/>
              </a:gs>
            </a:gsLst>
            <a:lin ang="5400000" scaled="0"/>
          </a:gradFill>
          <a:ln cap="flat" cmpd="sng" w="9525">
            <a:solidFill>
              <a:schemeClr val="accent6"/>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1E4E79"/>
                </a:solidFill>
                <a:latin typeface="Calibri"/>
                <a:ea typeface="Calibri"/>
                <a:cs typeface="Calibri"/>
                <a:sym typeface="Calibri"/>
              </a:rPr>
              <a:t>Ingresás los datos del local y obtenés una estimación de ventas en segundos</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780011" y="4887674"/>
            <a:ext cx="8229600" cy="201168"/>
          </a:xfrm>
          <a:prstGeom prst="rect">
            <a:avLst/>
          </a:prstGeom>
          <a:solidFill>
            <a:schemeClr val="accent4"/>
          </a:solidFill>
          <a:ln cap="flat" cmpd="sng" w="19050">
            <a:solidFill>
              <a:schemeClr val="lt1"/>
            </a:solidFill>
            <a:prstDash val="solid"/>
            <a:miter lim="800000"/>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950"/>
              <a:buFont typeface="Calibri"/>
              <a:buNone/>
            </a:pPr>
            <a:r>
              <a:rPr b="1" i="0" lang="en-US" sz="950" u="none" cap="none" strike="noStrike">
                <a:solidFill>
                  <a:srgbClr val="0D1B4B"/>
                </a:solidFill>
                <a:latin typeface="Calibri"/>
                <a:ea typeface="Calibri"/>
                <a:cs typeface="Calibri"/>
                <a:sym typeface="Calibri"/>
              </a:rPr>
              <a:t>🎯  Objetivo: Reducir el riesgo financiero en la apertura de locales — de la intuición a la certeza basada en datos</a:t>
            </a:r>
            <a:endParaRPr b="0" i="0" sz="950" u="none" cap="none" strike="noStrike">
              <a:solidFill>
                <a:schemeClr val="dk1"/>
              </a:solidFill>
              <a:latin typeface="Calibri"/>
              <a:ea typeface="Calibri"/>
              <a:cs typeface="Calibri"/>
              <a:sym typeface="Calibri"/>
            </a:endParaRPr>
          </a:p>
        </p:txBody>
      </p:sp>
      <p:sp>
        <p:nvSpPr>
          <p:cNvPr id="50" name="Google Shape;50;p2"/>
          <p:cNvSpPr/>
          <p:nvPr/>
        </p:nvSpPr>
        <p:spPr>
          <a:xfrm>
            <a:off x="493222" y="855001"/>
            <a:ext cx="3931920" cy="38404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 name="Google Shape;51;p2"/>
          <p:cNvSpPr/>
          <p:nvPr/>
        </p:nvSpPr>
        <p:spPr>
          <a:xfrm>
            <a:off x="4718860" y="842107"/>
            <a:ext cx="4206240" cy="384048"/>
          </a:xfrm>
          <a:prstGeom prst="rect">
            <a:avLst/>
          </a:prstGeom>
          <a:gradFill>
            <a:gsLst>
              <a:gs pos="0">
                <a:srgbClr val="7FB75F"/>
              </a:gs>
              <a:gs pos="50000">
                <a:srgbClr val="6EB141"/>
              </a:gs>
              <a:gs pos="100000">
                <a:srgbClr val="5FA134"/>
              </a:gs>
            </a:gsLst>
            <a:lin ang="5400000" scaled="0"/>
          </a:gradFill>
          <a:ln cap="flat" cmpd="sng" w="9525">
            <a:solidFill>
              <a:schemeClr val="accent6"/>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2" name="Google Shape;52;p2"/>
          <p:cNvSpPr/>
          <p:nvPr/>
        </p:nvSpPr>
        <p:spPr>
          <a:xfrm>
            <a:off x="6180513" y="896971"/>
            <a:ext cx="2308167"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  La Solución</a:t>
            </a:r>
            <a:endParaRPr b="0" i="0" sz="1300" u="none" cap="none" strike="noStrike">
              <a:solidFill>
                <a:schemeClr val="dk1"/>
              </a:solidFill>
              <a:latin typeface="Calibri"/>
              <a:ea typeface="Calibri"/>
              <a:cs typeface="Calibri"/>
              <a:sym typeface="Calibri"/>
            </a:endParaRPr>
          </a:p>
        </p:txBody>
      </p:sp>
      <p:sp>
        <p:nvSpPr>
          <p:cNvPr id="53" name="Google Shape;53;p2"/>
          <p:cNvSpPr/>
          <p:nvPr/>
        </p:nvSpPr>
        <p:spPr>
          <a:xfrm>
            <a:off x="1601585" y="892473"/>
            <a:ext cx="2308167"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libri"/>
                <a:ea typeface="Calibri"/>
                <a:cs typeface="Calibri"/>
                <a:sym typeface="Calibri"/>
              </a:rPr>
              <a:t>❓La Dificultad</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58" name="Shape 58"/>
        <p:cNvGrpSpPr/>
        <p:nvPr/>
      </p:nvGrpSpPr>
      <p:grpSpPr>
        <a:xfrm>
          <a:off x="0" y="0"/>
          <a:ext cx="0" cy="0"/>
          <a:chOff x="0" y="0"/>
          <a:chExt cx="0" cy="0"/>
        </a:xfrm>
      </p:grpSpPr>
      <p:sp>
        <p:nvSpPr>
          <p:cNvPr id="59" name="Google Shape;59;p14"/>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 name="Google Shape;60;p14"/>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APLICACIÓN PRÁCTICA</a:t>
            </a:r>
            <a:endParaRPr b="0" i="0" sz="2200" u="none" cap="none" strike="noStrike">
              <a:solidFill>
                <a:schemeClr val="dk1"/>
              </a:solidFill>
              <a:latin typeface="Calibri"/>
              <a:ea typeface="Calibri"/>
              <a:cs typeface="Calibri"/>
              <a:sym typeface="Calibri"/>
            </a:endParaRPr>
          </a:p>
        </p:txBody>
      </p:sp>
      <p:sp>
        <p:nvSpPr>
          <p:cNvPr id="61" name="Google Shape;61;p14"/>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 name="Google Shape;62;p14"/>
          <p:cNvSpPr/>
          <p:nvPr/>
        </p:nvSpPr>
        <p:spPr>
          <a:xfrm>
            <a:off x="320040" y="960120"/>
            <a:ext cx="2697480" cy="35204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 name="Google Shape;63;p14"/>
          <p:cNvSpPr/>
          <p:nvPr/>
        </p:nvSpPr>
        <p:spPr>
          <a:xfrm>
            <a:off x="320040" y="960120"/>
            <a:ext cx="2697480" cy="41148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 name="Google Shape;64;p14"/>
          <p:cNvSpPr/>
          <p:nvPr/>
        </p:nvSpPr>
        <p:spPr>
          <a:xfrm>
            <a:off x="411480" y="987552"/>
            <a:ext cx="2514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Apertura de Locales</a:t>
            </a:r>
            <a:endParaRPr b="0" i="0" sz="1100" u="none" cap="none" strike="noStrike">
              <a:solidFill>
                <a:schemeClr val="dk1"/>
              </a:solidFill>
              <a:latin typeface="Calibri"/>
              <a:ea typeface="Calibri"/>
              <a:cs typeface="Calibri"/>
              <a:sym typeface="Calibri"/>
            </a:endParaRPr>
          </a:p>
        </p:txBody>
      </p:sp>
      <p:sp>
        <p:nvSpPr>
          <p:cNvPr id="65" name="Google Shape;65;p14"/>
          <p:cNvSpPr/>
          <p:nvPr/>
        </p:nvSpPr>
        <p:spPr>
          <a:xfrm>
            <a:off x="429768" y="1417320"/>
            <a:ext cx="2496312" cy="2971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Predecir ventas esperadas antes de firmar contrato de alquiler</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Comparar escenarios: Shopping  vs Calle Comercial C2</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Estimar ROI de la inversión CAPEX inicial</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Decidir el rubro óptimo según zona y nivel socioeconómico</a:t>
            </a:r>
            <a:endParaRPr b="0" i="0" sz="900" u="none" cap="none" strike="noStrike">
              <a:solidFill>
                <a:schemeClr val="dk1"/>
              </a:solidFill>
              <a:latin typeface="Calibri"/>
              <a:ea typeface="Calibri"/>
              <a:cs typeface="Calibri"/>
              <a:sym typeface="Calibri"/>
            </a:endParaRPr>
          </a:p>
        </p:txBody>
      </p:sp>
      <p:sp>
        <p:nvSpPr>
          <p:cNvPr id="66" name="Google Shape;66;p14"/>
          <p:cNvSpPr/>
          <p:nvPr/>
        </p:nvSpPr>
        <p:spPr>
          <a:xfrm>
            <a:off x="3264408" y="960120"/>
            <a:ext cx="2697480" cy="35204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 name="Google Shape;67;p14"/>
          <p:cNvSpPr/>
          <p:nvPr/>
        </p:nvSpPr>
        <p:spPr>
          <a:xfrm>
            <a:off x="3264408" y="960120"/>
            <a:ext cx="2697480" cy="41148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 name="Google Shape;68;p14"/>
          <p:cNvSpPr/>
          <p:nvPr/>
        </p:nvSpPr>
        <p:spPr>
          <a:xfrm>
            <a:off x="3355848" y="987552"/>
            <a:ext cx="2514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Optimización Operativa</a:t>
            </a:r>
            <a:endParaRPr b="0" i="0" sz="1100" u="none" cap="none" strike="noStrike">
              <a:solidFill>
                <a:schemeClr val="dk1"/>
              </a:solidFill>
              <a:latin typeface="Calibri"/>
              <a:ea typeface="Calibri"/>
              <a:cs typeface="Calibri"/>
              <a:sym typeface="Calibri"/>
            </a:endParaRPr>
          </a:p>
        </p:txBody>
      </p:sp>
      <p:sp>
        <p:nvSpPr>
          <p:cNvPr id="69" name="Google Shape;69;p14"/>
          <p:cNvSpPr/>
          <p:nvPr/>
        </p:nvSpPr>
        <p:spPr>
          <a:xfrm>
            <a:off x="3374136" y="1417320"/>
            <a:ext cx="2496312" cy="2971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Simular el impacto de aumentar inversión en marketing</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Evaluar si vale la pena mudarse a una ubicación en esquina (+14%)</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Definir el presupuesto de marketing mensual óptimo</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Identificar locales bajo-performance respecto a su predicción</a:t>
            </a:r>
            <a:endParaRPr b="0" i="0" sz="900" u="none" cap="none" strike="noStrike">
              <a:solidFill>
                <a:schemeClr val="dk1"/>
              </a:solidFill>
              <a:latin typeface="Calibri"/>
              <a:ea typeface="Calibri"/>
              <a:cs typeface="Calibri"/>
              <a:sym typeface="Calibri"/>
            </a:endParaRPr>
          </a:p>
        </p:txBody>
      </p:sp>
      <p:sp>
        <p:nvSpPr>
          <p:cNvPr id="70" name="Google Shape;70;p14"/>
          <p:cNvSpPr/>
          <p:nvPr/>
        </p:nvSpPr>
        <p:spPr>
          <a:xfrm>
            <a:off x="6208776" y="960120"/>
            <a:ext cx="2697480" cy="35204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14"/>
          <p:cNvSpPr/>
          <p:nvPr/>
        </p:nvSpPr>
        <p:spPr>
          <a:xfrm>
            <a:off x="6208776" y="960120"/>
            <a:ext cx="2697480" cy="411480"/>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14"/>
          <p:cNvSpPr/>
          <p:nvPr/>
        </p:nvSpPr>
        <p:spPr>
          <a:xfrm>
            <a:off x="6300216" y="987552"/>
            <a:ext cx="2514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Decisiones Financieras</a:t>
            </a:r>
            <a:endParaRPr b="0" i="0" sz="1100" u="none" cap="none" strike="noStrike">
              <a:solidFill>
                <a:schemeClr val="dk1"/>
              </a:solidFill>
              <a:latin typeface="Calibri"/>
              <a:ea typeface="Calibri"/>
              <a:cs typeface="Calibri"/>
              <a:sym typeface="Calibri"/>
            </a:endParaRPr>
          </a:p>
        </p:txBody>
      </p:sp>
      <p:sp>
        <p:nvSpPr>
          <p:cNvPr id="73" name="Google Shape;73;p14"/>
          <p:cNvSpPr/>
          <p:nvPr/>
        </p:nvSpPr>
        <p:spPr>
          <a:xfrm>
            <a:off x="6318504" y="1417320"/>
            <a:ext cx="2496312" cy="2971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Proyecciones de flujo de caja para inversores</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Valuar el portfolio de locales de una cadena</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Detectar locales con ventas anómalas (fraude / problema)</a:t>
            </a:r>
            <a:endParaRPr/>
          </a:p>
          <a:p>
            <a:pPr indent="-342900" lvl="0" marL="342900" marR="0" rtl="0" algn="l">
              <a:lnSpc>
                <a:spcPct val="100000"/>
              </a:lnSpc>
              <a:spcBef>
                <a:spcPts val="50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Presentar proyecciones fundamentadas ante entidades financieras.</a:t>
            </a:r>
            <a:endParaRPr/>
          </a:p>
          <a:p>
            <a:pPr indent="-285750" lvl="0" marL="342900" marR="0" rtl="0" algn="l">
              <a:lnSpc>
                <a:spcPct val="100000"/>
              </a:lnSpc>
              <a:spcBef>
                <a:spcPts val="500"/>
              </a:spcBef>
              <a:spcAft>
                <a:spcPts val="0"/>
              </a:spcAft>
              <a:buClr>
                <a:srgbClr val="333333"/>
              </a:buClr>
              <a:buSzPts val="900"/>
              <a:buFont typeface="Calibri"/>
              <a:buNone/>
            </a:pPr>
            <a:r>
              <a:t/>
            </a:r>
            <a:endParaRPr b="0" i="0" sz="900" u="none" cap="none" strike="noStrike">
              <a:solidFill>
                <a:schemeClr val="dk1"/>
              </a:solidFill>
              <a:latin typeface="Calibri"/>
              <a:ea typeface="Calibri"/>
              <a:cs typeface="Calibri"/>
              <a:sym typeface="Calibri"/>
            </a:endParaRPr>
          </a:p>
        </p:txBody>
      </p:sp>
      <p:sp>
        <p:nvSpPr>
          <p:cNvPr id="74" name="Google Shape;74;p14"/>
          <p:cNvSpPr/>
          <p:nvPr/>
        </p:nvSpPr>
        <p:spPr>
          <a:xfrm>
            <a:off x="320040" y="4572000"/>
            <a:ext cx="8503920" cy="502920"/>
          </a:xfrm>
          <a:prstGeom prst="rect">
            <a:avLst/>
          </a:prstGeom>
          <a:solidFill>
            <a:srgbClr val="FFF8E1"/>
          </a:solidFill>
          <a:ln cap="flat" cmpd="sng" w="1270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4"/>
          <p:cNvSpPr/>
          <p:nvPr/>
        </p:nvSpPr>
        <p:spPr>
          <a:xfrm>
            <a:off x="411480" y="4590288"/>
            <a:ext cx="83210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1000"/>
              <a:buFont typeface="Calibri"/>
              <a:buNone/>
            </a:pPr>
            <a:r>
              <a:rPr b="0" i="0" lang="en-US" sz="1000" u="none" cap="none" strike="noStrike">
                <a:solidFill>
                  <a:srgbClr val="7B5800"/>
                </a:solidFill>
                <a:latin typeface="Calibri"/>
                <a:ea typeface="Calibri"/>
                <a:cs typeface="Calibri"/>
                <a:sym typeface="Calibri"/>
              </a:rPr>
              <a:t>📌  Ejemplo: Local de Tecnología | Shopping | ABC1 | 150m² | Marketing $5,000/mes → Predicción RF: ~$875,000–$920,000 anuales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80" name="Shape 80"/>
        <p:cNvGrpSpPr/>
        <p:nvPr/>
      </p:nvGrpSpPr>
      <p:grpSpPr>
        <a:xfrm>
          <a:off x="0" y="0"/>
          <a:ext cx="0" cy="0"/>
          <a:chOff x="0" y="0"/>
          <a:chExt cx="0" cy="0"/>
        </a:xfrm>
      </p:grpSpPr>
      <p:sp>
        <p:nvSpPr>
          <p:cNvPr id="81" name="Google Shape;81;p3"/>
          <p:cNvSpPr/>
          <p:nvPr/>
        </p:nvSpPr>
        <p:spPr>
          <a:xfrm>
            <a:off x="6748272" y="914400"/>
            <a:ext cx="2350008" cy="1243584"/>
          </a:xfrm>
          <a:prstGeom prst="roundRect">
            <a:avLst>
              <a:gd fmla="val 16667" name="adj"/>
            </a:avLst>
          </a:prstGeom>
          <a:gradFill>
            <a:gsLst>
              <a:gs pos="0">
                <a:srgbClr val="D1D1D1"/>
              </a:gs>
              <a:gs pos="50000">
                <a:srgbClr val="C7C7C7"/>
              </a:gs>
              <a:gs pos="100000">
                <a:srgbClr val="C0C0C0"/>
              </a:gs>
            </a:gsLst>
            <a:lin ang="5400000" scaled="0"/>
          </a:gradFill>
          <a:ln cap="flat" cmpd="sng" w="9525">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3"/>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3"/>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DETALLE DEL DATASET</a:t>
            </a:r>
            <a:endParaRPr b="0" i="0" sz="2200" u="none" cap="none" strike="noStrike">
              <a:solidFill>
                <a:schemeClr val="dk1"/>
              </a:solidFill>
              <a:latin typeface="Calibri"/>
              <a:ea typeface="Calibri"/>
              <a:cs typeface="Calibri"/>
              <a:sym typeface="Calibri"/>
            </a:endParaRPr>
          </a:p>
        </p:txBody>
      </p:sp>
      <p:sp>
        <p:nvSpPr>
          <p:cNvPr id="84" name="Google Shape;84;p3"/>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 name="Google Shape;85;p3"/>
          <p:cNvSpPr/>
          <p:nvPr/>
        </p:nvSpPr>
        <p:spPr>
          <a:xfrm>
            <a:off x="320040" y="1005840"/>
            <a:ext cx="1920240" cy="10058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3"/>
          <p:cNvSpPr/>
          <p:nvPr/>
        </p:nvSpPr>
        <p:spPr>
          <a:xfrm>
            <a:off x="320040" y="100584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3"/>
          <p:cNvSpPr/>
          <p:nvPr/>
        </p:nvSpPr>
        <p:spPr>
          <a:xfrm>
            <a:off x="320040"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800"/>
              <a:buFont typeface="Calibri"/>
              <a:buNone/>
            </a:pPr>
            <a:r>
              <a:rPr b="1" i="0" lang="en-US" sz="2800" u="none" cap="none" strike="noStrike">
                <a:solidFill>
                  <a:srgbClr val="1565C0"/>
                </a:solidFill>
                <a:latin typeface="Calibri"/>
                <a:ea typeface="Calibri"/>
                <a:cs typeface="Calibri"/>
                <a:sym typeface="Calibri"/>
              </a:rPr>
              <a:t>3,000</a:t>
            </a:r>
            <a:endParaRPr b="0" i="0" sz="2800" u="none" cap="none" strike="noStrike">
              <a:solidFill>
                <a:schemeClr val="dk1"/>
              </a:solidFill>
              <a:latin typeface="Calibri"/>
              <a:ea typeface="Calibri"/>
              <a:cs typeface="Calibri"/>
              <a:sym typeface="Calibri"/>
            </a:endParaRPr>
          </a:p>
        </p:txBody>
      </p:sp>
      <p:sp>
        <p:nvSpPr>
          <p:cNvPr id="88" name="Google Shape;88;p3"/>
          <p:cNvSpPr/>
          <p:nvPr/>
        </p:nvSpPr>
        <p:spPr>
          <a:xfrm>
            <a:off x="320040" y="1609344"/>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Registros totales</a:t>
            </a:r>
            <a:endParaRPr b="0" i="0" sz="950" u="none" cap="none" strike="noStrike">
              <a:solidFill>
                <a:schemeClr val="dk1"/>
              </a:solidFill>
              <a:latin typeface="Calibri"/>
              <a:ea typeface="Calibri"/>
              <a:cs typeface="Calibri"/>
              <a:sym typeface="Calibri"/>
            </a:endParaRPr>
          </a:p>
        </p:txBody>
      </p:sp>
      <p:sp>
        <p:nvSpPr>
          <p:cNvPr id="89" name="Google Shape;89;p3"/>
          <p:cNvSpPr/>
          <p:nvPr/>
        </p:nvSpPr>
        <p:spPr>
          <a:xfrm>
            <a:off x="2496312" y="1005840"/>
            <a:ext cx="1920240" cy="10058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3"/>
          <p:cNvSpPr/>
          <p:nvPr/>
        </p:nvSpPr>
        <p:spPr>
          <a:xfrm>
            <a:off x="2496312" y="100584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3"/>
          <p:cNvSpPr/>
          <p:nvPr/>
        </p:nvSpPr>
        <p:spPr>
          <a:xfrm>
            <a:off x="2496312"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800"/>
              <a:buFont typeface="Calibri"/>
              <a:buNone/>
            </a:pPr>
            <a:r>
              <a:rPr b="1" i="0" lang="en-US" sz="2800" u="none" cap="none" strike="noStrike">
                <a:solidFill>
                  <a:srgbClr val="1565C0"/>
                </a:solidFill>
                <a:latin typeface="Calibri"/>
                <a:ea typeface="Calibri"/>
                <a:cs typeface="Calibri"/>
                <a:sym typeface="Calibri"/>
              </a:rPr>
              <a:t>20</a:t>
            </a:r>
            <a:endParaRPr b="0" i="0" sz="2800" u="none" cap="none" strike="noStrike">
              <a:solidFill>
                <a:schemeClr val="dk1"/>
              </a:solidFill>
              <a:latin typeface="Calibri"/>
              <a:ea typeface="Calibri"/>
              <a:cs typeface="Calibri"/>
              <a:sym typeface="Calibri"/>
            </a:endParaRPr>
          </a:p>
        </p:txBody>
      </p:sp>
      <p:sp>
        <p:nvSpPr>
          <p:cNvPr id="92" name="Google Shape;92;p3"/>
          <p:cNvSpPr/>
          <p:nvPr/>
        </p:nvSpPr>
        <p:spPr>
          <a:xfrm>
            <a:off x="2496312" y="1609344"/>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Variables</a:t>
            </a:r>
            <a:endParaRPr b="0" i="0" sz="950" u="none" cap="none" strike="noStrike">
              <a:solidFill>
                <a:schemeClr val="dk1"/>
              </a:solidFill>
              <a:latin typeface="Calibri"/>
              <a:ea typeface="Calibri"/>
              <a:cs typeface="Calibri"/>
              <a:sym typeface="Calibri"/>
            </a:endParaRPr>
          </a:p>
        </p:txBody>
      </p:sp>
      <p:sp>
        <p:nvSpPr>
          <p:cNvPr id="93" name="Google Shape;93;p3"/>
          <p:cNvSpPr/>
          <p:nvPr/>
        </p:nvSpPr>
        <p:spPr>
          <a:xfrm>
            <a:off x="4672584" y="1005840"/>
            <a:ext cx="1920240" cy="100584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3"/>
          <p:cNvSpPr/>
          <p:nvPr/>
        </p:nvSpPr>
        <p:spPr>
          <a:xfrm>
            <a:off x="4672584" y="100584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3"/>
          <p:cNvSpPr/>
          <p:nvPr/>
        </p:nvSpPr>
        <p:spPr>
          <a:xfrm>
            <a:off x="4672584"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800"/>
              <a:buFont typeface="Calibri"/>
              <a:buNone/>
            </a:pPr>
            <a:r>
              <a:rPr b="1" i="0" lang="en-US" sz="2800" u="none" cap="none" strike="noStrike">
                <a:solidFill>
                  <a:srgbClr val="1565C0"/>
                </a:solidFill>
                <a:latin typeface="Calibri"/>
                <a:ea typeface="Calibri"/>
                <a:cs typeface="Calibri"/>
                <a:sym typeface="Calibri"/>
              </a:rPr>
              <a:t>0</a:t>
            </a:r>
            <a:endParaRPr b="0" i="0" sz="2800" u="none" cap="none" strike="noStrike">
              <a:solidFill>
                <a:schemeClr val="dk1"/>
              </a:solidFill>
              <a:latin typeface="Calibri"/>
              <a:ea typeface="Calibri"/>
              <a:cs typeface="Calibri"/>
              <a:sym typeface="Calibri"/>
            </a:endParaRPr>
          </a:p>
        </p:txBody>
      </p:sp>
      <p:sp>
        <p:nvSpPr>
          <p:cNvPr id="96" name="Google Shape;96;p3"/>
          <p:cNvSpPr/>
          <p:nvPr/>
        </p:nvSpPr>
        <p:spPr>
          <a:xfrm>
            <a:off x="4672584" y="1609344"/>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Valores nulos y Duplicados</a:t>
            </a:r>
            <a:endParaRPr b="0" i="0" sz="950" u="none" cap="none" strike="noStrike">
              <a:solidFill>
                <a:schemeClr val="dk1"/>
              </a:solidFill>
              <a:latin typeface="Calibri"/>
              <a:ea typeface="Calibri"/>
              <a:cs typeface="Calibri"/>
              <a:sym typeface="Calibri"/>
            </a:endParaRPr>
          </a:p>
        </p:txBody>
      </p:sp>
      <p:sp>
        <p:nvSpPr>
          <p:cNvPr id="97" name="Google Shape;97;p3"/>
          <p:cNvSpPr/>
          <p:nvPr/>
        </p:nvSpPr>
        <p:spPr>
          <a:xfrm>
            <a:off x="6848856" y="1115568"/>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p:txBody>
      </p:sp>
      <p:sp>
        <p:nvSpPr>
          <p:cNvPr id="98" name="Google Shape;98;p3"/>
          <p:cNvSpPr/>
          <p:nvPr/>
        </p:nvSpPr>
        <p:spPr>
          <a:xfrm>
            <a:off x="320040" y="2176272"/>
            <a:ext cx="82296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400"/>
              <a:buFont typeface="Calibri"/>
              <a:buNone/>
            </a:pPr>
            <a:r>
              <a:rPr b="1" i="0" lang="en-US" sz="1400" u="none" cap="none" strike="noStrike">
                <a:solidFill>
                  <a:srgbClr val="0D1B4B"/>
                </a:solidFill>
                <a:latin typeface="Calibri"/>
                <a:ea typeface="Calibri"/>
                <a:cs typeface="Calibri"/>
                <a:sym typeface="Calibri"/>
              </a:rPr>
              <a:t>📋  Variables del Dataset</a:t>
            </a:r>
            <a:endParaRPr b="0" i="0" sz="1400" u="none" cap="none" strike="noStrike">
              <a:solidFill>
                <a:schemeClr val="dk1"/>
              </a:solidFill>
              <a:latin typeface="Calibri"/>
              <a:ea typeface="Calibri"/>
              <a:cs typeface="Calibri"/>
              <a:sym typeface="Calibri"/>
            </a:endParaRPr>
          </a:p>
        </p:txBody>
      </p:sp>
      <p:sp>
        <p:nvSpPr>
          <p:cNvPr id="99" name="Google Shape;99;p3"/>
          <p:cNvSpPr/>
          <p:nvPr/>
        </p:nvSpPr>
        <p:spPr>
          <a:xfrm>
            <a:off x="320040" y="2542032"/>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 name="Google Shape;100;p3"/>
          <p:cNvSpPr/>
          <p:nvPr/>
        </p:nvSpPr>
        <p:spPr>
          <a:xfrm>
            <a:off x="320040" y="2542032"/>
            <a:ext cx="1920240" cy="329184"/>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 name="Google Shape;101;p3"/>
          <p:cNvSpPr/>
          <p:nvPr/>
        </p:nvSpPr>
        <p:spPr>
          <a:xfrm>
            <a:off x="320040"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Operativas</a:t>
            </a:r>
            <a:endParaRPr b="0" i="0" sz="950" u="none" cap="none" strike="noStrike">
              <a:solidFill>
                <a:schemeClr val="dk1"/>
              </a:solidFill>
              <a:latin typeface="Calibri"/>
              <a:ea typeface="Calibri"/>
              <a:cs typeface="Calibri"/>
              <a:sym typeface="Calibri"/>
            </a:endParaRPr>
          </a:p>
        </p:txBody>
      </p:sp>
      <p:sp>
        <p:nvSpPr>
          <p:cNvPr id="102" name="Google Shape;102;p3"/>
          <p:cNvSpPr/>
          <p:nvPr/>
        </p:nvSpPr>
        <p:spPr>
          <a:xfrm>
            <a:off x="393192" y="2926080"/>
            <a:ext cx="1783080"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Superficie_m2</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Metros_Vidriera</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Antiguedad_Anios</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Inversion_CAPEX_USD</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Venta_Online_Pct </a:t>
            </a:r>
            <a:r>
              <a:rPr b="0" i="0" lang="en-US" sz="900" u="none" cap="none" strike="noStrike">
                <a:solidFill>
                  <a:srgbClr val="1976D2"/>
                </a:solidFill>
                <a:latin typeface="Calibri"/>
                <a:ea typeface="Calibri"/>
                <a:cs typeface="Calibri"/>
                <a:sym typeface="Calibri"/>
              </a:rPr>
              <a:t>(Data Leakage - excluida)</a:t>
            </a:r>
            <a:endParaRPr b="0" i="0" sz="900" u="none" cap="none" strike="noStrike">
              <a:solidFill>
                <a:srgbClr val="1976D2"/>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900"/>
              <a:buFont typeface="Calibri"/>
              <a:buChar char="•"/>
            </a:pPr>
            <a:r>
              <a:rPr b="0" i="0" lang="en-US" sz="900" u="none" cap="none" strike="noStrike">
                <a:solidFill>
                  <a:schemeClr val="dk1"/>
                </a:solidFill>
                <a:latin typeface="Calibri"/>
                <a:ea typeface="Calibri"/>
                <a:cs typeface="Calibri"/>
                <a:sym typeface="Calibri"/>
              </a:rPr>
              <a:t>Ventas </a:t>
            </a:r>
            <a:r>
              <a:rPr b="1" i="0" lang="en-US" sz="900" u="none" cap="none" strike="noStrike">
                <a:solidFill>
                  <a:srgbClr val="C55A11"/>
                </a:solidFill>
                <a:latin typeface="Calibri"/>
                <a:ea typeface="Calibri"/>
                <a:cs typeface="Calibri"/>
                <a:sym typeface="Calibri"/>
              </a:rPr>
              <a:t>(Var Predictoria)</a:t>
            </a:r>
            <a:endParaRPr b="0" i="0" sz="1400" u="none" cap="none" strike="noStrike">
              <a:solidFill>
                <a:srgbClr val="000000"/>
              </a:solidFill>
              <a:latin typeface="Arial"/>
              <a:ea typeface="Arial"/>
              <a:cs typeface="Arial"/>
              <a:sym typeface="Arial"/>
            </a:endParaRPr>
          </a:p>
        </p:txBody>
      </p:sp>
      <p:sp>
        <p:nvSpPr>
          <p:cNvPr id="103" name="Google Shape;103;p3"/>
          <p:cNvSpPr/>
          <p:nvPr/>
        </p:nvSpPr>
        <p:spPr>
          <a:xfrm>
            <a:off x="2496312" y="2542032"/>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 name="Google Shape;104;p3"/>
          <p:cNvSpPr/>
          <p:nvPr/>
        </p:nvSpPr>
        <p:spPr>
          <a:xfrm>
            <a:off x="2496312" y="2542032"/>
            <a:ext cx="1920240" cy="32918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 name="Google Shape;105;p3"/>
          <p:cNvSpPr/>
          <p:nvPr/>
        </p:nvSpPr>
        <p:spPr>
          <a:xfrm>
            <a:off x="2496312"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Marketing &amp; Financiero</a:t>
            </a:r>
            <a:endParaRPr b="0" i="0" sz="950" u="none" cap="none" strike="noStrike">
              <a:solidFill>
                <a:schemeClr val="dk1"/>
              </a:solidFill>
              <a:latin typeface="Calibri"/>
              <a:ea typeface="Calibri"/>
              <a:cs typeface="Calibri"/>
              <a:sym typeface="Calibri"/>
            </a:endParaRPr>
          </a:p>
        </p:txBody>
      </p:sp>
      <p:sp>
        <p:nvSpPr>
          <p:cNvPr id="106" name="Google Shape;106;p3"/>
          <p:cNvSpPr/>
          <p:nvPr/>
        </p:nvSpPr>
        <p:spPr>
          <a:xfrm>
            <a:off x="2569463" y="2926080"/>
            <a:ext cx="2002537"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Inversion_Marketing_Mensual</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Alquiler_Mensual_USD</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Ticket_Promedio_USD</a:t>
            </a:r>
            <a:r>
              <a:rPr b="0" i="0" lang="en-US" sz="900" u="none" cap="none" strike="noStrike">
                <a:solidFill>
                  <a:srgbClr val="1976D2"/>
                </a:solidFill>
                <a:latin typeface="Calibri"/>
                <a:ea typeface="Calibri"/>
                <a:cs typeface="Calibri"/>
                <a:sym typeface="Calibri"/>
              </a:rPr>
              <a:t>(Data Leakage - excluida)</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Margen_EBITDA_Pct </a:t>
            </a:r>
            <a:r>
              <a:rPr b="0" i="0" lang="en-US" sz="900" u="none" cap="none" strike="noStrike">
                <a:solidFill>
                  <a:srgbClr val="1976D2"/>
                </a:solidFill>
                <a:latin typeface="Calibri"/>
                <a:ea typeface="Calibri"/>
                <a:cs typeface="Calibri"/>
                <a:sym typeface="Calibri"/>
              </a:rPr>
              <a:t>(Data Leakage - excluida)</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Posicionamiento</a:t>
            </a:r>
            <a:r>
              <a:rPr b="0" i="0" lang="en-US" sz="700" u="none" cap="none" strike="noStrike">
                <a:solidFill>
                  <a:srgbClr val="BFBFBF"/>
                </a:solidFill>
                <a:latin typeface="Calibri"/>
                <a:ea typeface="Calibri"/>
                <a:cs typeface="Calibri"/>
                <a:sym typeface="Calibri"/>
              </a:rPr>
              <a:t> (CAT)</a:t>
            </a:r>
            <a:endParaRPr b="0" i="0" sz="900" u="none" cap="none" strike="noStrike">
              <a:solidFill>
                <a:srgbClr val="BFBFBF"/>
              </a:solidFill>
              <a:latin typeface="Calibri"/>
              <a:ea typeface="Calibri"/>
              <a:cs typeface="Calibri"/>
              <a:sym typeface="Calibri"/>
            </a:endParaRPr>
          </a:p>
        </p:txBody>
      </p:sp>
      <p:sp>
        <p:nvSpPr>
          <p:cNvPr id="107" name="Google Shape;107;p3"/>
          <p:cNvSpPr/>
          <p:nvPr/>
        </p:nvSpPr>
        <p:spPr>
          <a:xfrm>
            <a:off x="4672584" y="2542032"/>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3"/>
          <p:cNvSpPr/>
          <p:nvPr/>
        </p:nvSpPr>
        <p:spPr>
          <a:xfrm>
            <a:off x="4672584" y="2542032"/>
            <a:ext cx="1920240" cy="329184"/>
          </a:xfrm>
          <a:prstGeom prst="rect">
            <a:avLst/>
          </a:prstGeom>
          <a:solidFill>
            <a:srgbClr val="E651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3"/>
          <p:cNvSpPr/>
          <p:nvPr/>
        </p:nvSpPr>
        <p:spPr>
          <a:xfrm>
            <a:off x="4672584"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Ubicación</a:t>
            </a:r>
            <a:endParaRPr b="0" i="0" sz="950" u="none" cap="none" strike="noStrike">
              <a:solidFill>
                <a:schemeClr val="dk1"/>
              </a:solidFill>
              <a:latin typeface="Calibri"/>
              <a:ea typeface="Calibri"/>
              <a:cs typeface="Calibri"/>
              <a:sym typeface="Calibri"/>
            </a:endParaRPr>
          </a:p>
        </p:txBody>
      </p:sp>
      <p:sp>
        <p:nvSpPr>
          <p:cNvPr id="110" name="Google Shape;110;p3"/>
          <p:cNvSpPr/>
          <p:nvPr/>
        </p:nvSpPr>
        <p:spPr>
          <a:xfrm>
            <a:off x="4745736" y="2926080"/>
            <a:ext cx="1783080"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Tipo_Ubicacion </a:t>
            </a:r>
            <a:r>
              <a:rPr b="0" i="0" lang="en-US" sz="800" u="none" cap="none" strike="noStrike">
                <a:solidFill>
                  <a:srgbClr val="BFBFBF"/>
                </a:solidFill>
                <a:latin typeface="Calibri"/>
                <a:ea typeface="Calibri"/>
                <a:cs typeface="Calibri"/>
                <a:sym typeface="Calibri"/>
              </a:rPr>
              <a:t> (CAT)</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Ubicacion_Esquina</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Distancia_Ancla_Metros</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Transito_Peatonal_Pico</a:t>
            </a:r>
            <a:endParaRPr b="0" i="0" sz="900" u="none" cap="none" strike="noStrike">
              <a:solidFill>
                <a:srgbClr val="33333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111" name="Google Shape;111;p3"/>
          <p:cNvSpPr/>
          <p:nvPr/>
        </p:nvSpPr>
        <p:spPr>
          <a:xfrm>
            <a:off x="6748272" y="2692908"/>
            <a:ext cx="1920240" cy="2331720"/>
          </a:xfrm>
          <a:prstGeom prst="rect">
            <a:avLst/>
          </a:prstGeom>
          <a:solidFill>
            <a:srgbClr val="FFFFFF"/>
          </a:solidFill>
          <a:ln>
            <a:noFill/>
          </a:ln>
          <a:effectLst>
            <a:outerShdw blurRad="762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 name="Google Shape;112;p3"/>
          <p:cNvSpPr/>
          <p:nvPr/>
        </p:nvSpPr>
        <p:spPr>
          <a:xfrm>
            <a:off x="6848856" y="2542032"/>
            <a:ext cx="1920240" cy="329184"/>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 name="Google Shape;113;p3"/>
          <p:cNvSpPr/>
          <p:nvPr/>
        </p:nvSpPr>
        <p:spPr>
          <a:xfrm>
            <a:off x="6848856" y="2542032"/>
            <a:ext cx="1920240" cy="3291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114" name="Google Shape;114;p3"/>
          <p:cNvSpPr/>
          <p:nvPr/>
        </p:nvSpPr>
        <p:spPr>
          <a:xfrm>
            <a:off x="6922008" y="2926080"/>
            <a:ext cx="1938528" cy="182880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Nivel_Socioeconomico </a:t>
            </a:r>
            <a:r>
              <a:rPr b="0" i="0" lang="en-US" sz="800" u="none" cap="none" strike="noStrike">
                <a:solidFill>
                  <a:srgbClr val="BFBFBF"/>
                </a:solidFill>
                <a:latin typeface="Calibri"/>
                <a:ea typeface="Calibri"/>
                <a:cs typeface="Calibri"/>
                <a:sym typeface="Calibri"/>
              </a:rPr>
              <a:t>(CAT)</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Densidad_Poblacional</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Puntos de Interes proximos</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Densidad_Competencia</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Rubro </a:t>
            </a:r>
            <a:r>
              <a:rPr b="0" i="0" lang="en-US" sz="900" u="none" cap="none" strike="noStrike">
                <a:solidFill>
                  <a:srgbClr val="BFBFBF"/>
                </a:solidFill>
                <a:latin typeface="Calibri"/>
                <a:ea typeface="Calibri"/>
                <a:cs typeface="Calibri"/>
                <a:sym typeface="Calibri"/>
              </a:rPr>
              <a:t>(CAT)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latin typeface="Calibri"/>
              <a:ea typeface="Calibri"/>
              <a:cs typeface="Calibri"/>
              <a:sym typeface="Calibri"/>
            </a:endParaRPr>
          </a:p>
        </p:txBody>
      </p:sp>
      <p:sp>
        <p:nvSpPr>
          <p:cNvPr id="115" name="Google Shape;115;p3"/>
          <p:cNvSpPr/>
          <p:nvPr/>
        </p:nvSpPr>
        <p:spPr>
          <a:xfrm>
            <a:off x="320040" y="4828032"/>
            <a:ext cx="8503920" cy="201168"/>
          </a:xfrm>
          <a:prstGeom prst="rect">
            <a:avLst/>
          </a:prstGeom>
          <a:solidFill>
            <a:srgbClr val="FFF8E1"/>
          </a:solidFill>
          <a:ln cap="flat" cmpd="sng" w="9525">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3"/>
          <p:cNvSpPr/>
          <p:nvPr/>
        </p:nvSpPr>
        <p:spPr>
          <a:xfrm>
            <a:off x="411480" y="4837176"/>
            <a:ext cx="8321040" cy="1737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850"/>
              <a:buFont typeface="Calibri"/>
              <a:buNone/>
            </a:pPr>
            <a:r>
              <a:rPr b="0" i="0" lang="en-US" sz="850" u="none" cap="none" strike="noStrike">
                <a:solidFill>
                  <a:srgbClr val="7B5800"/>
                </a:solidFill>
                <a:latin typeface="Calibri"/>
                <a:ea typeface="Calibri"/>
                <a:cs typeface="Calibri"/>
                <a:sym typeface="Calibri"/>
              </a:rPr>
              <a:t>⚠  Outliers detectados en CAPEX (108), Marketing (128), Alquiler (101) y Ventas (66) — conservados por ser casos de negocio legítimos</a:t>
            </a:r>
            <a:endParaRPr b="0" i="0" sz="850" u="none" cap="none" strike="noStrike">
              <a:solidFill>
                <a:schemeClr val="dk1"/>
              </a:solidFill>
              <a:latin typeface="Calibri"/>
              <a:ea typeface="Calibri"/>
              <a:cs typeface="Calibri"/>
              <a:sym typeface="Calibri"/>
            </a:endParaRPr>
          </a:p>
        </p:txBody>
      </p:sp>
      <p:sp>
        <p:nvSpPr>
          <p:cNvPr id="117" name="Google Shape;117;p3"/>
          <p:cNvSpPr txBox="1"/>
          <p:nvPr/>
        </p:nvSpPr>
        <p:spPr>
          <a:xfrm>
            <a:off x="6782816" y="1023478"/>
            <a:ext cx="2041144" cy="2616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B923C"/>
              </a:buClr>
              <a:buSzPts val="1100"/>
              <a:buFont typeface="Calibri"/>
              <a:buNone/>
            </a:pPr>
            <a:r>
              <a:rPr b="1" i="0" lang="en-US" sz="1100" u="none" cap="none" strike="noStrike">
                <a:solidFill>
                  <a:srgbClr val="FB923C"/>
                </a:solidFill>
                <a:latin typeface="Calibri"/>
                <a:ea typeface="Calibri"/>
                <a:cs typeface="Calibri"/>
                <a:sym typeface="Calibri"/>
              </a:rPr>
              <a:t>🔢 </a:t>
            </a:r>
            <a:r>
              <a:rPr b="0" i="0" lang="en-US" sz="1100" u="none" cap="none" strike="noStrike">
                <a:solidFill>
                  <a:schemeClr val="accent1"/>
                </a:solidFill>
                <a:latin typeface="Calibri"/>
                <a:ea typeface="Calibri"/>
                <a:cs typeface="Calibri"/>
                <a:sym typeface="Calibri"/>
              </a:rPr>
              <a:t>Tipos de Variables</a:t>
            </a:r>
            <a:endParaRPr b="0" i="0" sz="1100" u="none" cap="none" strike="noStrike">
              <a:solidFill>
                <a:schemeClr val="dk1"/>
              </a:solidFill>
              <a:latin typeface="Calibri"/>
              <a:ea typeface="Calibri"/>
              <a:cs typeface="Calibri"/>
              <a:sym typeface="Calibri"/>
            </a:endParaRPr>
          </a:p>
        </p:txBody>
      </p:sp>
      <p:sp>
        <p:nvSpPr>
          <p:cNvPr id="118" name="Google Shape;118;p3"/>
          <p:cNvSpPr txBox="1"/>
          <p:nvPr/>
        </p:nvSpPr>
        <p:spPr>
          <a:xfrm>
            <a:off x="6922008" y="1259586"/>
            <a:ext cx="2214881" cy="838691"/>
          </a:xfrm>
          <a:prstGeom prst="rect">
            <a:avLst/>
          </a:prstGeom>
          <a:noFill/>
          <a:ln>
            <a:noFill/>
          </a:ln>
        </p:spPr>
        <p:txBody>
          <a:bodyPr anchorCtr="0" anchor="t" bIns="45700" lIns="91425" spcFirstLastPara="1" rIns="91425" wrap="square" tIns="45700">
            <a:spAutoFit/>
          </a:bodyPr>
          <a:lstStyle/>
          <a:p>
            <a:pPr indent="-171450" lvl="0" marL="171450" marR="0" rtl="0" algn="l">
              <a:lnSpc>
                <a:spcPct val="100000"/>
              </a:lnSpc>
              <a:spcBef>
                <a:spcPts val="0"/>
              </a:spcBef>
              <a:spcAft>
                <a:spcPts val="0"/>
              </a:spcAft>
              <a:buClr>
                <a:srgbClr val="1F3864"/>
              </a:buClr>
              <a:buSzPts val="900"/>
              <a:buFont typeface="Noto Sans Symbols"/>
              <a:buChar char="❖"/>
            </a:pPr>
            <a:r>
              <a:rPr b="0" i="0" lang="en-US" sz="900" u="none" cap="none" strike="noStrike">
                <a:solidFill>
                  <a:srgbClr val="1F3864"/>
                </a:solidFill>
                <a:latin typeface="Calibri"/>
                <a:ea typeface="Calibri"/>
                <a:cs typeface="Calibri"/>
                <a:sym typeface="Calibri"/>
              </a:rPr>
              <a:t>Numéricas: 12 variables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500"/>
              </a:spcBef>
              <a:spcAft>
                <a:spcPts val="0"/>
              </a:spcAft>
              <a:buClr>
                <a:srgbClr val="1F3864"/>
              </a:buClr>
              <a:buSzPts val="900"/>
              <a:buFont typeface="Noto Sans Symbols"/>
              <a:buChar char="❖"/>
            </a:pPr>
            <a:r>
              <a:rPr b="0" i="0" lang="en-US" sz="900" u="none" cap="none" strike="noStrike">
                <a:solidFill>
                  <a:srgbClr val="1F3864"/>
                </a:solidFill>
                <a:latin typeface="Calibri"/>
                <a:ea typeface="Calibri"/>
                <a:cs typeface="Calibri"/>
                <a:sym typeface="Calibri"/>
              </a:rPr>
              <a:t>Categóricas: 4 Variables </a:t>
            </a:r>
            <a:endParaRPr b="0" i="0" sz="1400" u="none" cap="none" strike="noStrike">
              <a:solidFill>
                <a:srgbClr val="000000"/>
              </a:solidFill>
              <a:latin typeface="Arial"/>
              <a:ea typeface="Arial"/>
              <a:cs typeface="Arial"/>
              <a:sym typeface="Arial"/>
            </a:endParaRPr>
          </a:p>
          <a:p>
            <a:pPr indent="-171450" lvl="0" marL="171450" marR="0" rtl="0" algn="l">
              <a:lnSpc>
                <a:spcPct val="100000"/>
              </a:lnSpc>
              <a:spcBef>
                <a:spcPts val="500"/>
              </a:spcBef>
              <a:spcAft>
                <a:spcPts val="0"/>
              </a:spcAft>
              <a:buClr>
                <a:srgbClr val="1F3864"/>
              </a:buClr>
              <a:buSzPts val="900"/>
              <a:buFont typeface="Noto Sans Symbols"/>
              <a:buChar char="❖"/>
            </a:pPr>
            <a:r>
              <a:rPr b="0" i="0" lang="en-US" sz="900" u="none" cap="none" strike="noStrike">
                <a:solidFill>
                  <a:srgbClr val="1F3864"/>
                </a:solidFill>
                <a:latin typeface="Calibri"/>
                <a:ea typeface="Calibri"/>
                <a:cs typeface="Calibri"/>
                <a:sym typeface="Calibri"/>
              </a:rPr>
              <a:t>Ordinales: Nivel Socio, Posicionamiento</a:t>
            </a:r>
            <a:endParaRPr b="0" i="0" sz="900" u="none" cap="none" strike="noStrike">
              <a:solidFill>
                <a:srgbClr val="1F3864"/>
              </a:solidFill>
              <a:latin typeface="Calibri"/>
              <a:ea typeface="Calibri"/>
              <a:cs typeface="Calibri"/>
              <a:sym typeface="Calibri"/>
            </a:endParaRPr>
          </a:p>
          <a:p>
            <a:pPr indent="-171450" lvl="0" marL="171450" marR="0" rtl="0" algn="l">
              <a:lnSpc>
                <a:spcPct val="100000"/>
              </a:lnSpc>
              <a:spcBef>
                <a:spcPts val="500"/>
              </a:spcBef>
              <a:spcAft>
                <a:spcPts val="0"/>
              </a:spcAft>
              <a:buClr>
                <a:srgbClr val="1F3864"/>
              </a:buClr>
              <a:buSzPts val="900"/>
              <a:buFont typeface="Noto Sans Symbols"/>
              <a:buChar char="❖"/>
            </a:pPr>
            <a:r>
              <a:rPr b="0" i="0" lang="en-US" sz="900" u="none" cap="none" strike="noStrike">
                <a:solidFill>
                  <a:srgbClr val="1F3864"/>
                </a:solidFill>
                <a:latin typeface="Calibri"/>
                <a:ea typeface="Calibri"/>
                <a:cs typeface="Calibri"/>
                <a:sym typeface="Calibri"/>
              </a:rPr>
              <a:t>Nominales: Rubro, Tipo Ubicación</a:t>
            </a:r>
            <a:endParaRPr b="0" i="0" sz="900" u="none" cap="none" strike="noStrike">
              <a:solidFill>
                <a:srgbClr val="1F3864"/>
              </a:solidFill>
              <a:latin typeface="Calibri"/>
              <a:ea typeface="Calibri"/>
              <a:cs typeface="Calibri"/>
              <a:sym typeface="Calibri"/>
            </a:endParaRPr>
          </a:p>
        </p:txBody>
      </p:sp>
      <p:sp>
        <p:nvSpPr>
          <p:cNvPr id="119" name="Google Shape;119;p3"/>
          <p:cNvSpPr/>
          <p:nvPr/>
        </p:nvSpPr>
        <p:spPr>
          <a:xfrm rot="-823305">
            <a:off x="8296392" y="1295479"/>
            <a:ext cx="928100" cy="332467"/>
          </a:xfrm>
          <a:prstGeom prst="leftRightArrow">
            <a:avLst>
              <a:gd fmla="val 50000" name="adj1"/>
              <a:gd fmla="val 50000" name="adj2"/>
            </a:avLst>
          </a:prstGeom>
          <a:solidFill>
            <a:schemeClr val="accent4">
              <a:alpha val="50196"/>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600"/>
              <a:buFont typeface="Arial"/>
              <a:buNone/>
            </a:pPr>
            <a:r>
              <a:rPr b="1" i="0" lang="en-US" sz="600" u="none" cap="none" strike="noStrike">
                <a:solidFill>
                  <a:srgbClr val="1F3864"/>
                </a:solidFill>
                <a:latin typeface="Calibri"/>
                <a:ea typeface="Calibri"/>
                <a:cs typeface="Calibri"/>
                <a:sym typeface="Calibri"/>
              </a:rPr>
              <a:t>Encoding aplicado</a:t>
            </a:r>
            <a:endParaRPr b="1" i="0" sz="600" u="none" cap="none" strike="noStrike">
              <a:solidFill>
                <a:srgbClr val="1F3864"/>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 name="Shape 123"/>
        <p:cNvGrpSpPr/>
        <p:nvPr/>
      </p:nvGrpSpPr>
      <p:grpSpPr>
        <a:xfrm>
          <a:off x="0" y="0"/>
          <a:ext cx="0" cy="0"/>
          <a:chOff x="0" y="0"/>
          <a:chExt cx="0" cy="0"/>
        </a:xfrm>
      </p:grpSpPr>
      <p:sp>
        <p:nvSpPr>
          <p:cNvPr id="124" name="Google Shape;124;g3ca65b628b7_1_0"/>
          <p:cNvSpPr/>
          <p:nvPr/>
        </p:nvSpPr>
        <p:spPr>
          <a:xfrm>
            <a:off x="0" y="0"/>
            <a:ext cx="9144000" cy="77730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5" name="Google Shape;125;g3ca65b628b7_1_0"/>
          <p:cNvSpPr/>
          <p:nvPr/>
        </p:nvSpPr>
        <p:spPr>
          <a:xfrm>
            <a:off x="365760" y="0"/>
            <a:ext cx="8229600" cy="777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Wo Outliers - Experiment</a:t>
            </a:r>
            <a:endParaRPr b="0" i="0" sz="2200" u="none" cap="none" strike="noStrike">
              <a:solidFill>
                <a:schemeClr val="dk1"/>
              </a:solidFill>
              <a:latin typeface="Calibri"/>
              <a:ea typeface="Calibri"/>
              <a:cs typeface="Calibri"/>
              <a:sym typeface="Calibri"/>
            </a:endParaRPr>
          </a:p>
        </p:txBody>
      </p:sp>
      <p:sp>
        <p:nvSpPr>
          <p:cNvPr id="126" name="Google Shape;126;g3ca65b628b7_1_0"/>
          <p:cNvSpPr/>
          <p:nvPr/>
        </p:nvSpPr>
        <p:spPr>
          <a:xfrm>
            <a:off x="0" y="777240"/>
            <a:ext cx="9144000" cy="549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g3ca65b628b7_1_0"/>
          <p:cNvSpPr txBox="1"/>
          <p:nvPr/>
        </p:nvSpPr>
        <p:spPr>
          <a:xfrm>
            <a:off x="113200" y="910899"/>
            <a:ext cx="3731100" cy="1200600"/>
          </a:xfrm>
          <a:prstGeom prst="rect">
            <a:avLst/>
          </a:prstGeom>
          <a:gradFill>
            <a:gsLst>
              <a:gs pos="0">
                <a:srgbClr val="A6B6DE"/>
              </a:gs>
              <a:gs pos="50000">
                <a:srgbClr val="98AAD9"/>
              </a:gs>
              <a:gs pos="100000">
                <a:srgbClr val="859CD7"/>
              </a:gs>
            </a:gsLst>
            <a:lin ang="5400012"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100"/>
              <a:buFont typeface="Arial"/>
              <a:buNone/>
            </a:pPr>
            <a:r>
              <a:rPr b="1" i="0" lang="en-US" sz="1200" u="none" cap="none" strike="noStrike">
                <a:solidFill>
                  <a:srgbClr val="1E4E79"/>
                </a:solidFill>
                <a:latin typeface="Calibri"/>
                <a:ea typeface="Calibri"/>
                <a:cs typeface="Calibri"/>
                <a:sym typeface="Calibri"/>
              </a:rPr>
              <a:t>Configuración del experimento</a:t>
            </a:r>
            <a:endParaRPr b="1" i="0" sz="1200" u="none" cap="none" strike="noStrike">
              <a:solidFill>
                <a:srgbClr val="1E4E79"/>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rgbClr val="1E4E79"/>
                </a:solidFill>
                <a:latin typeface="Calibri"/>
                <a:ea typeface="Calibri"/>
                <a:cs typeface="Calibri"/>
                <a:sym typeface="Calibri"/>
              </a:rPr>
              <a:t>Dataset original: 3,000 locales.</a:t>
            </a:r>
            <a:endParaRPr b="0" i="0" sz="800" u="none" cap="none" strike="noStrike">
              <a:solidFill>
                <a:srgbClr val="1E4E79"/>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rgbClr val="1E4E79"/>
                </a:solidFill>
                <a:latin typeface="Calibri"/>
                <a:ea typeface="Calibri"/>
                <a:cs typeface="Calibri"/>
                <a:sym typeface="Calibri"/>
              </a:rPr>
              <a:t>Outliers detectados: 305 registros (10.2%) en variables clave (inversión CAPEX, marketing, alquiler, ventas).</a:t>
            </a:r>
            <a:endParaRPr b="0" i="0" sz="800" u="none" cap="none" strike="noStrike">
              <a:solidFill>
                <a:srgbClr val="1E4E79"/>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rgbClr val="1E4E79"/>
                </a:solidFill>
                <a:latin typeface="Calibri"/>
                <a:ea typeface="Calibri"/>
                <a:cs typeface="Calibri"/>
                <a:sym typeface="Calibri"/>
              </a:rPr>
              <a:t>Modelos comparados: KNN (con búsqueda de k óptimo) y Random Forest.</a:t>
            </a:r>
            <a:endParaRPr b="0" i="0" sz="800" u="none" cap="none" strike="noStrike">
              <a:solidFill>
                <a:srgbClr val="1E4E79"/>
              </a:solidFill>
              <a:latin typeface="Calibri"/>
              <a:ea typeface="Calibri"/>
              <a:cs typeface="Calibri"/>
              <a:sym typeface="Calibri"/>
            </a:endParaRPr>
          </a:p>
          <a:p>
            <a:pPr indent="-279400" lvl="0" marL="457200" marR="0" rtl="0" algn="l">
              <a:lnSpc>
                <a:spcPct val="100000"/>
              </a:lnSpc>
              <a:spcBef>
                <a:spcPts val="0"/>
              </a:spcBef>
              <a:spcAft>
                <a:spcPts val="0"/>
              </a:spcAft>
              <a:buClr>
                <a:srgbClr val="1E4E79"/>
              </a:buClr>
              <a:buSzPts val="800"/>
              <a:buFont typeface="Calibri"/>
              <a:buChar char="●"/>
            </a:pPr>
            <a:r>
              <a:rPr b="0" i="0" lang="en-US" sz="800" u="none" cap="none" strike="noStrike">
                <a:solidFill>
                  <a:srgbClr val="1E4E79"/>
                </a:solidFill>
                <a:latin typeface="Calibri"/>
                <a:ea typeface="Calibri"/>
                <a:cs typeface="Calibri"/>
                <a:sym typeface="Calibri"/>
              </a:rPr>
              <a:t>Métrica principal: R² (coeficiente de determinación) y MAE (error absoluto medio)</a:t>
            </a:r>
            <a:endParaRPr b="0" i="0" sz="800" u="none" cap="none" strike="noStrike">
              <a:solidFill>
                <a:srgbClr val="1E4E79"/>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1E4E79"/>
              </a:solidFill>
              <a:latin typeface="Calibri"/>
              <a:ea typeface="Calibri"/>
              <a:cs typeface="Calibri"/>
              <a:sym typeface="Calibri"/>
            </a:endParaRPr>
          </a:p>
        </p:txBody>
      </p:sp>
      <p:sp>
        <p:nvSpPr>
          <p:cNvPr id="128" name="Google Shape;128;g3ca65b628b7_1_0"/>
          <p:cNvSpPr txBox="1"/>
          <p:nvPr/>
        </p:nvSpPr>
        <p:spPr>
          <a:xfrm>
            <a:off x="4658300" y="910904"/>
            <a:ext cx="4172400" cy="1200600"/>
          </a:xfrm>
          <a:prstGeom prst="rect">
            <a:avLst/>
          </a:prstGeom>
          <a:gradFill>
            <a:gsLst>
              <a:gs pos="0">
                <a:srgbClr val="B4D4A5"/>
              </a:gs>
              <a:gs pos="50000">
                <a:srgbClr val="A8CD97"/>
              </a:gs>
              <a:gs pos="100000">
                <a:srgbClr val="9BC985"/>
              </a:gs>
            </a:gsLst>
            <a:lin ang="5400700" scaled="0"/>
          </a:gradFill>
          <a:ln cap="flat" cmpd="sng" w="9525">
            <a:solidFill>
              <a:srgbClr val="2EC643"/>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100"/>
              <a:buFont typeface="Arial"/>
              <a:buNone/>
            </a:pPr>
            <a:r>
              <a:rPr b="1" i="0" lang="en-US" sz="900" u="none" cap="none" strike="noStrike">
                <a:solidFill>
                  <a:srgbClr val="548135"/>
                </a:solidFill>
                <a:latin typeface="Calibri"/>
                <a:ea typeface="Calibri"/>
                <a:cs typeface="Calibri"/>
                <a:sym typeface="Calibri"/>
              </a:rPr>
              <a:t>Hallazgos clave</a:t>
            </a:r>
            <a:endParaRPr b="0" i="0" sz="1100" u="none" cap="none" strike="noStrike">
              <a:solidFill>
                <a:srgbClr val="548135"/>
              </a:solidFill>
              <a:latin typeface="Arial"/>
              <a:ea typeface="Arial"/>
              <a:cs typeface="Arial"/>
              <a:sym typeface="Arial"/>
            </a:endParaRPr>
          </a:p>
          <a:p>
            <a:pPr indent="-285750" lvl="0" marL="457200" marR="0" rtl="0" algn="l">
              <a:lnSpc>
                <a:spcPct val="100000"/>
              </a:lnSpc>
              <a:spcBef>
                <a:spcPts val="0"/>
              </a:spcBef>
              <a:spcAft>
                <a:spcPts val="0"/>
              </a:spcAft>
              <a:buClr>
                <a:srgbClr val="548135"/>
              </a:buClr>
              <a:buSzPts val="900"/>
              <a:buFont typeface="Calibri"/>
              <a:buChar char="●"/>
            </a:pPr>
            <a:r>
              <a:rPr b="0" i="0" lang="en-US" sz="900" u="none" cap="none" strike="noStrike">
                <a:solidFill>
                  <a:srgbClr val="548135"/>
                </a:solidFill>
                <a:latin typeface="Calibri"/>
                <a:ea typeface="Calibri"/>
                <a:cs typeface="Calibri"/>
                <a:sym typeface="Calibri"/>
              </a:rPr>
              <a:t>Random Forest es robusto a outliers: su rendimiento apenas empeora al eliminarlos (R²: 0.</a:t>
            </a:r>
            <a:r>
              <a:rPr lang="en-US" sz="900">
                <a:solidFill>
                  <a:srgbClr val="548135"/>
                </a:solidFill>
                <a:latin typeface="Calibri"/>
                <a:ea typeface="Calibri"/>
                <a:cs typeface="Calibri"/>
                <a:sym typeface="Calibri"/>
              </a:rPr>
              <a:t>8288</a:t>
            </a:r>
            <a:r>
              <a:rPr b="0" i="0" lang="en-US" sz="900" u="none" cap="none" strike="noStrike">
                <a:solidFill>
                  <a:srgbClr val="548135"/>
                </a:solidFill>
                <a:latin typeface="Calibri"/>
                <a:ea typeface="Calibri"/>
                <a:cs typeface="Calibri"/>
                <a:sym typeface="Calibri"/>
              </a:rPr>
              <a:t> → 0.7</a:t>
            </a:r>
            <a:r>
              <a:rPr lang="en-US" sz="900">
                <a:solidFill>
                  <a:srgbClr val="548135"/>
                </a:solidFill>
                <a:latin typeface="Calibri"/>
                <a:ea typeface="Calibri"/>
                <a:cs typeface="Calibri"/>
                <a:sym typeface="Calibri"/>
              </a:rPr>
              <a:t>59</a:t>
            </a:r>
            <a:r>
              <a:rPr b="0" i="0" lang="en-US" sz="900" u="none" cap="none" strike="noStrike">
                <a:solidFill>
                  <a:srgbClr val="548135"/>
                </a:solidFill>
                <a:latin typeface="Calibri"/>
                <a:ea typeface="Calibri"/>
                <a:cs typeface="Calibri"/>
                <a:sym typeface="Calibri"/>
              </a:rPr>
              <a:t> (-6.9%). Esto indica que los casos extremos (locales premium) contienen información valiosa que el modelo aprovecha.</a:t>
            </a:r>
            <a:endParaRPr b="0" i="0" sz="900" u="none" cap="none" strike="noStrike">
              <a:solidFill>
                <a:srgbClr val="548135"/>
              </a:solidFill>
              <a:latin typeface="Calibri"/>
              <a:ea typeface="Calibri"/>
              <a:cs typeface="Calibri"/>
              <a:sym typeface="Calibri"/>
            </a:endParaRPr>
          </a:p>
          <a:p>
            <a:pPr indent="-285750" lvl="0" marL="457200" marR="0" rtl="0" algn="l">
              <a:lnSpc>
                <a:spcPct val="100000"/>
              </a:lnSpc>
              <a:spcBef>
                <a:spcPts val="0"/>
              </a:spcBef>
              <a:spcAft>
                <a:spcPts val="0"/>
              </a:spcAft>
              <a:buClr>
                <a:srgbClr val="548135"/>
              </a:buClr>
              <a:buSzPts val="900"/>
              <a:buFont typeface="Calibri"/>
              <a:buChar char="●"/>
            </a:pPr>
            <a:r>
              <a:rPr b="0" i="0" lang="en-US" sz="900" u="none" cap="none" strike="noStrike">
                <a:solidFill>
                  <a:srgbClr val="548135"/>
                </a:solidFill>
                <a:latin typeface="Calibri"/>
                <a:ea typeface="Calibri"/>
                <a:cs typeface="Calibri"/>
                <a:sym typeface="Calibri"/>
              </a:rPr>
              <a:t>KNN es más sensible: R²: 0.6</a:t>
            </a:r>
            <a:r>
              <a:rPr lang="en-US" sz="900">
                <a:solidFill>
                  <a:srgbClr val="548135"/>
                </a:solidFill>
                <a:latin typeface="Calibri"/>
                <a:ea typeface="Calibri"/>
                <a:cs typeface="Calibri"/>
                <a:sym typeface="Calibri"/>
              </a:rPr>
              <a:t>38</a:t>
            </a:r>
            <a:r>
              <a:rPr b="0" i="0" lang="en-US" sz="900" u="none" cap="none" strike="noStrike">
                <a:solidFill>
                  <a:srgbClr val="548135"/>
                </a:solidFill>
                <a:latin typeface="Calibri"/>
                <a:ea typeface="Calibri"/>
                <a:cs typeface="Calibri"/>
                <a:sym typeface="Calibri"/>
              </a:rPr>
              <a:t> → 0.</a:t>
            </a:r>
            <a:r>
              <a:rPr lang="en-US" sz="900">
                <a:solidFill>
                  <a:srgbClr val="548135"/>
                </a:solidFill>
                <a:latin typeface="Calibri"/>
                <a:ea typeface="Calibri"/>
                <a:cs typeface="Calibri"/>
                <a:sym typeface="Calibri"/>
              </a:rPr>
              <a:t>585</a:t>
            </a:r>
            <a:r>
              <a:rPr b="0" i="0" lang="en-US" sz="900" u="none" cap="none" strike="noStrike">
                <a:solidFill>
                  <a:srgbClr val="548135"/>
                </a:solidFill>
                <a:latin typeface="Calibri"/>
                <a:ea typeface="Calibri"/>
                <a:cs typeface="Calibri"/>
                <a:sym typeface="Calibri"/>
              </a:rPr>
              <a:t> (-10.0%) y su error aumenta proporcionalmente.</a:t>
            </a:r>
            <a:endParaRPr b="0" i="0" sz="900" u="none" cap="none" strike="noStrike">
              <a:solidFill>
                <a:srgbClr val="548135"/>
              </a:solidFill>
              <a:latin typeface="Calibri"/>
              <a:ea typeface="Calibri"/>
              <a:cs typeface="Calibri"/>
              <a:sym typeface="Calibri"/>
            </a:endParaRPr>
          </a:p>
          <a:p>
            <a:pPr indent="-285750" lvl="0" marL="457200" marR="0" rtl="0" algn="l">
              <a:lnSpc>
                <a:spcPct val="100000"/>
              </a:lnSpc>
              <a:spcBef>
                <a:spcPts val="0"/>
              </a:spcBef>
              <a:spcAft>
                <a:spcPts val="0"/>
              </a:spcAft>
              <a:buClr>
                <a:srgbClr val="548135"/>
              </a:buClr>
              <a:buSzPts val="900"/>
              <a:buFont typeface="Calibri"/>
              <a:buChar char="●"/>
            </a:pPr>
            <a:r>
              <a:rPr b="0" i="0" lang="en-US" sz="900" u="none" cap="none" strike="noStrike">
                <a:solidFill>
                  <a:srgbClr val="548135"/>
                </a:solidFill>
                <a:latin typeface="Calibri"/>
                <a:ea typeface="Calibri"/>
                <a:cs typeface="Calibri"/>
                <a:sym typeface="Calibri"/>
              </a:rPr>
              <a:t>El mejor modelo sigue siendo Random Forest con outliers: R² = 0.8</a:t>
            </a:r>
            <a:r>
              <a:rPr lang="en-US" sz="900">
                <a:solidFill>
                  <a:srgbClr val="548135"/>
                </a:solidFill>
                <a:latin typeface="Calibri"/>
                <a:ea typeface="Calibri"/>
                <a:cs typeface="Calibri"/>
                <a:sym typeface="Calibri"/>
              </a:rPr>
              <a:t>288 </a:t>
            </a:r>
            <a:r>
              <a:rPr b="0" i="0" lang="en-US" sz="900" u="none" cap="none" strike="noStrike">
                <a:solidFill>
                  <a:srgbClr val="548135"/>
                </a:solidFill>
                <a:latin typeface="Calibri"/>
                <a:ea typeface="Calibri"/>
                <a:cs typeface="Calibri"/>
                <a:sym typeface="Calibri"/>
              </a:rPr>
              <a:t>(8</a:t>
            </a:r>
            <a:r>
              <a:rPr lang="en-US" sz="900">
                <a:solidFill>
                  <a:srgbClr val="548135"/>
                </a:solidFill>
                <a:latin typeface="Calibri"/>
                <a:ea typeface="Calibri"/>
                <a:cs typeface="Calibri"/>
                <a:sym typeface="Calibri"/>
              </a:rPr>
              <a:t>2</a:t>
            </a:r>
            <a:r>
              <a:rPr b="0" i="0" lang="en-US" sz="900" u="none" cap="none" strike="noStrike">
                <a:solidFill>
                  <a:srgbClr val="548135"/>
                </a:solidFill>
                <a:latin typeface="Calibri"/>
                <a:ea typeface="Calibri"/>
                <a:cs typeface="Calibri"/>
                <a:sym typeface="Calibri"/>
              </a:rPr>
              <a:t>.9% de precisión)</a:t>
            </a:r>
            <a:endParaRPr b="0" i="0" sz="900" u="none" cap="none" strike="noStrike">
              <a:solidFill>
                <a:srgbClr val="548135"/>
              </a:solidFill>
              <a:latin typeface="Calibri"/>
              <a:ea typeface="Calibri"/>
              <a:cs typeface="Calibri"/>
              <a:sym typeface="Calibri"/>
            </a:endParaRPr>
          </a:p>
        </p:txBody>
      </p:sp>
      <p:pic>
        <p:nvPicPr>
          <p:cNvPr id="129" name="Google Shape;129;g3ca65b628b7_1_0"/>
          <p:cNvPicPr preferRelativeResize="0"/>
          <p:nvPr/>
        </p:nvPicPr>
        <p:blipFill rotWithShape="1">
          <a:blip r:embed="rId3">
            <a:alphaModFix/>
          </a:blip>
          <a:srcRect b="0" l="0" r="0" t="0"/>
          <a:stretch/>
        </p:blipFill>
        <p:spPr>
          <a:xfrm>
            <a:off x="310763" y="2190250"/>
            <a:ext cx="8522487" cy="28124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134" name="Shape 134"/>
        <p:cNvGrpSpPr/>
        <p:nvPr/>
      </p:nvGrpSpPr>
      <p:grpSpPr>
        <a:xfrm>
          <a:off x="0" y="0"/>
          <a:ext cx="0" cy="0"/>
          <a:chOff x="0" y="0"/>
          <a:chExt cx="0" cy="0"/>
        </a:xfrm>
      </p:grpSpPr>
      <p:sp>
        <p:nvSpPr>
          <p:cNvPr id="135" name="Google Shape;135;p4"/>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 name="Google Shape;136;p4"/>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ANÁLISIS EXPLORATORIO DE DATOS</a:t>
            </a:r>
            <a:endParaRPr b="0" i="0" sz="2200" u="none" cap="none" strike="noStrike">
              <a:solidFill>
                <a:schemeClr val="dk1"/>
              </a:solidFill>
              <a:latin typeface="Calibri"/>
              <a:ea typeface="Calibri"/>
              <a:cs typeface="Calibri"/>
              <a:sym typeface="Calibri"/>
            </a:endParaRPr>
          </a:p>
        </p:txBody>
      </p:sp>
      <p:sp>
        <p:nvSpPr>
          <p:cNvPr id="137" name="Google Shape;137;p4"/>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 name="Google Shape;138;p4"/>
          <p:cNvSpPr/>
          <p:nvPr/>
        </p:nvSpPr>
        <p:spPr>
          <a:xfrm>
            <a:off x="320040"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4"/>
          <p:cNvSpPr/>
          <p:nvPr/>
        </p:nvSpPr>
        <p:spPr>
          <a:xfrm>
            <a:off x="320040"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$555,814</a:t>
            </a:r>
            <a:endParaRPr b="0" i="0" sz="1600" u="none" cap="none" strike="noStrike">
              <a:solidFill>
                <a:schemeClr val="dk1"/>
              </a:solidFill>
              <a:latin typeface="Calibri"/>
              <a:ea typeface="Calibri"/>
              <a:cs typeface="Calibri"/>
              <a:sym typeface="Calibri"/>
            </a:endParaRPr>
          </a:p>
        </p:txBody>
      </p:sp>
      <p:sp>
        <p:nvSpPr>
          <p:cNvPr id="140" name="Google Shape;140;p4"/>
          <p:cNvSpPr/>
          <p:nvPr/>
        </p:nvSpPr>
        <p:spPr>
          <a:xfrm>
            <a:off x="320040"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Venta Media</a:t>
            </a:r>
            <a:endParaRPr b="0" i="0" sz="900" u="none" cap="none" strike="noStrike">
              <a:solidFill>
                <a:schemeClr val="dk1"/>
              </a:solidFill>
              <a:latin typeface="Calibri"/>
              <a:ea typeface="Calibri"/>
              <a:cs typeface="Calibri"/>
              <a:sym typeface="Calibri"/>
            </a:endParaRPr>
          </a:p>
        </p:txBody>
      </p:sp>
      <p:sp>
        <p:nvSpPr>
          <p:cNvPr id="141" name="Google Shape;141;p4"/>
          <p:cNvSpPr/>
          <p:nvPr/>
        </p:nvSpPr>
        <p:spPr>
          <a:xfrm>
            <a:off x="2496312"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p4"/>
          <p:cNvSpPr/>
          <p:nvPr/>
        </p:nvSpPr>
        <p:spPr>
          <a:xfrm>
            <a:off x="2496312"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$511,957</a:t>
            </a:r>
            <a:endParaRPr b="0" i="0" sz="1600" u="none" cap="none" strike="noStrike">
              <a:solidFill>
                <a:schemeClr val="dk1"/>
              </a:solidFill>
              <a:latin typeface="Calibri"/>
              <a:ea typeface="Calibri"/>
              <a:cs typeface="Calibri"/>
              <a:sym typeface="Calibri"/>
            </a:endParaRPr>
          </a:p>
        </p:txBody>
      </p:sp>
      <p:sp>
        <p:nvSpPr>
          <p:cNvPr id="143" name="Google Shape;143;p4"/>
          <p:cNvSpPr/>
          <p:nvPr/>
        </p:nvSpPr>
        <p:spPr>
          <a:xfrm>
            <a:off x="2496312"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Mediana</a:t>
            </a:r>
            <a:endParaRPr b="0" i="0" sz="900" u="none" cap="none" strike="noStrike">
              <a:solidFill>
                <a:schemeClr val="dk1"/>
              </a:solidFill>
              <a:latin typeface="Calibri"/>
              <a:ea typeface="Calibri"/>
              <a:cs typeface="Calibri"/>
              <a:sym typeface="Calibri"/>
            </a:endParaRPr>
          </a:p>
        </p:txBody>
      </p:sp>
      <p:sp>
        <p:nvSpPr>
          <p:cNvPr id="144" name="Google Shape;144;p4"/>
          <p:cNvSpPr/>
          <p:nvPr/>
        </p:nvSpPr>
        <p:spPr>
          <a:xfrm>
            <a:off x="4672584"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4"/>
          <p:cNvSpPr/>
          <p:nvPr/>
        </p:nvSpPr>
        <p:spPr>
          <a:xfrm>
            <a:off x="4672584"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$115,674</a:t>
            </a:r>
            <a:endParaRPr b="0" i="0" sz="1600" u="none" cap="none" strike="noStrike">
              <a:solidFill>
                <a:schemeClr val="dk1"/>
              </a:solidFill>
              <a:latin typeface="Calibri"/>
              <a:ea typeface="Calibri"/>
              <a:cs typeface="Calibri"/>
              <a:sym typeface="Calibri"/>
            </a:endParaRPr>
          </a:p>
        </p:txBody>
      </p:sp>
      <p:sp>
        <p:nvSpPr>
          <p:cNvPr id="146" name="Google Shape;146;p4"/>
          <p:cNvSpPr/>
          <p:nvPr/>
        </p:nvSpPr>
        <p:spPr>
          <a:xfrm>
            <a:off x="4672584"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Mínimo</a:t>
            </a:r>
            <a:endParaRPr b="0" i="0" sz="900" u="none" cap="none" strike="noStrike">
              <a:solidFill>
                <a:schemeClr val="dk1"/>
              </a:solidFill>
              <a:latin typeface="Calibri"/>
              <a:ea typeface="Calibri"/>
              <a:cs typeface="Calibri"/>
              <a:sym typeface="Calibri"/>
            </a:endParaRPr>
          </a:p>
        </p:txBody>
      </p:sp>
      <p:sp>
        <p:nvSpPr>
          <p:cNvPr id="147" name="Google Shape;147;p4"/>
          <p:cNvSpPr/>
          <p:nvPr/>
        </p:nvSpPr>
        <p:spPr>
          <a:xfrm>
            <a:off x="6848856" y="960120"/>
            <a:ext cx="1920240" cy="640080"/>
          </a:xfrm>
          <a:prstGeom prst="rect">
            <a:avLst/>
          </a:prstGeom>
          <a:solidFill>
            <a:srgbClr val="1565C0"/>
          </a:solidFill>
          <a:ln>
            <a:noFill/>
          </a:ln>
          <a:effectLst>
            <a:outerShdw blurRad="63500" rotWithShape="0" algn="bl" dir="8100000" dist="25400">
              <a:srgbClr val="000000">
                <a:alpha val="14901"/>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4"/>
          <p:cNvSpPr/>
          <p:nvPr/>
        </p:nvSpPr>
        <p:spPr>
          <a:xfrm>
            <a:off x="6848856" y="987552"/>
            <a:ext cx="1920240" cy="34747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$1,853,638</a:t>
            </a:r>
            <a:endParaRPr b="0" i="0" sz="1600" u="none" cap="none" strike="noStrike">
              <a:solidFill>
                <a:schemeClr val="dk1"/>
              </a:solidFill>
              <a:latin typeface="Calibri"/>
              <a:ea typeface="Calibri"/>
              <a:cs typeface="Calibri"/>
              <a:sym typeface="Calibri"/>
            </a:endParaRPr>
          </a:p>
        </p:txBody>
      </p:sp>
      <p:sp>
        <p:nvSpPr>
          <p:cNvPr id="149" name="Google Shape;149;p4"/>
          <p:cNvSpPr/>
          <p:nvPr/>
        </p:nvSpPr>
        <p:spPr>
          <a:xfrm>
            <a:off x="6848856" y="133502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D1FF"/>
              </a:buClr>
              <a:buSzPts val="900"/>
              <a:buFont typeface="Calibri"/>
              <a:buNone/>
            </a:pPr>
            <a:r>
              <a:rPr b="0" i="0" lang="en-US" sz="900" u="none" cap="none" strike="noStrike">
                <a:solidFill>
                  <a:srgbClr val="B3D1FF"/>
                </a:solidFill>
                <a:latin typeface="Calibri"/>
                <a:ea typeface="Calibri"/>
                <a:cs typeface="Calibri"/>
                <a:sym typeface="Calibri"/>
              </a:rPr>
              <a:t>Máximo</a:t>
            </a:r>
            <a:endParaRPr b="0" i="0" sz="900" u="none" cap="none" strike="noStrike">
              <a:solidFill>
                <a:schemeClr val="dk1"/>
              </a:solidFill>
              <a:latin typeface="Calibri"/>
              <a:ea typeface="Calibri"/>
              <a:cs typeface="Calibri"/>
              <a:sym typeface="Calibri"/>
            </a:endParaRPr>
          </a:p>
        </p:txBody>
      </p:sp>
      <p:sp>
        <p:nvSpPr>
          <p:cNvPr id="150" name="Google Shape;150;p4"/>
          <p:cNvSpPr/>
          <p:nvPr/>
        </p:nvSpPr>
        <p:spPr>
          <a:xfrm>
            <a:off x="320040" y="4407408"/>
            <a:ext cx="429768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Distribución de Ventas Anuales</a:t>
            </a:r>
            <a:endParaRPr b="0" i="0" sz="900" u="none" cap="none" strike="noStrike">
              <a:solidFill>
                <a:schemeClr val="dk1"/>
              </a:solidFill>
              <a:latin typeface="Calibri"/>
              <a:ea typeface="Calibri"/>
              <a:cs typeface="Calibri"/>
              <a:sym typeface="Calibri"/>
            </a:endParaRPr>
          </a:p>
        </p:txBody>
      </p:sp>
      <p:pic>
        <p:nvPicPr>
          <p:cNvPr descr="preencoded.png" id="151" name="Google Shape;151;p4"/>
          <p:cNvPicPr preferRelativeResize="0"/>
          <p:nvPr/>
        </p:nvPicPr>
        <p:blipFill rotWithShape="1">
          <a:blip r:embed="rId3">
            <a:alphaModFix/>
          </a:blip>
          <a:srcRect b="0" l="0" r="0" t="0"/>
          <a:stretch/>
        </p:blipFill>
        <p:spPr>
          <a:xfrm>
            <a:off x="4754880" y="1737360"/>
            <a:ext cx="4114800" cy="2651760"/>
          </a:xfrm>
          <a:prstGeom prst="rect">
            <a:avLst/>
          </a:prstGeom>
          <a:noFill/>
          <a:ln>
            <a:noFill/>
          </a:ln>
        </p:spPr>
      </p:pic>
      <p:sp>
        <p:nvSpPr>
          <p:cNvPr id="152" name="Google Shape;152;p4"/>
          <p:cNvSpPr/>
          <p:nvPr/>
        </p:nvSpPr>
        <p:spPr>
          <a:xfrm>
            <a:off x="4754880" y="4407408"/>
            <a:ext cx="4114800" cy="228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Ventas Promedio por Rubro</a:t>
            </a:r>
            <a:endParaRPr b="0" i="0" sz="900" u="none" cap="none" strike="noStrike">
              <a:solidFill>
                <a:schemeClr val="dk1"/>
              </a:solidFill>
              <a:latin typeface="Calibri"/>
              <a:ea typeface="Calibri"/>
              <a:cs typeface="Calibri"/>
              <a:sym typeface="Calibri"/>
            </a:endParaRPr>
          </a:p>
        </p:txBody>
      </p:sp>
      <p:sp>
        <p:nvSpPr>
          <p:cNvPr id="153" name="Google Shape;153;p4"/>
          <p:cNvSpPr/>
          <p:nvPr/>
        </p:nvSpPr>
        <p:spPr>
          <a:xfrm>
            <a:off x="320040" y="4709160"/>
            <a:ext cx="8503920" cy="347472"/>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 name="Google Shape;154;p4"/>
          <p:cNvSpPr/>
          <p:nvPr/>
        </p:nvSpPr>
        <p:spPr>
          <a:xfrm>
            <a:off x="411480" y="4718304"/>
            <a:ext cx="832104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900"/>
              <a:buFont typeface="Calibri"/>
              <a:buNone/>
            </a:pPr>
            <a:r>
              <a:rPr b="0" i="0" lang="en-US" sz="900" u="none" cap="none" strike="noStrike">
                <a:solidFill>
                  <a:srgbClr val="0D1B4B"/>
                </a:solidFill>
                <a:latin typeface="Calibri"/>
                <a:ea typeface="Calibri"/>
                <a:cs typeface="Calibri"/>
                <a:sym typeface="Calibri"/>
              </a:rPr>
              <a:t>💡  Tecnología y Farmacia lideran con +$790K de venta media. La distribución es asimétrica positiva — la mayoría de locales vende entre $300K–$700K.</a:t>
            </a:r>
            <a:endParaRPr b="0" i="0" sz="900" u="none" cap="none" strike="noStrike">
              <a:solidFill>
                <a:schemeClr val="dk1"/>
              </a:solidFill>
              <a:latin typeface="Calibri"/>
              <a:ea typeface="Calibri"/>
              <a:cs typeface="Calibri"/>
              <a:sym typeface="Calibri"/>
            </a:endParaRPr>
          </a:p>
        </p:txBody>
      </p:sp>
      <p:pic>
        <p:nvPicPr>
          <p:cNvPr id="155" name="Google Shape;155;p4"/>
          <p:cNvPicPr preferRelativeResize="0"/>
          <p:nvPr/>
        </p:nvPicPr>
        <p:blipFill rotWithShape="1">
          <a:blip r:embed="rId4">
            <a:alphaModFix/>
          </a:blip>
          <a:srcRect b="0" l="0" r="0" t="0"/>
          <a:stretch/>
        </p:blipFill>
        <p:spPr>
          <a:xfrm>
            <a:off x="150746" y="1855284"/>
            <a:ext cx="4636268" cy="229703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5"/>
          <p:cNvSpPr/>
          <p:nvPr/>
        </p:nvSpPr>
        <p:spPr>
          <a:xfrm>
            <a:off x="457200" y="4315968"/>
            <a:ext cx="3657600"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850"/>
              <a:buFont typeface="Calibri"/>
              <a:buNone/>
            </a:pPr>
            <a:r>
              <a:rPr b="0" i="0" lang="en-US" sz="850" u="none" cap="none" strike="noStrike">
                <a:solidFill>
                  <a:srgbClr val="FFFFFF"/>
                </a:solidFill>
                <a:latin typeface="Calibri"/>
                <a:ea typeface="Calibri"/>
                <a:cs typeface="Calibri"/>
                <a:sym typeface="Calibri"/>
              </a:rPr>
              <a:t>Error porcentual promedio. Muy aceptable para decisiones de inversión.</a:t>
            </a:r>
            <a:endParaRPr b="0" i="0" sz="850" u="none" cap="none" strike="noStrike">
              <a:solidFill>
                <a:schemeClr val="dk1"/>
              </a:solidFill>
              <a:latin typeface="Calibri"/>
              <a:ea typeface="Calibri"/>
              <a:cs typeface="Calibri"/>
              <a:sym typeface="Calibri"/>
            </a:endParaRPr>
          </a:p>
        </p:txBody>
      </p:sp>
      <p:sp>
        <p:nvSpPr>
          <p:cNvPr id="162" name="Google Shape;162;p5"/>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3" name="Google Shape;163;p5"/>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MATRIZ DE CORRELACIONES</a:t>
            </a:r>
            <a:endParaRPr b="0" i="0" sz="2200" u="none" cap="none" strike="noStrike">
              <a:solidFill>
                <a:schemeClr val="dk1"/>
              </a:solidFill>
              <a:latin typeface="Calibri"/>
              <a:ea typeface="Calibri"/>
              <a:cs typeface="Calibri"/>
              <a:sym typeface="Calibri"/>
            </a:endParaRPr>
          </a:p>
        </p:txBody>
      </p:sp>
      <p:sp>
        <p:nvSpPr>
          <p:cNvPr id="164" name="Google Shape;164;p5"/>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65" name="Google Shape;165;p5"/>
          <p:cNvPicPr preferRelativeResize="0"/>
          <p:nvPr/>
        </p:nvPicPr>
        <p:blipFill>
          <a:blip r:embed="rId3">
            <a:alphaModFix/>
          </a:blip>
          <a:stretch>
            <a:fillRect/>
          </a:stretch>
        </p:blipFill>
        <p:spPr>
          <a:xfrm>
            <a:off x="4944525" y="856375"/>
            <a:ext cx="4199475" cy="4606824"/>
          </a:xfrm>
          <a:prstGeom prst="rect">
            <a:avLst/>
          </a:prstGeom>
          <a:noFill/>
          <a:ln>
            <a:noFill/>
          </a:ln>
        </p:spPr>
      </p:pic>
      <p:sp>
        <p:nvSpPr>
          <p:cNvPr id="166" name="Google Shape;166;p5"/>
          <p:cNvSpPr txBox="1"/>
          <p:nvPr/>
        </p:nvSpPr>
        <p:spPr>
          <a:xfrm>
            <a:off x="5036050" y="989488"/>
            <a:ext cx="4016400" cy="404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lang="en-US" u="sng">
                <a:solidFill>
                  <a:schemeClr val="accent6"/>
                </a:solidFill>
              </a:rPr>
              <a:t>Comentarios: </a:t>
            </a:r>
            <a:endParaRPr u="sng">
              <a:solidFill>
                <a:schemeClr val="accent6"/>
              </a:solidFill>
            </a:endParaRPr>
          </a:p>
          <a:p>
            <a:pPr indent="0" lvl="0" marL="0" rtl="0" algn="l">
              <a:lnSpc>
                <a:spcPct val="115000"/>
              </a:lnSpc>
              <a:spcBef>
                <a:spcPts val="2400"/>
              </a:spcBef>
              <a:spcAft>
                <a:spcPts val="0"/>
              </a:spcAft>
              <a:buNone/>
            </a:pPr>
            <a:r>
              <a:rPr lang="en-US" sz="800">
                <a:solidFill>
                  <a:schemeClr val="lt1"/>
                </a:solidFill>
              </a:rPr>
              <a:t>🔴 Impacto Alto (drivers principales de ventas)</a:t>
            </a:r>
            <a:endParaRPr sz="800">
              <a:solidFill>
                <a:schemeClr val="lt1"/>
              </a:solidFill>
            </a:endParaRPr>
          </a:p>
          <a:p>
            <a:pPr indent="-279400" lvl="0" marL="457200" rtl="0" algn="l">
              <a:lnSpc>
                <a:spcPct val="115000"/>
              </a:lnSpc>
              <a:spcBef>
                <a:spcPts val="1200"/>
              </a:spcBef>
              <a:spcAft>
                <a:spcPts val="0"/>
              </a:spcAft>
              <a:buClr>
                <a:schemeClr val="lt1"/>
              </a:buClr>
              <a:buSzPts val="800"/>
              <a:buChar char="●"/>
            </a:pPr>
            <a:r>
              <a:rPr lang="en-US" sz="800">
                <a:solidFill>
                  <a:schemeClr val="lt1"/>
                </a:solidFill>
              </a:rPr>
              <a:t>Inversión en Marketing Mensual (r = 0.77): Es el factor más determinante. Cada dólar adicional en marketing se asocia fuertemente con mayores ventas.</a:t>
            </a:r>
            <a:endParaRPr sz="800">
              <a:solidFill>
                <a:schemeClr val="lt1"/>
              </a:solidFill>
            </a:endParaRPr>
          </a:p>
          <a:p>
            <a:pPr indent="-279400" lvl="0" marL="457200" rtl="0" algn="l">
              <a:lnSpc>
                <a:spcPct val="115000"/>
              </a:lnSpc>
              <a:spcBef>
                <a:spcPts val="0"/>
              </a:spcBef>
              <a:spcAft>
                <a:spcPts val="0"/>
              </a:spcAft>
              <a:buClr>
                <a:schemeClr val="lt1"/>
              </a:buClr>
              <a:buSzPts val="800"/>
              <a:buChar char="●"/>
            </a:pPr>
            <a:r>
              <a:rPr lang="en-US" sz="800">
                <a:solidFill>
                  <a:schemeClr val="lt1"/>
                </a:solidFill>
              </a:rPr>
              <a:t>Alquiler Mensual (r = 0.53): Un alquiler más alto (generalmente vinculado a mejores ubicaciones) también impulsa ventas de forma importante.</a:t>
            </a:r>
            <a:endParaRPr sz="800">
              <a:solidFill>
                <a:schemeClr val="lt1"/>
              </a:solidFill>
            </a:endParaRPr>
          </a:p>
          <a:p>
            <a:pPr indent="0" lvl="0" marL="0" rtl="0" algn="l">
              <a:lnSpc>
                <a:spcPct val="115000"/>
              </a:lnSpc>
              <a:spcBef>
                <a:spcPts val="1200"/>
              </a:spcBef>
              <a:spcAft>
                <a:spcPts val="0"/>
              </a:spcAft>
              <a:buNone/>
            </a:pPr>
            <a:r>
              <a:rPr lang="en-US" sz="800">
                <a:solidFill>
                  <a:schemeClr val="lt1"/>
                </a:solidFill>
              </a:rPr>
              <a:t>🟠 Impac</a:t>
            </a:r>
            <a:r>
              <a:rPr lang="en-US" sz="800">
                <a:solidFill>
                  <a:schemeClr val="lt1"/>
                </a:solidFill>
              </a:rPr>
              <a:t>t</a:t>
            </a:r>
            <a:r>
              <a:rPr lang="en-US" sz="800">
                <a:solidFill>
                  <a:schemeClr val="lt1"/>
                </a:solidFill>
              </a:rPr>
              <a:t>o Medio (potenciadores del desempeño)</a:t>
            </a:r>
            <a:endParaRPr sz="800">
              <a:solidFill>
                <a:schemeClr val="lt1"/>
              </a:solidFill>
            </a:endParaRPr>
          </a:p>
          <a:p>
            <a:pPr indent="-279400" lvl="0" marL="457200" marR="0" rtl="0" algn="l">
              <a:lnSpc>
                <a:spcPct val="115000"/>
              </a:lnSpc>
              <a:spcBef>
                <a:spcPts val="1200"/>
              </a:spcBef>
              <a:spcAft>
                <a:spcPts val="0"/>
              </a:spcAft>
              <a:buClr>
                <a:schemeClr val="lt1"/>
              </a:buClr>
              <a:buSzPts val="800"/>
              <a:buChar char="●"/>
            </a:pPr>
            <a:r>
              <a:rPr lang="en-US" sz="800">
                <a:solidFill>
                  <a:schemeClr val="lt1"/>
                </a:solidFill>
              </a:rPr>
              <a:t>Distancia al Ancla (r = -0.31): Cuanto más lejos del local ancla, menores ventas. La proximidad a un gran generador de tráfico es clave.</a:t>
            </a:r>
            <a:endParaRPr sz="800">
              <a:solidFill>
                <a:schemeClr val="lt1"/>
              </a:solidFill>
            </a:endParaRPr>
          </a:p>
          <a:p>
            <a:pPr indent="-279400" lvl="0" marL="457200" marR="0" rtl="0" algn="l">
              <a:lnSpc>
                <a:spcPct val="115000"/>
              </a:lnSpc>
              <a:spcBef>
                <a:spcPts val="0"/>
              </a:spcBef>
              <a:spcAft>
                <a:spcPts val="0"/>
              </a:spcAft>
              <a:buClr>
                <a:schemeClr val="lt1"/>
              </a:buClr>
              <a:buSzPts val="800"/>
              <a:buChar char="●"/>
            </a:pPr>
            <a:r>
              <a:rPr lang="en-US" sz="800">
                <a:solidFill>
                  <a:schemeClr val="lt1"/>
                </a:solidFill>
              </a:rPr>
              <a:t>Densidad Poblacional (r = -0.30): A mayor densidad de población en la zona, menores ventas. Esto podría reflejar entornos más competitivos o de menor poder adquisiti</a:t>
            </a:r>
            <a:r>
              <a:rPr b="1" lang="en-US" sz="800">
                <a:solidFill>
                  <a:schemeClr val="lt1"/>
                </a:solidFill>
              </a:rPr>
              <a:t>vo.</a:t>
            </a:r>
            <a:endParaRPr b="1" sz="800">
              <a:solidFill>
                <a:schemeClr val="lt1"/>
              </a:solidFill>
            </a:endParaRPr>
          </a:p>
          <a:p>
            <a:pPr indent="0" lvl="0" marL="0" rtl="0" algn="l">
              <a:lnSpc>
                <a:spcPct val="115000"/>
              </a:lnSpc>
              <a:spcBef>
                <a:spcPts val="1200"/>
              </a:spcBef>
              <a:spcAft>
                <a:spcPts val="0"/>
              </a:spcAft>
              <a:buNone/>
            </a:pPr>
            <a:r>
              <a:rPr lang="en-US" sz="800">
                <a:solidFill>
                  <a:schemeClr val="lt1"/>
                </a:solidFill>
              </a:rPr>
              <a:t>🟡 Impacto Bajo o Estructural</a:t>
            </a:r>
            <a:endParaRPr sz="800">
              <a:solidFill>
                <a:schemeClr val="lt1"/>
              </a:solidFill>
            </a:endParaRPr>
          </a:p>
          <a:p>
            <a:pPr indent="-279400" lvl="0" marL="457200" marR="0" rtl="0" algn="l">
              <a:lnSpc>
                <a:spcPct val="115000"/>
              </a:lnSpc>
              <a:spcBef>
                <a:spcPts val="1200"/>
              </a:spcBef>
              <a:spcAft>
                <a:spcPts val="0"/>
              </a:spcAft>
              <a:buClr>
                <a:schemeClr val="lt1"/>
              </a:buClr>
              <a:buSzPts val="800"/>
              <a:buChar char="●"/>
            </a:pPr>
            <a:r>
              <a:rPr lang="en-US" sz="800">
                <a:solidFill>
                  <a:schemeClr val="lt1"/>
                </a:solidFill>
              </a:rPr>
              <a:t>Inversión CAPEX (r = 0.27) tienen una influencia positiva moderada, pero no tan fuerte como las anteriores.</a:t>
            </a:r>
            <a:endParaRPr sz="800">
              <a:solidFill>
                <a:schemeClr val="lt1"/>
              </a:solidFill>
            </a:endParaRPr>
          </a:p>
          <a:p>
            <a:pPr indent="-279400" lvl="0" marL="457200" marR="0" rtl="0" algn="l">
              <a:lnSpc>
                <a:spcPct val="115000"/>
              </a:lnSpc>
              <a:spcBef>
                <a:spcPts val="0"/>
              </a:spcBef>
              <a:spcAft>
                <a:spcPts val="0"/>
              </a:spcAft>
              <a:buClr>
                <a:schemeClr val="lt1"/>
              </a:buClr>
              <a:buSzPts val="800"/>
              <a:buChar char="●"/>
            </a:pPr>
            <a:r>
              <a:rPr lang="en-US" sz="800">
                <a:solidFill>
                  <a:schemeClr val="lt1"/>
                </a:solidFill>
              </a:rPr>
              <a:t>Metros Vidriera (r = 0.20), Antigüedad (r = 0.21) y Superficie (r = 0.14) aportan de manera marginal.</a:t>
            </a:r>
            <a:endParaRPr sz="800">
              <a:solidFill>
                <a:schemeClr val="lt1"/>
              </a:solidFill>
            </a:endParaRPr>
          </a:p>
          <a:p>
            <a:pPr indent="-279400" lvl="0" marL="457200" marR="0" rtl="0" algn="l">
              <a:lnSpc>
                <a:spcPct val="115000"/>
              </a:lnSpc>
              <a:spcBef>
                <a:spcPts val="0"/>
              </a:spcBef>
              <a:spcAft>
                <a:spcPts val="0"/>
              </a:spcAft>
              <a:buClr>
                <a:schemeClr val="lt1"/>
              </a:buClr>
              <a:buSzPts val="800"/>
              <a:buChar char="●"/>
            </a:pPr>
            <a:r>
              <a:rPr lang="en-US" sz="800">
                <a:solidFill>
                  <a:schemeClr val="lt1"/>
                </a:solidFill>
              </a:rPr>
              <a:t>Tránsito Peatonal (r = 0.12), Puntos de Interés (r = 0.09) </a:t>
            </a:r>
            <a:endParaRPr/>
          </a:p>
        </p:txBody>
      </p:sp>
      <p:pic>
        <p:nvPicPr>
          <p:cNvPr id="167" name="Google Shape;167;p5"/>
          <p:cNvPicPr preferRelativeResize="0"/>
          <p:nvPr/>
        </p:nvPicPr>
        <p:blipFill>
          <a:blip r:embed="rId4">
            <a:alphaModFix/>
          </a:blip>
          <a:stretch>
            <a:fillRect/>
          </a:stretch>
        </p:blipFill>
        <p:spPr>
          <a:xfrm>
            <a:off x="0" y="925025"/>
            <a:ext cx="4992549" cy="4381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172" name="Shape 172"/>
        <p:cNvGrpSpPr/>
        <p:nvPr/>
      </p:nvGrpSpPr>
      <p:grpSpPr>
        <a:xfrm>
          <a:off x="0" y="0"/>
          <a:ext cx="0" cy="0"/>
          <a:chOff x="0" y="0"/>
          <a:chExt cx="0" cy="0"/>
        </a:xfrm>
      </p:grpSpPr>
      <p:sp>
        <p:nvSpPr>
          <p:cNvPr id="173" name="Google Shape;173;p6"/>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 name="Google Shape;174;p6"/>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VARIABLES CLAVE &amp; CORRELACIONES</a:t>
            </a:r>
            <a:endParaRPr b="0" i="0" sz="2200" u="none" cap="none" strike="noStrike">
              <a:solidFill>
                <a:schemeClr val="dk1"/>
              </a:solidFill>
              <a:latin typeface="Calibri"/>
              <a:ea typeface="Calibri"/>
              <a:cs typeface="Calibri"/>
              <a:sym typeface="Calibri"/>
            </a:endParaRPr>
          </a:p>
        </p:txBody>
      </p:sp>
      <p:sp>
        <p:nvSpPr>
          <p:cNvPr id="175" name="Google Shape;175;p6"/>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6" name="Google Shape;176;p6"/>
          <p:cNvSpPr/>
          <p:nvPr/>
        </p:nvSpPr>
        <p:spPr>
          <a:xfrm>
            <a:off x="1968087" y="912842"/>
            <a:ext cx="4114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Nivel Socioeconómico</a:t>
            </a:r>
            <a:endParaRPr b="0" i="0" sz="1100" u="none" cap="none" strike="noStrike">
              <a:solidFill>
                <a:schemeClr val="dk1"/>
              </a:solidFill>
              <a:latin typeface="Calibri"/>
              <a:ea typeface="Calibri"/>
              <a:cs typeface="Calibri"/>
              <a:sym typeface="Calibri"/>
            </a:endParaRPr>
          </a:p>
        </p:txBody>
      </p:sp>
      <p:pic>
        <p:nvPicPr>
          <p:cNvPr descr="preencoded.png" id="177" name="Google Shape;177;p6"/>
          <p:cNvPicPr preferRelativeResize="0"/>
          <p:nvPr/>
        </p:nvPicPr>
        <p:blipFill rotWithShape="1">
          <a:blip r:embed="rId3">
            <a:alphaModFix/>
          </a:blip>
          <a:srcRect b="0" l="0" r="0" t="0"/>
          <a:stretch/>
        </p:blipFill>
        <p:spPr>
          <a:xfrm>
            <a:off x="1" y="1410461"/>
            <a:ext cx="4571999" cy="2597727"/>
          </a:xfrm>
          <a:prstGeom prst="rect">
            <a:avLst/>
          </a:prstGeom>
          <a:noFill/>
          <a:ln>
            <a:noFill/>
          </a:ln>
        </p:spPr>
      </p:pic>
      <p:sp>
        <p:nvSpPr>
          <p:cNvPr id="178" name="Google Shape;178;p6"/>
          <p:cNvSpPr/>
          <p:nvPr/>
        </p:nvSpPr>
        <p:spPr>
          <a:xfrm>
            <a:off x="6316186" y="832103"/>
            <a:ext cx="2527500" cy="35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Tipo de Ubicación</a:t>
            </a:r>
            <a:endParaRPr b="0" i="0" sz="1100" u="none" cap="none" strike="noStrike">
              <a:solidFill>
                <a:schemeClr val="dk1"/>
              </a:solidFill>
              <a:latin typeface="Calibri"/>
              <a:ea typeface="Calibri"/>
              <a:cs typeface="Calibri"/>
              <a:sym typeface="Calibri"/>
            </a:endParaRPr>
          </a:p>
        </p:txBody>
      </p:sp>
      <p:pic>
        <p:nvPicPr>
          <p:cNvPr descr="preencoded.png" id="179" name="Google Shape;179;p6"/>
          <p:cNvPicPr preferRelativeResize="0"/>
          <p:nvPr/>
        </p:nvPicPr>
        <p:blipFill rotWithShape="1">
          <a:blip r:embed="rId4">
            <a:alphaModFix/>
          </a:blip>
          <a:srcRect b="0" l="0" r="0" t="0"/>
          <a:stretch/>
        </p:blipFill>
        <p:spPr>
          <a:xfrm>
            <a:off x="4757899" y="1662278"/>
            <a:ext cx="4203987" cy="2335549"/>
          </a:xfrm>
          <a:prstGeom prst="rect">
            <a:avLst/>
          </a:prstGeom>
          <a:noFill/>
          <a:ln>
            <a:noFill/>
          </a:ln>
        </p:spPr>
      </p:pic>
      <p:sp>
        <p:nvSpPr>
          <p:cNvPr id="180" name="Google Shape;180;p6"/>
          <p:cNvSpPr/>
          <p:nvPr/>
        </p:nvSpPr>
        <p:spPr>
          <a:xfrm>
            <a:off x="317127" y="4864548"/>
            <a:ext cx="8503800" cy="255900"/>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p6"/>
          <p:cNvSpPr/>
          <p:nvPr/>
        </p:nvSpPr>
        <p:spPr>
          <a:xfrm>
            <a:off x="408477" y="4891848"/>
            <a:ext cx="83211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850"/>
              <a:buFont typeface="Calibri"/>
              <a:buNone/>
            </a:pPr>
            <a:r>
              <a:rPr b="0" i="0" lang="en-US" sz="850" u="none" cap="none" strike="noStrike">
                <a:solidFill>
                  <a:srgbClr val="0D1B4B"/>
                </a:solidFill>
                <a:latin typeface="Calibri"/>
                <a:ea typeface="Calibri"/>
                <a:cs typeface="Calibri"/>
                <a:sym typeface="Calibri"/>
              </a:rPr>
              <a:t>💡El nivel socioeconómico representa el poder adquisitivo promedio del área de influencia del local.</a:t>
            </a:r>
            <a:endParaRPr b="0" i="0" sz="850" u="none" cap="none" strike="noStrike">
              <a:solidFill>
                <a:schemeClr val="dk1"/>
              </a:solidFill>
              <a:latin typeface="Calibri"/>
              <a:ea typeface="Calibri"/>
              <a:cs typeface="Calibri"/>
              <a:sym typeface="Calibri"/>
            </a:endParaRPr>
          </a:p>
        </p:txBody>
      </p:sp>
      <p:sp>
        <p:nvSpPr>
          <p:cNvPr id="182" name="Google Shape;182;p6"/>
          <p:cNvSpPr/>
          <p:nvPr/>
        </p:nvSpPr>
        <p:spPr>
          <a:xfrm>
            <a:off x="5359400" y="1140900"/>
            <a:ext cx="1169100" cy="70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Shopping:</a:t>
            </a:r>
            <a:r>
              <a:rPr b="0" i="0" lang="en-US" sz="600" u="none" cap="none" strike="noStrike">
                <a:solidFill>
                  <a:srgbClr val="2E75B5"/>
                </a:solidFill>
                <a:latin typeface="Arial"/>
                <a:ea typeface="Arial"/>
                <a:cs typeface="Arial"/>
                <a:sym typeface="Arial"/>
              </a:rPr>
              <a:t> centro comercial cerrado, de gran escala, con administración única, presencia de tiendas ancla (ej. supermercado, cine, grandes marcas) y flujo inducido como destino de compra.</a:t>
            </a:r>
            <a:endParaRPr b="0" i="0" sz="950" u="none" cap="none" strike="noStrike">
              <a:solidFill>
                <a:srgbClr val="2E75B5"/>
              </a:solidFill>
              <a:latin typeface="Calibri"/>
              <a:ea typeface="Calibri"/>
              <a:cs typeface="Calibri"/>
              <a:sym typeface="Calibri"/>
            </a:endParaRPr>
          </a:p>
        </p:txBody>
      </p:sp>
      <p:sp>
        <p:nvSpPr>
          <p:cNvPr id="183" name="Google Shape;183;p6"/>
          <p:cNvSpPr/>
          <p:nvPr/>
        </p:nvSpPr>
        <p:spPr>
          <a:xfrm>
            <a:off x="6243750" y="4008200"/>
            <a:ext cx="1069800" cy="64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Centro Comercial:</a:t>
            </a:r>
            <a:r>
              <a:rPr b="0" i="0" lang="en-US" sz="600" u="none" cap="none" strike="noStrike">
                <a:solidFill>
                  <a:srgbClr val="2E75B5"/>
                </a:solidFill>
                <a:latin typeface="Arial"/>
                <a:ea typeface="Arial"/>
                <a:cs typeface="Arial"/>
                <a:sym typeface="Arial"/>
              </a:rPr>
              <a:t> complejo comercial organizado de menor escala o semiabierto, con administración común pero sin el nivel de anclas ni tráfico estructural de un shopping.</a:t>
            </a:r>
            <a:endParaRPr b="0" i="0" sz="600" u="none" cap="none" strike="noStrike">
              <a:solidFill>
                <a:srgbClr val="2E75B5"/>
              </a:solidFill>
              <a:latin typeface="Arial"/>
              <a:ea typeface="Arial"/>
              <a:cs typeface="Arial"/>
              <a:sym typeface="Arial"/>
            </a:endParaRPr>
          </a:p>
        </p:txBody>
      </p:sp>
      <p:sp>
        <p:nvSpPr>
          <p:cNvPr id="184" name="Google Shape;184;p6"/>
          <p:cNvSpPr/>
          <p:nvPr/>
        </p:nvSpPr>
        <p:spPr>
          <a:xfrm>
            <a:off x="8225825" y="4008200"/>
            <a:ext cx="1069800" cy="64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Barrio residencial:</a:t>
            </a:r>
            <a:r>
              <a:rPr b="0" i="0" lang="en-US" sz="600" u="none" cap="none" strike="noStrike">
                <a:solidFill>
                  <a:srgbClr val="2E75B5"/>
                </a:solidFill>
                <a:latin typeface="Arial"/>
                <a:ea typeface="Arial"/>
                <a:cs typeface="Arial"/>
                <a:sym typeface="Arial"/>
              </a:rPr>
              <a:t> locales ubicados en zonas predominantemente residenciales, con tráfico principalmente de cercanía.</a:t>
            </a:r>
            <a:endParaRPr b="0" i="0" sz="600" u="none" cap="none" strike="noStrike">
              <a:solidFill>
                <a:srgbClr val="2E75B5"/>
              </a:solidFill>
              <a:latin typeface="Arial"/>
              <a:ea typeface="Arial"/>
              <a:cs typeface="Arial"/>
              <a:sym typeface="Arial"/>
            </a:endParaRPr>
          </a:p>
        </p:txBody>
      </p:sp>
      <p:sp>
        <p:nvSpPr>
          <p:cNvPr id="185" name="Google Shape;185;p6"/>
          <p:cNvSpPr/>
          <p:nvPr/>
        </p:nvSpPr>
        <p:spPr>
          <a:xfrm>
            <a:off x="7156025" y="1533075"/>
            <a:ext cx="1069800" cy="645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950"/>
              <a:buFont typeface="Calibri"/>
              <a:buNone/>
            </a:pPr>
            <a:r>
              <a:rPr b="1" i="0" lang="en-US" sz="600" u="none" cap="none" strike="noStrike">
                <a:solidFill>
                  <a:srgbClr val="2E75B5"/>
                </a:solidFill>
                <a:latin typeface="Arial"/>
                <a:ea typeface="Arial"/>
                <a:cs typeface="Arial"/>
                <a:sym typeface="Arial"/>
              </a:rPr>
              <a:t>Calle Comercial:</a:t>
            </a:r>
            <a:r>
              <a:rPr b="0" i="0" lang="en-US" sz="600" u="none" cap="none" strike="noStrike">
                <a:solidFill>
                  <a:srgbClr val="2E75B5"/>
                </a:solidFill>
                <a:latin typeface="Arial"/>
                <a:ea typeface="Arial"/>
                <a:cs typeface="Arial"/>
                <a:sym typeface="Arial"/>
              </a:rPr>
              <a:t> locales ubicados sobre avenidas o corredores comerciales abiertos, sin administración centralizada.</a:t>
            </a:r>
            <a:endParaRPr b="0" i="0" sz="600" u="none" cap="none" strike="noStrike">
              <a:solidFill>
                <a:srgbClr val="2E75B5"/>
              </a:solidFill>
              <a:latin typeface="Arial"/>
              <a:ea typeface="Arial"/>
              <a:cs typeface="Arial"/>
              <a:sym typeface="Arial"/>
            </a:endParaRPr>
          </a:p>
        </p:txBody>
      </p:sp>
      <p:sp>
        <p:nvSpPr>
          <p:cNvPr id="186" name="Google Shape;186;p6"/>
          <p:cNvSpPr/>
          <p:nvPr/>
        </p:nvSpPr>
        <p:spPr>
          <a:xfrm>
            <a:off x="541914" y="3561038"/>
            <a:ext cx="3978000" cy="8943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800"/>
              </a:spcBef>
              <a:spcAft>
                <a:spcPts val="0"/>
              </a:spcAft>
              <a:buClr>
                <a:schemeClr val="dk1"/>
              </a:buClr>
              <a:buSzPts val="1100"/>
              <a:buFont typeface="Arial"/>
              <a:buNone/>
            </a:pPr>
            <a:r>
              <a:t/>
            </a:r>
            <a:endParaRPr b="1" i="0" sz="17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rgbClr val="5A7AB5"/>
              </a:buClr>
              <a:buSzPts val="1100"/>
              <a:buFont typeface="Arial"/>
              <a:buChar char="●"/>
            </a:pPr>
            <a:r>
              <a:rPr b="1" i="0" lang="en-US" sz="1100" u="none" cap="none" strike="noStrike">
                <a:solidFill>
                  <a:srgbClr val="5A7AB5"/>
                </a:solidFill>
                <a:latin typeface="Arial"/>
                <a:ea typeface="Arial"/>
                <a:cs typeface="Arial"/>
                <a:sym typeface="Arial"/>
              </a:rPr>
              <a:t>ABC1:</a:t>
            </a:r>
            <a:r>
              <a:rPr b="0" i="0" lang="en-US" sz="1100" u="none" cap="none" strike="noStrike">
                <a:solidFill>
                  <a:srgbClr val="5A7AB5"/>
                </a:solidFill>
                <a:latin typeface="Arial"/>
                <a:ea typeface="Arial"/>
                <a:cs typeface="Arial"/>
                <a:sym typeface="Arial"/>
              </a:rPr>
              <a:t> Nivel socioeconómico alto</a:t>
            </a:r>
            <a:endParaRPr b="0" i="0" sz="1100" u="none" cap="none" strike="noStrike">
              <a:solidFill>
                <a:srgbClr val="5A7AB5"/>
              </a:solidFill>
              <a:latin typeface="Arial"/>
              <a:ea typeface="Arial"/>
              <a:cs typeface="Arial"/>
              <a:sym typeface="Arial"/>
            </a:endParaRPr>
          </a:p>
          <a:p>
            <a:pPr indent="-298450" lvl="0" marL="457200" marR="0" rtl="0" algn="l">
              <a:lnSpc>
                <a:spcPct val="115000"/>
              </a:lnSpc>
              <a:spcBef>
                <a:spcPts val="0"/>
              </a:spcBef>
              <a:spcAft>
                <a:spcPts val="0"/>
              </a:spcAft>
              <a:buClr>
                <a:srgbClr val="5A7AB5"/>
              </a:buClr>
              <a:buSzPts val="1100"/>
              <a:buFont typeface="Arial"/>
              <a:buChar char="●"/>
            </a:pPr>
            <a:r>
              <a:rPr b="1" i="0" lang="en-US" sz="1100" u="none" cap="none" strike="noStrike">
                <a:solidFill>
                  <a:srgbClr val="5A7AB5"/>
                </a:solidFill>
                <a:latin typeface="Arial"/>
                <a:ea typeface="Arial"/>
                <a:cs typeface="Arial"/>
                <a:sym typeface="Arial"/>
              </a:rPr>
              <a:t>C2:</a:t>
            </a:r>
            <a:r>
              <a:rPr b="0" i="0" lang="en-US" sz="1100" u="none" cap="none" strike="noStrike">
                <a:solidFill>
                  <a:srgbClr val="5A7AB5"/>
                </a:solidFill>
                <a:latin typeface="Arial"/>
                <a:ea typeface="Arial"/>
                <a:cs typeface="Arial"/>
                <a:sym typeface="Arial"/>
              </a:rPr>
              <a:t> Nivel medio-alto</a:t>
            </a:r>
            <a:endParaRPr b="0" i="0" sz="1100" u="none" cap="none" strike="noStrike">
              <a:solidFill>
                <a:srgbClr val="5A7AB5"/>
              </a:solidFill>
              <a:latin typeface="Arial"/>
              <a:ea typeface="Arial"/>
              <a:cs typeface="Arial"/>
              <a:sym typeface="Arial"/>
            </a:endParaRPr>
          </a:p>
          <a:p>
            <a:pPr indent="-298450" lvl="0" marL="457200" marR="0" rtl="0" algn="l">
              <a:lnSpc>
                <a:spcPct val="115000"/>
              </a:lnSpc>
              <a:spcBef>
                <a:spcPts val="0"/>
              </a:spcBef>
              <a:spcAft>
                <a:spcPts val="0"/>
              </a:spcAft>
              <a:buClr>
                <a:srgbClr val="5A7AB5"/>
              </a:buClr>
              <a:buSzPts val="1100"/>
              <a:buFont typeface="Arial"/>
              <a:buChar char="●"/>
            </a:pPr>
            <a:r>
              <a:rPr b="1" i="0" lang="en-US" sz="1100" u="none" cap="none" strike="noStrike">
                <a:solidFill>
                  <a:srgbClr val="5A7AB5"/>
                </a:solidFill>
                <a:latin typeface="Arial"/>
                <a:ea typeface="Arial"/>
                <a:cs typeface="Arial"/>
                <a:sym typeface="Arial"/>
              </a:rPr>
              <a:t>C3:</a:t>
            </a:r>
            <a:r>
              <a:rPr b="0" i="0" lang="en-US" sz="1100" u="none" cap="none" strike="noStrike">
                <a:solidFill>
                  <a:srgbClr val="5A7AB5"/>
                </a:solidFill>
                <a:latin typeface="Arial"/>
                <a:ea typeface="Arial"/>
                <a:cs typeface="Arial"/>
                <a:sym typeface="Arial"/>
              </a:rPr>
              <a:t> Nivel medio</a:t>
            </a:r>
            <a:endParaRPr b="0" i="0" sz="1100" u="none" cap="none" strike="noStrike">
              <a:solidFill>
                <a:srgbClr val="5A7AB5"/>
              </a:solidFill>
              <a:latin typeface="Arial"/>
              <a:ea typeface="Arial"/>
              <a:cs typeface="Arial"/>
              <a:sym typeface="Arial"/>
            </a:endParaRPr>
          </a:p>
          <a:p>
            <a:pPr indent="-298450" lvl="0" marL="457200" marR="0" rtl="0" algn="l">
              <a:lnSpc>
                <a:spcPct val="115000"/>
              </a:lnSpc>
              <a:spcBef>
                <a:spcPts val="0"/>
              </a:spcBef>
              <a:spcAft>
                <a:spcPts val="0"/>
              </a:spcAft>
              <a:buClr>
                <a:srgbClr val="5A7AB5"/>
              </a:buClr>
              <a:buSzPts val="1100"/>
              <a:buFont typeface="Arial"/>
              <a:buChar char="●"/>
            </a:pPr>
            <a:r>
              <a:rPr b="1" i="0" lang="en-US" sz="1100" u="none" cap="none" strike="noStrike">
                <a:solidFill>
                  <a:srgbClr val="5A7AB5"/>
                </a:solidFill>
                <a:latin typeface="Arial"/>
                <a:ea typeface="Arial"/>
                <a:cs typeface="Arial"/>
                <a:sym typeface="Arial"/>
              </a:rPr>
              <a:t>D:</a:t>
            </a:r>
            <a:r>
              <a:rPr b="0" i="0" lang="en-US" sz="1100" u="none" cap="none" strike="noStrike">
                <a:solidFill>
                  <a:srgbClr val="5A7AB5"/>
                </a:solidFill>
                <a:latin typeface="Arial"/>
                <a:ea typeface="Arial"/>
                <a:cs typeface="Arial"/>
                <a:sym typeface="Arial"/>
              </a:rPr>
              <a:t> Nivel medio-bajo / bajo</a:t>
            </a:r>
            <a:endParaRPr b="1" i="0" sz="600" u="none" cap="none" strike="noStrike">
              <a:solidFill>
                <a:srgbClr val="5A7AB5"/>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191" name="Shape 191"/>
        <p:cNvGrpSpPr/>
        <p:nvPr/>
      </p:nvGrpSpPr>
      <p:grpSpPr>
        <a:xfrm>
          <a:off x="0" y="0"/>
          <a:ext cx="0" cy="0"/>
          <a:chOff x="0" y="0"/>
          <a:chExt cx="0" cy="0"/>
        </a:xfrm>
      </p:grpSpPr>
      <p:sp>
        <p:nvSpPr>
          <p:cNvPr id="192" name="Google Shape;192;p7"/>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3" name="Google Shape;193;p7"/>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VARIABLES CLAVE &amp; CORRELACIONES</a:t>
            </a:r>
            <a:endParaRPr b="0" i="0" sz="2200" u="none" cap="none" strike="noStrike">
              <a:solidFill>
                <a:schemeClr val="dk1"/>
              </a:solidFill>
              <a:latin typeface="Calibri"/>
              <a:ea typeface="Calibri"/>
              <a:cs typeface="Calibri"/>
              <a:sym typeface="Calibri"/>
            </a:endParaRPr>
          </a:p>
        </p:txBody>
      </p:sp>
      <p:sp>
        <p:nvSpPr>
          <p:cNvPr id="194" name="Google Shape;194;p7"/>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p7"/>
          <p:cNvSpPr/>
          <p:nvPr/>
        </p:nvSpPr>
        <p:spPr>
          <a:xfrm>
            <a:off x="365755" y="1133916"/>
            <a:ext cx="45720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Top Correlaciones con Ventas</a:t>
            </a:r>
            <a:endParaRPr b="0" i="0" sz="1100" u="none" cap="none" strike="noStrike">
              <a:solidFill>
                <a:schemeClr val="dk1"/>
              </a:solidFill>
              <a:latin typeface="Calibri"/>
              <a:ea typeface="Calibri"/>
              <a:cs typeface="Calibri"/>
              <a:sym typeface="Calibri"/>
            </a:endParaRPr>
          </a:p>
        </p:txBody>
      </p:sp>
      <p:sp>
        <p:nvSpPr>
          <p:cNvPr id="196" name="Google Shape;196;p7"/>
          <p:cNvSpPr/>
          <p:nvPr/>
        </p:nvSpPr>
        <p:spPr>
          <a:xfrm>
            <a:off x="6370320" y="1060765"/>
            <a:ext cx="3474720"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Esquina vs Media Cuadra</a:t>
            </a:r>
            <a:endParaRPr b="0" i="0" sz="1100" u="none" cap="none" strike="noStrike">
              <a:solidFill>
                <a:schemeClr val="dk1"/>
              </a:solidFill>
              <a:latin typeface="Calibri"/>
              <a:ea typeface="Calibri"/>
              <a:cs typeface="Calibri"/>
              <a:sym typeface="Calibri"/>
            </a:endParaRPr>
          </a:p>
        </p:txBody>
      </p:sp>
      <p:sp>
        <p:nvSpPr>
          <p:cNvPr id="197" name="Google Shape;197;p7"/>
          <p:cNvSpPr/>
          <p:nvPr/>
        </p:nvSpPr>
        <p:spPr>
          <a:xfrm>
            <a:off x="320040" y="4828032"/>
            <a:ext cx="8503920" cy="256032"/>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8" name="Google Shape;198;p7"/>
          <p:cNvSpPr/>
          <p:nvPr/>
        </p:nvSpPr>
        <p:spPr>
          <a:xfrm>
            <a:off x="411480" y="4837176"/>
            <a:ext cx="832104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850"/>
              <a:buFont typeface="Calibri"/>
              <a:buNone/>
            </a:pPr>
            <a:r>
              <a:rPr b="0" i="0" lang="en-US" sz="850" u="none" cap="none" strike="noStrike">
                <a:solidFill>
                  <a:srgbClr val="0D1B4B"/>
                </a:solidFill>
                <a:latin typeface="Calibri"/>
                <a:ea typeface="Calibri"/>
                <a:cs typeface="Calibri"/>
                <a:sym typeface="Calibri"/>
              </a:rPr>
              <a:t>💡</a:t>
            </a:r>
            <a:endParaRPr b="0" i="0" sz="850" u="none" cap="none" strike="noStrike">
              <a:solidFill>
                <a:schemeClr val="dk1"/>
              </a:solidFill>
              <a:latin typeface="Calibri"/>
              <a:ea typeface="Calibri"/>
              <a:cs typeface="Calibri"/>
              <a:sym typeface="Calibri"/>
            </a:endParaRPr>
          </a:p>
        </p:txBody>
      </p:sp>
      <p:pic>
        <p:nvPicPr>
          <p:cNvPr id="199" name="Google Shape;199;p7"/>
          <p:cNvPicPr preferRelativeResize="0"/>
          <p:nvPr/>
        </p:nvPicPr>
        <p:blipFill rotWithShape="1">
          <a:blip r:embed="rId3">
            <a:alphaModFix/>
          </a:blip>
          <a:srcRect b="0" l="0" r="0" t="0"/>
          <a:stretch/>
        </p:blipFill>
        <p:spPr>
          <a:xfrm>
            <a:off x="0" y="1758209"/>
            <a:ext cx="4811383" cy="1812622"/>
          </a:xfrm>
          <a:prstGeom prst="rect">
            <a:avLst/>
          </a:prstGeom>
          <a:noFill/>
          <a:ln>
            <a:noFill/>
          </a:ln>
        </p:spPr>
      </p:pic>
      <p:pic>
        <p:nvPicPr>
          <p:cNvPr id="200" name="Google Shape;200;p7"/>
          <p:cNvPicPr preferRelativeResize="0"/>
          <p:nvPr/>
        </p:nvPicPr>
        <p:blipFill rotWithShape="1">
          <a:blip r:embed="rId4">
            <a:alphaModFix/>
          </a:blip>
          <a:srcRect b="7759" l="0" r="0" t="5137"/>
          <a:stretch/>
        </p:blipFill>
        <p:spPr>
          <a:xfrm>
            <a:off x="4958704" y="1424398"/>
            <a:ext cx="4143849" cy="2134850"/>
          </a:xfrm>
          <a:prstGeom prst="rect">
            <a:avLst/>
          </a:prstGeom>
          <a:noFill/>
          <a:ln>
            <a:noFill/>
          </a:ln>
        </p:spPr>
      </p:pic>
      <p:sp>
        <p:nvSpPr>
          <p:cNvPr id="201" name="Google Shape;201;p7"/>
          <p:cNvSpPr/>
          <p:nvPr/>
        </p:nvSpPr>
        <p:spPr>
          <a:xfrm rot="-582508">
            <a:off x="6607366" y="2323339"/>
            <a:ext cx="1382168" cy="524484"/>
          </a:xfrm>
          <a:prstGeom prst="notchedRightArrow">
            <a:avLst>
              <a:gd fmla="val 50000" name="adj1"/>
              <a:gd fmla="val 50000" name="adj2"/>
            </a:avLst>
          </a:prstGeom>
          <a:solidFill>
            <a:schemeClr val="accent6"/>
          </a:solidFill>
          <a:ln cap="flat" cmpd="sng" w="12700">
            <a:solidFill>
              <a:srgbClr val="2F491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+14.4%</a:t>
            </a:r>
            <a:endParaRPr b="0" i="0" sz="1800" u="none" cap="none" strike="noStrike">
              <a:solidFill>
                <a:schemeClr val="lt1"/>
              </a:solidFill>
              <a:latin typeface="Calibri"/>
              <a:ea typeface="Calibri"/>
              <a:cs typeface="Calibri"/>
              <a:sym typeface="Calibri"/>
            </a:endParaRPr>
          </a:p>
        </p:txBody>
      </p:sp>
      <p:sp>
        <p:nvSpPr>
          <p:cNvPr id="202" name="Google Shape;202;p7"/>
          <p:cNvSpPr txBox="1"/>
          <p:nvPr/>
        </p:nvSpPr>
        <p:spPr>
          <a:xfrm>
            <a:off x="4811384" y="3568392"/>
            <a:ext cx="4291169" cy="646331"/>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323F4F"/>
                </a:solidFill>
                <a:latin typeface="Calibri"/>
                <a:ea typeface="Calibri"/>
                <a:cs typeface="Calibri"/>
                <a:sym typeface="Calibri"/>
              </a:rPr>
              <a:t>Hallazgo clave: Los locales en esquina venden 14,4% más que los de media cuadra.  Esto se debe a mayor visibilidad (más metros de vidriera) y doble acceso peatonal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07" name="Shape 207"/>
        <p:cNvGrpSpPr/>
        <p:nvPr/>
      </p:nvGrpSpPr>
      <p:grpSpPr>
        <a:xfrm>
          <a:off x="0" y="0"/>
          <a:ext cx="0" cy="0"/>
          <a:chOff x="0" y="0"/>
          <a:chExt cx="0" cy="0"/>
        </a:xfrm>
      </p:grpSpPr>
      <p:sp>
        <p:nvSpPr>
          <p:cNvPr id="208" name="Google Shape;208;p8"/>
          <p:cNvSpPr/>
          <p:nvPr/>
        </p:nvSpPr>
        <p:spPr>
          <a:xfrm>
            <a:off x="0" y="0"/>
            <a:ext cx="9144000" cy="50741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8"/>
          <p:cNvSpPr/>
          <p:nvPr/>
        </p:nvSpPr>
        <p:spPr>
          <a:xfrm>
            <a:off x="365760" y="0"/>
            <a:ext cx="8229600" cy="53056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VARIABLES CLAVE &amp; CORRELACIONES</a:t>
            </a:r>
            <a:endParaRPr b="0" i="0" sz="2200" u="none" cap="none" strike="noStrike">
              <a:solidFill>
                <a:schemeClr val="dk1"/>
              </a:solidFill>
              <a:latin typeface="Calibri"/>
              <a:ea typeface="Calibri"/>
              <a:cs typeface="Calibri"/>
              <a:sym typeface="Calibri"/>
            </a:endParaRPr>
          </a:p>
        </p:txBody>
      </p:sp>
      <p:sp>
        <p:nvSpPr>
          <p:cNvPr id="210" name="Google Shape;210;p8"/>
          <p:cNvSpPr/>
          <p:nvPr/>
        </p:nvSpPr>
        <p:spPr>
          <a:xfrm>
            <a:off x="411480" y="4837176"/>
            <a:ext cx="832104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850"/>
              <a:buFont typeface="Calibri"/>
              <a:buNone/>
            </a:pPr>
            <a:r>
              <a:rPr b="0" i="0" lang="en-US" sz="850" u="none" cap="none" strike="noStrike">
                <a:solidFill>
                  <a:srgbClr val="0D1B4B"/>
                </a:solidFill>
                <a:latin typeface="Calibri"/>
                <a:ea typeface="Calibri"/>
                <a:cs typeface="Calibri"/>
                <a:sym typeface="Calibri"/>
              </a:rPr>
              <a:t>💡</a:t>
            </a:r>
            <a:endParaRPr b="0" i="0" sz="850" u="none" cap="none" strike="noStrike">
              <a:solidFill>
                <a:schemeClr val="dk1"/>
              </a:solidFill>
              <a:latin typeface="Calibri"/>
              <a:ea typeface="Calibri"/>
              <a:cs typeface="Calibri"/>
              <a:sym typeface="Calibri"/>
            </a:endParaRPr>
          </a:p>
        </p:txBody>
      </p:sp>
      <p:pic>
        <p:nvPicPr>
          <p:cNvPr id="211" name="Google Shape;211;p8"/>
          <p:cNvPicPr preferRelativeResize="0"/>
          <p:nvPr/>
        </p:nvPicPr>
        <p:blipFill rotWithShape="1">
          <a:blip r:embed="rId3">
            <a:alphaModFix/>
          </a:blip>
          <a:srcRect b="0" l="0" r="0" t="0"/>
          <a:stretch/>
        </p:blipFill>
        <p:spPr>
          <a:xfrm>
            <a:off x="187325" y="515030"/>
            <a:ext cx="6788150" cy="4636089"/>
          </a:xfrm>
          <a:prstGeom prst="rect">
            <a:avLst/>
          </a:prstGeom>
          <a:noFill/>
          <a:ln>
            <a:noFill/>
          </a:ln>
        </p:spPr>
      </p:pic>
      <p:sp>
        <p:nvSpPr>
          <p:cNvPr id="212" name="Google Shape;212;p8"/>
          <p:cNvSpPr txBox="1"/>
          <p:nvPr/>
        </p:nvSpPr>
        <p:spPr>
          <a:xfrm>
            <a:off x="7078133" y="3658814"/>
            <a:ext cx="2024420" cy="1292662"/>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2060"/>
              </a:buClr>
              <a:buSzPts val="900"/>
              <a:buFont typeface="Calibri"/>
              <a:buNone/>
            </a:pPr>
            <a:r>
              <a:rPr b="0" i="0" lang="en-US" sz="900" u="none" cap="none" strike="noStrike">
                <a:solidFill>
                  <a:srgbClr val="002060"/>
                </a:solidFill>
                <a:latin typeface="Calibri"/>
                <a:ea typeface="Calibri"/>
                <a:cs typeface="Calibri"/>
                <a:sym typeface="Calibri"/>
              </a:rPr>
              <a:t>💰 </a:t>
            </a:r>
            <a:r>
              <a:rPr b="1" i="0" lang="en-US" sz="900" u="none" cap="none" strike="noStrike">
                <a:solidFill>
                  <a:srgbClr val="002060"/>
                </a:solidFill>
                <a:latin typeface="Calibri"/>
                <a:ea typeface="Calibri"/>
                <a:cs typeface="Calibri"/>
                <a:sym typeface="Calibri"/>
              </a:rPr>
              <a:t>Margen EBITDA</a:t>
            </a:r>
            <a:endParaRPr b="0" i="0" sz="900"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1" i="0" lang="en-US" sz="900" u="none" cap="none" strike="noStrike">
                <a:solidFill>
                  <a:srgbClr val="002060"/>
                </a:solidFill>
                <a:latin typeface="Calibri"/>
                <a:ea typeface="Calibri"/>
                <a:cs typeface="Calibri"/>
                <a:sym typeface="Calibri"/>
              </a:rPr>
              <a:t>Los márgenes más elevados se encuentran en Indumentaria (~25%) y Gastronomía (~22%), mientras que Farmacia presenta el más bajo (~7%), aunque lo compensa con un alto volumen de ventas. Esta variable fue excluida del modelo por ser característica propia del sector.</a:t>
            </a:r>
            <a:endParaRPr b="0" i="0" sz="900"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0" i="0" lang="en-US" sz="900" u="none" cap="none" strike="noStrike">
                <a:solidFill>
                  <a:srgbClr val="002060"/>
                </a:solidFill>
                <a:latin typeface="Calibri"/>
                <a:ea typeface="Calibri"/>
                <a:cs typeface="Calibri"/>
                <a:sym typeface="Calibri"/>
              </a:rPr>
              <a:t>​</a:t>
            </a:r>
            <a:endParaRPr b="1" i="0" sz="1200" u="none" cap="none" strike="noStrike">
              <a:solidFill>
                <a:srgbClr val="323F4F"/>
              </a:solidFill>
              <a:latin typeface="Calibri"/>
              <a:ea typeface="Calibri"/>
              <a:cs typeface="Calibri"/>
              <a:sym typeface="Calibri"/>
            </a:endParaRPr>
          </a:p>
        </p:txBody>
      </p:sp>
      <p:sp>
        <p:nvSpPr>
          <p:cNvPr id="213" name="Google Shape;213;p8"/>
          <p:cNvSpPr txBox="1"/>
          <p:nvPr/>
        </p:nvSpPr>
        <p:spPr>
          <a:xfrm>
            <a:off x="7078133" y="530566"/>
            <a:ext cx="2024400" cy="1339200"/>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b="1" i="0" lang="en-US" sz="900" u="none" cap="none" strike="noStrike">
                <a:solidFill>
                  <a:srgbClr val="F87171"/>
                </a:solidFill>
                <a:latin typeface="Calibri"/>
                <a:ea typeface="Calibri"/>
                <a:cs typeface="Calibri"/>
                <a:sym typeface="Calibri"/>
              </a:rPr>
              <a:t>📍 Distancia al Ancla</a:t>
            </a:r>
            <a:endParaRPr b="0" i="0" sz="900" u="none" cap="none" strike="noStrike">
              <a:solidFill>
                <a:srgbClr val="002060"/>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1" i="0" lang="en-US" sz="900" u="none" cap="none" strike="noStrike">
                <a:solidFill>
                  <a:srgbClr val="002060"/>
                </a:solidFill>
                <a:latin typeface="Calibri"/>
                <a:ea typeface="Calibri"/>
                <a:cs typeface="Calibri"/>
                <a:sym typeface="Calibri"/>
              </a:rPr>
              <a:t>Existe una relación negativa evidente: a mayor distancia, disminuyen las ventas. Los puntos de interés (en verde) potencian el impacto positivo de la proximidad. Los locales situados a menos de 50 metros del ancla con más de 8 puntos de interés son los que mejor rendimiento tienen.</a:t>
            </a:r>
            <a:endParaRPr b="1" i="0" sz="1200" u="none" cap="none" strike="noStrike">
              <a:solidFill>
                <a:srgbClr val="323F4F"/>
              </a:solidFill>
              <a:latin typeface="Calibri"/>
              <a:ea typeface="Calibri"/>
              <a:cs typeface="Calibri"/>
              <a:sym typeface="Calibri"/>
            </a:endParaRPr>
          </a:p>
        </p:txBody>
      </p:sp>
      <p:sp>
        <p:nvSpPr>
          <p:cNvPr id="214" name="Google Shape;214;p8"/>
          <p:cNvSpPr txBox="1"/>
          <p:nvPr/>
        </p:nvSpPr>
        <p:spPr>
          <a:xfrm>
            <a:off x="7078133" y="2082324"/>
            <a:ext cx="2024420" cy="1338828"/>
          </a:xfrm>
          <a:prstGeom prst="rect">
            <a:avLst/>
          </a:prstGeom>
          <a:gradFill>
            <a:gsLst>
              <a:gs pos="0">
                <a:srgbClr val="A6B6DE"/>
              </a:gs>
              <a:gs pos="50000">
                <a:srgbClr val="98AAD9"/>
              </a:gs>
              <a:gs pos="100000">
                <a:srgbClr val="859CD7"/>
              </a:gs>
            </a:gsLst>
            <a:lin ang="5400000" scaled="0"/>
          </a:gradFill>
          <a:ln cap="flat" cmpd="sng" w="9525">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 </a:t>
            </a:r>
            <a:r>
              <a:rPr b="1" i="0" lang="en-US" sz="900" u="none" cap="none" strike="noStrike">
                <a:solidFill>
                  <a:srgbClr val="548135"/>
                </a:solidFill>
                <a:latin typeface="Calibri"/>
                <a:ea typeface="Calibri"/>
                <a:cs typeface="Calibri"/>
                <a:sym typeface="Calibri"/>
              </a:rPr>
              <a:t>Tránsito y Ventas</a:t>
            </a:r>
            <a:endParaRPr b="0" i="0" sz="900" u="none" cap="none" strike="noStrike">
              <a:solidFill>
                <a:srgbClr val="548135"/>
              </a:solidFill>
              <a:latin typeface="Calibri"/>
              <a:ea typeface="Calibri"/>
              <a:cs typeface="Calibri"/>
              <a:sym typeface="Calibri"/>
            </a:endParaRPr>
          </a:p>
          <a:p>
            <a:pPr indent="0" lvl="0" marL="0" marR="0" rtl="0" algn="ctr">
              <a:lnSpc>
                <a:spcPct val="100000"/>
              </a:lnSpc>
              <a:spcBef>
                <a:spcPts val="0"/>
              </a:spcBef>
              <a:spcAft>
                <a:spcPts val="0"/>
              </a:spcAft>
              <a:buClr>
                <a:srgbClr val="002060"/>
              </a:buClr>
              <a:buSzPts val="900"/>
              <a:buFont typeface="Calibri"/>
              <a:buNone/>
            </a:pPr>
            <a:r>
              <a:rPr b="1" i="0" lang="en-US" sz="900" u="none" cap="none" strike="noStrike">
                <a:solidFill>
                  <a:srgbClr val="002060"/>
                </a:solidFill>
                <a:latin typeface="Calibri"/>
                <a:ea typeface="Calibri"/>
                <a:cs typeface="Calibri"/>
                <a:sym typeface="Calibri"/>
              </a:rPr>
              <a:t>Las categorías de Tecnología e Indumentaria muestran una correlación más fuerte entre el tráfico y las ventas. A igual nivel de tránsito, las ventas pueden variar hasta tres veces entre diferentes categorías, lo que demuestra que el sector establece el techo máximo de ingresos.</a:t>
            </a:r>
            <a:endParaRPr b="1" i="0" sz="1200" u="none" cap="none" strike="noStrike">
              <a:solidFill>
                <a:srgbClr val="00206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19" name="Shape 219"/>
        <p:cNvGrpSpPr/>
        <p:nvPr/>
      </p:nvGrpSpPr>
      <p:grpSpPr>
        <a:xfrm>
          <a:off x="0" y="0"/>
          <a:ext cx="0" cy="0"/>
          <a:chOff x="0" y="0"/>
          <a:chExt cx="0" cy="0"/>
        </a:xfrm>
      </p:grpSpPr>
      <p:sp>
        <p:nvSpPr>
          <p:cNvPr id="220" name="Google Shape;220;p9"/>
          <p:cNvSpPr/>
          <p:nvPr/>
        </p:nvSpPr>
        <p:spPr>
          <a:xfrm>
            <a:off x="0" y="0"/>
            <a:ext cx="9144000" cy="77724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9"/>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MODELO KNN — PREPARACIÓN Y PROCESO</a:t>
            </a:r>
            <a:endParaRPr b="0" i="0" sz="2200" u="none" cap="none" strike="noStrike">
              <a:solidFill>
                <a:schemeClr val="dk1"/>
              </a:solidFill>
              <a:latin typeface="Calibri"/>
              <a:ea typeface="Calibri"/>
              <a:cs typeface="Calibri"/>
              <a:sym typeface="Calibri"/>
            </a:endParaRPr>
          </a:p>
        </p:txBody>
      </p:sp>
      <p:sp>
        <p:nvSpPr>
          <p:cNvPr id="222" name="Google Shape;222;p9"/>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9"/>
          <p:cNvSpPr/>
          <p:nvPr/>
        </p:nvSpPr>
        <p:spPr>
          <a:xfrm>
            <a:off x="320040" y="960120"/>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4" name="Google Shape;224;p9"/>
          <p:cNvSpPr/>
          <p:nvPr/>
        </p:nvSpPr>
        <p:spPr>
          <a:xfrm>
            <a:off x="320040" y="960120"/>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25" name="Google Shape;225;p9"/>
          <p:cNvSpPr/>
          <p:nvPr/>
        </p:nvSpPr>
        <p:spPr>
          <a:xfrm>
            <a:off x="1005840" y="960120"/>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6" name="Google Shape;226;p9"/>
          <p:cNvSpPr/>
          <p:nvPr/>
        </p:nvSpPr>
        <p:spPr>
          <a:xfrm>
            <a:off x="1005840" y="960120"/>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7" name="Google Shape;227;p9"/>
          <p:cNvSpPr/>
          <p:nvPr/>
        </p:nvSpPr>
        <p:spPr>
          <a:xfrm>
            <a:off x="1115568" y="996696"/>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Encoding</a:t>
            </a:r>
            <a:endParaRPr b="0" i="0" sz="1000" u="none" cap="none" strike="noStrike">
              <a:solidFill>
                <a:schemeClr val="dk1"/>
              </a:solidFill>
              <a:latin typeface="Calibri"/>
              <a:ea typeface="Calibri"/>
              <a:cs typeface="Calibri"/>
              <a:sym typeface="Calibri"/>
            </a:endParaRPr>
          </a:p>
        </p:txBody>
      </p:sp>
      <p:sp>
        <p:nvSpPr>
          <p:cNvPr id="228" name="Google Shape;228;p9"/>
          <p:cNvSpPr/>
          <p:nvPr/>
        </p:nvSpPr>
        <p:spPr>
          <a:xfrm>
            <a:off x="1115568" y="1225296"/>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Encoded Nivel Socioeconomico, Posicionamiento, One-Hot en Rubro y Tipo Ubicación</a:t>
            </a:r>
            <a:endParaRPr b="0" i="0" sz="900" u="none" cap="none" strike="noStrike">
              <a:solidFill>
                <a:schemeClr val="dk1"/>
              </a:solidFill>
              <a:latin typeface="Calibri"/>
              <a:ea typeface="Calibri"/>
              <a:cs typeface="Calibri"/>
              <a:sym typeface="Calibri"/>
            </a:endParaRPr>
          </a:p>
        </p:txBody>
      </p:sp>
      <p:sp>
        <p:nvSpPr>
          <p:cNvPr id="229" name="Google Shape;229;p9"/>
          <p:cNvSpPr/>
          <p:nvPr/>
        </p:nvSpPr>
        <p:spPr>
          <a:xfrm>
            <a:off x="320040" y="1764792"/>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9"/>
          <p:cNvSpPr/>
          <p:nvPr/>
        </p:nvSpPr>
        <p:spPr>
          <a:xfrm>
            <a:off x="320040" y="1764792"/>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31" name="Google Shape;231;p9"/>
          <p:cNvSpPr/>
          <p:nvPr/>
        </p:nvSpPr>
        <p:spPr>
          <a:xfrm>
            <a:off x="1005840" y="1764792"/>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9"/>
          <p:cNvSpPr/>
          <p:nvPr/>
        </p:nvSpPr>
        <p:spPr>
          <a:xfrm>
            <a:off x="1005840" y="1764792"/>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p9"/>
          <p:cNvSpPr/>
          <p:nvPr/>
        </p:nvSpPr>
        <p:spPr>
          <a:xfrm>
            <a:off x="1115568" y="1801368"/>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Normalización</a:t>
            </a:r>
            <a:endParaRPr b="0" i="0" sz="1000" u="none" cap="none" strike="noStrike">
              <a:solidFill>
                <a:schemeClr val="dk1"/>
              </a:solidFill>
              <a:latin typeface="Calibri"/>
              <a:ea typeface="Calibri"/>
              <a:cs typeface="Calibri"/>
              <a:sym typeface="Calibri"/>
            </a:endParaRPr>
          </a:p>
        </p:txBody>
      </p:sp>
      <p:sp>
        <p:nvSpPr>
          <p:cNvPr id="234" name="Google Shape;234;p9"/>
          <p:cNvSpPr/>
          <p:nvPr/>
        </p:nvSpPr>
        <p:spPr>
          <a:xfrm>
            <a:off x="1115568" y="2029968"/>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StandardScaler (μ=0, σ=1) sobre 30 features numéricas</a:t>
            </a:r>
            <a:endParaRPr b="0" i="0" sz="900" u="none" cap="none" strike="noStrike">
              <a:solidFill>
                <a:schemeClr val="dk1"/>
              </a:solidFill>
              <a:latin typeface="Calibri"/>
              <a:ea typeface="Calibri"/>
              <a:cs typeface="Calibri"/>
              <a:sym typeface="Calibri"/>
            </a:endParaRPr>
          </a:p>
        </p:txBody>
      </p:sp>
      <p:sp>
        <p:nvSpPr>
          <p:cNvPr id="235" name="Google Shape;235;p9"/>
          <p:cNvSpPr/>
          <p:nvPr/>
        </p:nvSpPr>
        <p:spPr>
          <a:xfrm>
            <a:off x="320040" y="2569464"/>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6" name="Google Shape;236;p9"/>
          <p:cNvSpPr/>
          <p:nvPr/>
        </p:nvSpPr>
        <p:spPr>
          <a:xfrm>
            <a:off x="320040" y="2569464"/>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37" name="Google Shape;237;p9"/>
          <p:cNvSpPr/>
          <p:nvPr/>
        </p:nvSpPr>
        <p:spPr>
          <a:xfrm>
            <a:off x="1005840" y="2569464"/>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9"/>
          <p:cNvSpPr/>
          <p:nvPr/>
        </p:nvSpPr>
        <p:spPr>
          <a:xfrm>
            <a:off x="1005840" y="2569464"/>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9" name="Google Shape;239;p9"/>
          <p:cNvSpPr/>
          <p:nvPr/>
        </p:nvSpPr>
        <p:spPr>
          <a:xfrm>
            <a:off x="1115568" y="2606040"/>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Split</a:t>
            </a:r>
            <a:endParaRPr b="0" i="0" sz="1000" u="none" cap="none" strike="noStrike">
              <a:solidFill>
                <a:schemeClr val="dk1"/>
              </a:solidFill>
              <a:latin typeface="Calibri"/>
              <a:ea typeface="Calibri"/>
              <a:cs typeface="Calibri"/>
              <a:sym typeface="Calibri"/>
            </a:endParaRPr>
          </a:p>
        </p:txBody>
      </p:sp>
      <p:sp>
        <p:nvSpPr>
          <p:cNvPr id="240" name="Google Shape;240;p9"/>
          <p:cNvSpPr/>
          <p:nvPr/>
        </p:nvSpPr>
        <p:spPr>
          <a:xfrm>
            <a:off x="1115568" y="2834640"/>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Train 70% (2101) · Validación 15% (449) · Test 15% (450)</a:t>
            </a:r>
            <a:endParaRPr b="0" i="0" sz="900" u="none" cap="none" strike="noStrike">
              <a:solidFill>
                <a:schemeClr val="dk1"/>
              </a:solidFill>
              <a:latin typeface="Calibri"/>
              <a:ea typeface="Calibri"/>
              <a:cs typeface="Calibri"/>
              <a:sym typeface="Calibri"/>
            </a:endParaRPr>
          </a:p>
        </p:txBody>
      </p:sp>
      <p:sp>
        <p:nvSpPr>
          <p:cNvPr id="241" name="Google Shape;241;p9"/>
          <p:cNvSpPr/>
          <p:nvPr/>
        </p:nvSpPr>
        <p:spPr>
          <a:xfrm>
            <a:off x="320040" y="3374136"/>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9"/>
          <p:cNvSpPr/>
          <p:nvPr/>
        </p:nvSpPr>
        <p:spPr>
          <a:xfrm>
            <a:off x="320040" y="3374136"/>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43" name="Google Shape;243;p9"/>
          <p:cNvSpPr/>
          <p:nvPr/>
        </p:nvSpPr>
        <p:spPr>
          <a:xfrm>
            <a:off x="1033272" y="3392424"/>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9"/>
          <p:cNvSpPr/>
          <p:nvPr/>
        </p:nvSpPr>
        <p:spPr>
          <a:xfrm>
            <a:off x="1005840" y="3374136"/>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5" name="Google Shape;245;p9"/>
          <p:cNvSpPr/>
          <p:nvPr/>
        </p:nvSpPr>
        <p:spPr>
          <a:xfrm>
            <a:off x="1115568" y="3410712"/>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Elección K</a:t>
            </a:r>
            <a:endParaRPr b="0" i="0" sz="1000" u="none" cap="none" strike="noStrike">
              <a:solidFill>
                <a:schemeClr val="dk1"/>
              </a:solidFill>
              <a:latin typeface="Calibri"/>
              <a:ea typeface="Calibri"/>
              <a:cs typeface="Calibri"/>
              <a:sym typeface="Calibri"/>
            </a:endParaRPr>
          </a:p>
        </p:txBody>
      </p:sp>
      <p:sp>
        <p:nvSpPr>
          <p:cNvPr id="246" name="Google Shape;246;p9"/>
          <p:cNvSpPr/>
          <p:nvPr/>
        </p:nvSpPr>
        <p:spPr>
          <a:xfrm>
            <a:off x="1115568" y="3639312"/>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Mejor K: 10  →  RMSE CV: $ 151.178</a:t>
            </a:r>
            <a:endParaRPr b="0" i="0" sz="900" u="none" cap="none" strike="noStrike">
              <a:solidFill>
                <a:srgbClr val="444444"/>
              </a:solidFill>
              <a:latin typeface="Calibri"/>
              <a:ea typeface="Calibri"/>
              <a:cs typeface="Calibri"/>
              <a:sym typeface="Calibri"/>
            </a:endParaRPr>
          </a:p>
        </p:txBody>
      </p:sp>
      <p:sp>
        <p:nvSpPr>
          <p:cNvPr id="247" name="Google Shape;247;p9"/>
          <p:cNvSpPr/>
          <p:nvPr/>
        </p:nvSpPr>
        <p:spPr>
          <a:xfrm>
            <a:off x="320040" y="4178808"/>
            <a:ext cx="548640" cy="548640"/>
          </a:xfrm>
          <a:prstGeom prst="ellipse">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9"/>
          <p:cNvSpPr/>
          <p:nvPr/>
        </p:nvSpPr>
        <p:spPr>
          <a:xfrm>
            <a:off x="320040" y="4178808"/>
            <a:ext cx="5486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5</a:t>
            </a:r>
            <a:endParaRPr b="0" i="0" sz="1600" u="none" cap="none" strike="noStrike">
              <a:solidFill>
                <a:schemeClr val="dk1"/>
              </a:solidFill>
              <a:latin typeface="Calibri"/>
              <a:ea typeface="Calibri"/>
              <a:cs typeface="Calibri"/>
              <a:sym typeface="Calibri"/>
            </a:endParaRPr>
          </a:p>
        </p:txBody>
      </p:sp>
      <p:sp>
        <p:nvSpPr>
          <p:cNvPr id="249" name="Google Shape;249;p9"/>
          <p:cNvSpPr/>
          <p:nvPr/>
        </p:nvSpPr>
        <p:spPr>
          <a:xfrm>
            <a:off x="1005840" y="4178808"/>
            <a:ext cx="4023360" cy="548640"/>
          </a:xfrm>
          <a:prstGeom prst="rect">
            <a:avLst/>
          </a:prstGeom>
          <a:solidFill>
            <a:srgbClr val="FFFFFF"/>
          </a:solidFill>
          <a:ln>
            <a:noFill/>
          </a:ln>
          <a:effectLst>
            <a:outerShdw blurRad="50800" rotWithShape="0" algn="bl" dir="8100000" dist="12700">
              <a:srgbClr val="000000">
                <a:alpha val="7843"/>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p9"/>
          <p:cNvSpPr/>
          <p:nvPr/>
        </p:nvSpPr>
        <p:spPr>
          <a:xfrm>
            <a:off x="1005840" y="4178808"/>
            <a:ext cx="54864" cy="54864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1" name="Google Shape;251;p9"/>
          <p:cNvSpPr/>
          <p:nvPr/>
        </p:nvSpPr>
        <p:spPr>
          <a:xfrm>
            <a:off x="1115568" y="4215384"/>
            <a:ext cx="118872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Entrenamiento</a:t>
            </a:r>
            <a:endParaRPr b="0" i="0" sz="1000" u="none" cap="none" strike="noStrike">
              <a:solidFill>
                <a:schemeClr val="dk1"/>
              </a:solidFill>
              <a:latin typeface="Calibri"/>
              <a:ea typeface="Calibri"/>
              <a:cs typeface="Calibri"/>
              <a:sym typeface="Calibri"/>
            </a:endParaRPr>
          </a:p>
        </p:txBody>
      </p:sp>
      <p:sp>
        <p:nvSpPr>
          <p:cNvPr id="252" name="Google Shape;252;p9"/>
          <p:cNvSpPr/>
          <p:nvPr/>
        </p:nvSpPr>
        <p:spPr>
          <a:xfrm>
            <a:off x="1115568" y="4443984"/>
            <a:ext cx="3840480" cy="2468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00"/>
              <a:buFont typeface="Calibri"/>
              <a:buNone/>
            </a:pPr>
            <a:r>
              <a:rPr b="0" i="0" lang="en-US" sz="900" u="none" cap="none" strike="noStrike">
                <a:solidFill>
                  <a:srgbClr val="444444"/>
                </a:solidFill>
                <a:latin typeface="Calibri"/>
                <a:ea typeface="Calibri"/>
                <a:cs typeface="Calibri"/>
                <a:sym typeface="Calibri"/>
              </a:rPr>
              <a:t>KNeighborsRegressor(n_neighbors=10, weights='distance')</a:t>
            </a:r>
            <a:endParaRPr b="0" i="0" sz="900" u="none" cap="none" strike="noStrike">
              <a:solidFill>
                <a:schemeClr val="dk1"/>
              </a:solidFill>
              <a:latin typeface="Calibri"/>
              <a:ea typeface="Calibri"/>
              <a:cs typeface="Calibri"/>
              <a:sym typeface="Calibri"/>
            </a:endParaRPr>
          </a:p>
        </p:txBody>
      </p:sp>
      <p:sp>
        <p:nvSpPr>
          <p:cNvPr id="253" name="Google Shape;253;p9"/>
          <p:cNvSpPr/>
          <p:nvPr/>
        </p:nvSpPr>
        <p:spPr>
          <a:xfrm>
            <a:off x="5303520" y="960120"/>
            <a:ext cx="34747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Selección de K óptimo (K=10)</a:t>
            </a:r>
            <a:endParaRPr b="0" i="0" sz="1100" u="none" cap="none" strike="noStrike">
              <a:solidFill>
                <a:schemeClr val="dk1"/>
              </a:solidFill>
              <a:latin typeface="Calibri"/>
              <a:ea typeface="Calibri"/>
              <a:cs typeface="Calibri"/>
              <a:sym typeface="Calibri"/>
            </a:endParaRPr>
          </a:p>
        </p:txBody>
      </p:sp>
      <p:sp>
        <p:nvSpPr>
          <p:cNvPr id="254" name="Google Shape;254;p9"/>
          <p:cNvSpPr/>
          <p:nvPr/>
        </p:nvSpPr>
        <p:spPr>
          <a:xfrm>
            <a:off x="5120640" y="3703320"/>
            <a:ext cx="3749040" cy="1234440"/>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5" name="Google Shape;255;p9"/>
          <p:cNvSpPr/>
          <p:nvPr/>
        </p:nvSpPr>
        <p:spPr>
          <a:xfrm>
            <a:off x="5212080" y="3749040"/>
            <a:ext cx="35661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  30 Features incluidas</a:t>
            </a:r>
            <a:endParaRPr b="0" i="0" sz="1000" u="none" cap="none" strike="noStrike">
              <a:solidFill>
                <a:schemeClr val="dk1"/>
              </a:solidFill>
              <a:latin typeface="Calibri"/>
              <a:ea typeface="Calibri"/>
              <a:cs typeface="Calibri"/>
              <a:sym typeface="Calibri"/>
            </a:endParaRPr>
          </a:p>
        </p:txBody>
      </p:sp>
      <p:sp>
        <p:nvSpPr>
          <p:cNvPr id="256" name="Google Shape;256;p9"/>
          <p:cNvSpPr/>
          <p:nvPr/>
        </p:nvSpPr>
        <p:spPr>
          <a:xfrm>
            <a:off x="5212080" y="4041648"/>
            <a:ext cx="3566160" cy="82296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Numéricas: Superficie, Marketing, Alquiler, Tránsito...</a:t>
            </a:r>
            <a:endParaRPr b="0" i="0" sz="9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Encoded: NSE, Posicionamiento, Rubro, Tipo de ubicación</a:t>
            </a:r>
            <a:endParaRPr b="0" i="0" sz="900" u="none" cap="none" strike="noStrike">
              <a:solidFill>
                <a:srgbClr val="333333"/>
              </a:solidFill>
              <a:latin typeface="Calibri"/>
              <a:ea typeface="Calibri"/>
              <a:cs typeface="Calibri"/>
              <a:sym typeface="Calibri"/>
            </a:endParaRPr>
          </a:p>
          <a:p>
            <a:pPr indent="-342900" lvl="0" marL="342900" marR="0" rtl="0" algn="l">
              <a:lnSpc>
                <a:spcPct val="100000"/>
              </a:lnSpc>
              <a:spcBef>
                <a:spcPts val="0"/>
              </a:spcBef>
              <a:spcAft>
                <a:spcPts val="0"/>
              </a:spcAft>
              <a:buClr>
                <a:srgbClr val="333333"/>
              </a:buClr>
              <a:buSzPts val="900"/>
              <a:buFont typeface="Calibri"/>
              <a:buChar char="•"/>
            </a:pPr>
            <a:r>
              <a:rPr b="0" i="0" lang="en-US" sz="900" u="none" cap="none" strike="noStrike">
                <a:solidFill>
                  <a:srgbClr val="333333"/>
                </a:solidFill>
                <a:latin typeface="Calibri"/>
                <a:ea typeface="Calibri"/>
                <a:cs typeface="Calibri"/>
                <a:sym typeface="Calibri"/>
              </a:rPr>
              <a:t>Dummies: 10 rubros + 4 tipos ubicación</a:t>
            </a:r>
            <a:endParaRPr b="0" i="0" sz="900" u="none" cap="none" strike="noStrike">
              <a:solidFill>
                <a:schemeClr val="dk1"/>
              </a:solidFill>
              <a:latin typeface="Calibri"/>
              <a:ea typeface="Calibri"/>
              <a:cs typeface="Calibri"/>
              <a:sym typeface="Calibri"/>
            </a:endParaRPr>
          </a:p>
        </p:txBody>
      </p:sp>
      <p:sp>
        <p:nvSpPr>
          <p:cNvPr id="257" name="Google Shape;257;p9"/>
          <p:cNvSpPr/>
          <p:nvPr/>
        </p:nvSpPr>
        <p:spPr>
          <a:xfrm>
            <a:off x="320040" y="4828032"/>
            <a:ext cx="8503920" cy="228600"/>
          </a:xfrm>
          <a:prstGeom prst="rect">
            <a:avLst/>
          </a:prstGeom>
          <a:solidFill>
            <a:srgbClr val="FFF8E1"/>
          </a:solidFill>
          <a:ln cap="flat" cmpd="sng" w="101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8" name="Google Shape;258;p9"/>
          <p:cNvSpPr/>
          <p:nvPr/>
        </p:nvSpPr>
        <p:spPr>
          <a:xfrm>
            <a:off x="411480" y="4837176"/>
            <a:ext cx="8321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900"/>
              <a:buFont typeface="Calibri"/>
              <a:buNone/>
            </a:pPr>
            <a:r>
              <a:rPr b="0" i="0" lang="en-US" sz="900" u="none" cap="none" strike="noStrike">
                <a:solidFill>
                  <a:srgbClr val="7B5800"/>
                </a:solidFill>
                <a:latin typeface="Calibri"/>
                <a:ea typeface="Calibri"/>
                <a:cs typeface="Calibri"/>
                <a:sym typeface="Calibri"/>
              </a:rPr>
              <a:t>💡  Se usó weights='distance' para dar mayor peso a los vecinos más cercanos, mejorando la precisión del modelo.</a:t>
            </a:r>
            <a:endParaRPr b="0" i="0" sz="900" u="none" cap="none" strike="noStrike">
              <a:solidFill>
                <a:schemeClr val="dk1"/>
              </a:solidFill>
              <a:latin typeface="Calibri"/>
              <a:ea typeface="Calibri"/>
              <a:cs typeface="Calibri"/>
              <a:sym typeface="Calibri"/>
            </a:endParaRPr>
          </a:p>
        </p:txBody>
      </p:sp>
      <p:pic>
        <p:nvPicPr>
          <p:cNvPr id="259" name="Google Shape;259;p9"/>
          <p:cNvPicPr preferRelativeResize="0"/>
          <p:nvPr/>
        </p:nvPicPr>
        <p:blipFill rotWithShape="1">
          <a:blip r:embed="rId3">
            <a:alphaModFix/>
          </a:blip>
          <a:srcRect b="0" l="0" r="0" t="0"/>
          <a:stretch/>
        </p:blipFill>
        <p:spPr>
          <a:xfrm>
            <a:off x="5260825" y="1267151"/>
            <a:ext cx="3749025" cy="200111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64" name="Shape 264"/>
        <p:cNvGrpSpPr/>
        <p:nvPr/>
      </p:nvGrpSpPr>
      <p:grpSpPr>
        <a:xfrm>
          <a:off x="0" y="0"/>
          <a:ext cx="0" cy="0"/>
          <a:chOff x="0" y="0"/>
          <a:chExt cx="0" cy="0"/>
        </a:xfrm>
      </p:grpSpPr>
      <p:sp>
        <p:nvSpPr>
          <p:cNvPr id="265" name="Google Shape;265;p10"/>
          <p:cNvSpPr/>
          <p:nvPr/>
        </p:nvSpPr>
        <p:spPr>
          <a:xfrm>
            <a:off x="0" y="0"/>
            <a:ext cx="9144000" cy="77724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6" name="Google Shape;266;p10"/>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MODELO KNN — RESULTADOS</a:t>
            </a:r>
            <a:endParaRPr b="0" i="0" sz="2200" u="none" cap="none" strike="noStrike">
              <a:solidFill>
                <a:schemeClr val="dk1"/>
              </a:solidFill>
              <a:latin typeface="Calibri"/>
              <a:ea typeface="Calibri"/>
              <a:cs typeface="Calibri"/>
              <a:sym typeface="Calibri"/>
            </a:endParaRPr>
          </a:p>
        </p:txBody>
      </p:sp>
      <p:sp>
        <p:nvSpPr>
          <p:cNvPr id="267" name="Google Shape;267;p10"/>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8" name="Google Shape;268;p10"/>
          <p:cNvSpPr/>
          <p:nvPr/>
        </p:nvSpPr>
        <p:spPr>
          <a:xfrm>
            <a:off x="320040"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9" name="Google Shape;269;p10"/>
          <p:cNvSpPr/>
          <p:nvPr/>
        </p:nvSpPr>
        <p:spPr>
          <a:xfrm>
            <a:off x="320040" y="960120"/>
            <a:ext cx="1920240" cy="64008"/>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0" name="Google Shape;270;p10"/>
          <p:cNvSpPr/>
          <p:nvPr/>
        </p:nvSpPr>
        <p:spPr>
          <a:xfrm>
            <a:off x="320040"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565C0"/>
              </a:buClr>
              <a:buSzPts val="2200"/>
              <a:buFont typeface="Calibri"/>
              <a:buNone/>
            </a:pPr>
            <a:r>
              <a:rPr b="1" i="0" lang="en-US" sz="2200" u="none" cap="none" strike="noStrike">
                <a:solidFill>
                  <a:srgbClr val="1565C0"/>
                </a:solidFill>
                <a:latin typeface="Calibri"/>
                <a:ea typeface="Calibri"/>
                <a:cs typeface="Calibri"/>
                <a:sym typeface="Calibri"/>
              </a:rPr>
              <a:t>63.8%</a:t>
            </a:r>
            <a:endParaRPr b="0" i="0" sz="2200" u="none" cap="none" strike="noStrike">
              <a:solidFill>
                <a:schemeClr val="dk1"/>
              </a:solidFill>
              <a:latin typeface="Calibri"/>
              <a:ea typeface="Calibri"/>
              <a:cs typeface="Calibri"/>
              <a:sym typeface="Calibri"/>
            </a:endParaRPr>
          </a:p>
        </p:txBody>
      </p:sp>
      <p:sp>
        <p:nvSpPr>
          <p:cNvPr id="271" name="Google Shape;271;p10"/>
          <p:cNvSpPr/>
          <p:nvPr/>
        </p:nvSpPr>
        <p:spPr>
          <a:xfrm>
            <a:off x="320040"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R² — Precisión</a:t>
            </a:r>
            <a:endParaRPr b="0" i="0" sz="1000" u="none" cap="none" strike="noStrike">
              <a:solidFill>
                <a:schemeClr val="dk1"/>
              </a:solidFill>
              <a:latin typeface="Calibri"/>
              <a:ea typeface="Calibri"/>
              <a:cs typeface="Calibri"/>
              <a:sym typeface="Calibri"/>
            </a:endParaRPr>
          </a:p>
        </p:txBody>
      </p:sp>
      <p:sp>
        <p:nvSpPr>
          <p:cNvPr id="272" name="Google Shape;272;p10"/>
          <p:cNvSpPr/>
          <p:nvPr/>
        </p:nvSpPr>
        <p:spPr>
          <a:xfrm>
            <a:off x="320040"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El modelo explica el 63.8% de la varianza en ventas</a:t>
            </a:r>
            <a:endParaRPr b="0" i="0" sz="800" u="none" cap="none" strike="noStrike">
              <a:solidFill>
                <a:schemeClr val="dk1"/>
              </a:solidFill>
              <a:latin typeface="Calibri"/>
              <a:ea typeface="Calibri"/>
              <a:cs typeface="Calibri"/>
              <a:sym typeface="Calibri"/>
            </a:endParaRPr>
          </a:p>
        </p:txBody>
      </p:sp>
      <p:sp>
        <p:nvSpPr>
          <p:cNvPr id="273" name="Google Shape;273;p10"/>
          <p:cNvSpPr/>
          <p:nvPr/>
        </p:nvSpPr>
        <p:spPr>
          <a:xfrm>
            <a:off x="2496312"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10"/>
          <p:cNvSpPr/>
          <p:nvPr/>
        </p:nvSpPr>
        <p:spPr>
          <a:xfrm>
            <a:off x="2496312" y="960120"/>
            <a:ext cx="1920240" cy="64008"/>
          </a:xfrm>
          <a:prstGeom prst="rect">
            <a:avLst/>
          </a:prstGeom>
          <a:solidFill>
            <a:srgbClr val="E651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10"/>
          <p:cNvSpPr/>
          <p:nvPr/>
        </p:nvSpPr>
        <p:spPr>
          <a:xfrm>
            <a:off x="2496312"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65100"/>
              </a:buClr>
              <a:buSzPts val="2200"/>
              <a:buFont typeface="Calibri"/>
              <a:buNone/>
            </a:pPr>
            <a:r>
              <a:rPr b="1" i="0" lang="en-US" sz="2200" u="none" cap="none" strike="noStrike">
                <a:solidFill>
                  <a:srgbClr val="E65100"/>
                </a:solidFill>
                <a:latin typeface="Calibri"/>
                <a:ea typeface="Calibri"/>
                <a:cs typeface="Calibri"/>
                <a:sym typeface="Calibri"/>
              </a:rPr>
              <a:t>$120,365</a:t>
            </a:r>
            <a:endParaRPr b="0" i="0" sz="2200" u="none" cap="none" strike="noStrike">
              <a:solidFill>
                <a:schemeClr val="dk1"/>
              </a:solidFill>
              <a:latin typeface="Calibri"/>
              <a:ea typeface="Calibri"/>
              <a:cs typeface="Calibri"/>
              <a:sym typeface="Calibri"/>
            </a:endParaRPr>
          </a:p>
        </p:txBody>
      </p:sp>
      <p:sp>
        <p:nvSpPr>
          <p:cNvPr id="276" name="Google Shape;276;p10"/>
          <p:cNvSpPr/>
          <p:nvPr/>
        </p:nvSpPr>
        <p:spPr>
          <a:xfrm>
            <a:off x="2496312"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MAE</a:t>
            </a:r>
            <a:endParaRPr b="0" i="0" sz="1000" u="none" cap="none" strike="noStrike">
              <a:solidFill>
                <a:schemeClr val="dk1"/>
              </a:solidFill>
              <a:latin typeface="Calibri"/>
              <a:ea typeface="Calibri"/>
              <a:cs typeface="Calibri"/>
              <a:sym typeface="Calibri"/>
            </a:endParaRPr>
          </a:p>
        </p:txBody>
      </p:sp>
      <p:sp>
        <p:nvSpPr>
          <p:cNvPr id="277" name="Google Shape;277;p10"/>
          <p:cNvSpPr/>
          <p:nvPr/>
        </p:nvSpPr>
        <p:spPr>
          <a:xfrm>
            <a:off x="2496312"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absoluto promedio por predicción</a:t>
            </a:r>
            <a:endParaRPr b="0" i="0" sz="800" u="none" cap="none" strike="noStrike">
              <a:solidFill>
                <a:schemeClr val="dk1"/>
              </a:solidFill>
              <a:latin typeface="Calibri"/>
              <a:ea typeface="Calibri"/>
              <a:cs typeface="Calibri"/>
              <a:sym typeface="Calibri"/>
            </a:endParaRPr>
          </a:p>
        </p:txBody>
      </p:sp>
      <p:sp>
        <p:nvSpPr>
          <p:cNvPr id="278" name="Google Shape;278;p10"/>
          <p:cNvSpPr/>
          <p:nvPr/>
        </p:nvSpPr>
        <p:spPr>
          <a:xfrm>
            <a:off x="4672584"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10"/>
          <p:cNvSpPr/>
          <p:nvPr/>
        </p:nvSpPr>
        <p:spPr>
          <a:xfrm>
            <a:off x="4672584" y="960120"/>
            <a:ext cx="1920240" cy="64008"/>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0" name="Google Shape;280;p10"/>
          <p:cNvSpPr/>
          <p:nvPr/>
        </p:nvSpPr>
        <p:spPr>
          <a:xfrm>
            <a:off x="4672584"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1B9A"/>
              </a:buClr>
              <a:buSzPts val="2200"/>
              <a:buFont typeface="Calibri"/>
              <a:buNone/>
            </a:pPr>
            <a:r>
              <a:rPr b="1" i="0" lang="en-US" sz="2200" u="none" cap="none" strike="noStrike">
                <a:solidFill>
                  <a:srgbClr val="6A1B9A"/>
                </a:solidFill>
                <a:latin typeface="Calibri"/>
                <a:ea typeface="Calibri"/>
                <a:cs typeface="Calibri"/>
                <a:sym typeface="Calibri"/>
              </a:rPr>
              <a:t>$151,178</a:t>
            </a:r>
            <a:endParaRPr b="0" i="0" sz="2200" u="none" cap="none" strike="noStrike">
              <a:solidFill>
                <a:schemeClr val="dk1"/>
              </a:solidFill>
              <a:latin typeface="Calibri"/>
              <a:ea typeface="Calibri"/>
              <a:cs typeface="Calibri"/>
              <a:sym typeface="Calibri"/>
            </a:endParaRPr>
          </a:p>
        </p:txBody>
      </p:sp>
      <p:sp>
        <p:nvSpPr>
          <p:cNvPr id="281" name="Google Shape;281;p10"/>
          <p:cNvSpPr/>
          <p:nvPr/>
        </p:nvSpPr>
        <p:spPr>
          <a:xfrm>
            <a:off x="4672584"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RMSE</a:t>
            </a:r>
            <a:endParaRPr b="0" i="0" sz="1000" u="none" cap="none" strike="noStrike">
              <a:solidFill>
                <a:schemeClr val="dk1"/>
              </a:solidFill>
              <a:latin typeface="Calibri"/>
              <a:ea typeface="Calibri"/>
              <a:cs typeface="Calibri"/>
              <a:sym typeface="Calibri"/>
            </a:endParaRPr>
          </a:p>
        </p:txBody>
      </p:sp>
      <p:sp>
        <p:nvSpPr>
          <p:cNvPr id="282" name="Google Shape;282;p10"/>
          <p:cNvSpPr/>
          <p:nvPr/>
        </p:nvSpPr>
        <p:spPr>
          <a:xfrm>
            <a:off x="4672584"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Raíz del error cuadrático medio</a:t>
            </a:r>
            <a:endParaRPr b="0" i="0" sz="800" u="none" cap="none" strike="noStrike">
              <a:solidFill>
                <a:schemeClr val="dk1"/>
              </a:solidFill>
              <a:latin typeface="Calibri"/>
              <a:ea typeface="Calibri"/>
              <a:cs typeface="Calibri"/>
              <a:sym typeface="Calibri"/>
            </a:endParaRPr>
          </a:p>
        </p:txBody>
      </p:sp>
      <p:sp>
        <p:nvSpPr>
          <p:cNvPr id="283" name="Google Shape;283;p10"/>
          <p:cNvSpPr/>
          <p:nvPr/>
        </p:nvSpPr>
        <p:spPr>
          <a:xfrm>
            <a:off x="6848856" y="960120"/>
            <a:ext cx="1920240" cy="105156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10"/>
          <p:cNvSpPr/>
          <p:nvPr/>
        </p:nvSpPr>
        <p:spPr>
          <a:xfrm>
            <a:off x="6848856" y="960120"/>
            <a:ext cx="1920240" cy="64008"/>
          </a:xfrm>
          <a:prstGeom prst="rect">
            <a:avLst/>
          </a:prstGeom>
          <a:solidFill>
            <a:srgbClr val="C628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10"/>
          <p:cNvSpPr/>
          <p:nvPr/>
        </p:nvSpPr>
        <p:spPr>
          <a:xfrm>
            <a:off x="6848856" y="1042416"/>
            <a:ext cx="1920240"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62828"/>
              </a:buClr>
              <a:buSzPts val="2200"/>
              <a:buFont typeface="Calibri"/>
              <a:buNone/>
            </a:pPr>
            <a:r>
              <a:rPr b="1" i="0" lang="en-US" sz="2200" u="none" cap="none" strike="noStrike">
                <a:solidFill>
                  <a:srgbClr val="C62828"/>
                </a:solidFill>
                <a:latin typeface="Calibri"/>
                <a:ea typeface="Calibri"/>
                <a:cs typeface="Calibri"/>
                <a:sym typeface="Calibri"/>
              </a:rPr>
              <a:t>21.7%</a:t>
            </a:r>
            <a:endParaRPr b="0" i="0" sz="2200" u="none" cap="none" strike="noStrike">
              <a:solidFill>
                <a:schemeClr val="dk1"/>
              </a:solidFill>
              <a:latin typeface="Calibri"/>
              <a:ea typeface="Calibri"/>
              <a:cs typeface="Calibri"/>
              <a:sym typeface="Calibri"/>
            </a:endParaRPr>
          </a:p>
        </p:txBody>
      </p:sp>
      <p:sp>
        <p:nvSpPr>
          <p:cNvPr id="286" name="Google Shape;286;p10"/>
          <p:cNvSpPr/>
          <p:nvPr/>
        </p:nvSpPr>
        <p:spPr>
          <a:xfrm>
            <a:off x="6848856" y="1517904"/>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Error %</a:t>
            </a:r>
            <a:endParaRPr b="0" i="0" sz="1000" u="none" cap="none" strike="noStrike">
              <a:solidFill>
                <a:schemeClr val="dk1"/>
              </a:solidFill>
              <a:latin typeface="Calibri"/>
              <a:ea typeface="Calibri"/>
              <a:cs typeface="Calibri"/>
              <a:sym typeface="Calibri"/>
            </a:endParaRPr>
          </a:p>
        </p:txBody>
      </p:sp>
      <p:sp>
        <p:nvSpPr>
          <p:cNvPr id="287" name="Google Shape;287;p10"/>
          <p:cNvSpPr/>
          <p:nvPr/>
        </p:nvSpPr>
        <p:spPr>
          <a:xfrm>
            <a:off x="6848856" y="1719072"/>
            <a:ext cx="19202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porcentual sobre venta promedio</a:t>
            </a:r>
            <a:endParaRPr b="0" i="0" sz="800" u="none" cap="none" strike="noStrike">
              <a:solidFill>
                <a:schemeClr val="dk1"/>
              </a:solidFill>
              <a:latin typeface="Calibri"/>
              <a:ea typeface="Calibri"/>
              <a:cs typeface="Calibri"/>
              <a:sym typeface="Calibri"/>
            </a:endParaRPr>
          </a:p>
        </p:txBody>
      </p:sp>
      <p:sp>
        <p:nvSpPr>
          <p:cNvPr id="288" name="Google Shape;288;p10"/>
          <p:cNvSpPr/>
          <p:nvPr/>
        </p:nvSpPr>
        <p:spPr>
          <a:xfrm>
            <a:off x="357188" y="1984248"/>
            <a:ext cx="4846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Real vs Predicho — KNN</a:t>
            </a:r>
            <a:endParaRPr b="0" i="0" sz="1100" u="none" cap="none" strike="noStrike">
              <a:solidFill>
                <a:schemeClr val="dk1"/>
              </a:solidFill>
              <a:latin typeface="Calibri"/>
              <a:ea typeface="Calibri"/>
              <a:cs typeface="Calibri"/>
              <a:sym typeface="Calibri"/>
            </a:endParaRPr>
          </a:p>
        </p:txBody>
      </p:sp>
      <p:sp>
        <p:nvSpPr>
          <p:cNvPr id="289" name="Google Shape;289;p10"/>
          <p:cNvSpPr/>
          <p:nvPr/>
        </p:nvSpPr>
        <p:spPr>
          <a:xfrm>
            <a:off x="5303520" y="2176272"/>
            <a:ext cx="3520440" cy="2697480"/>
          </a:xfrm>
          <a:prstGeom prst="rect">
            <a:avLst/>
          </a:prstGeom>
          <a:solidFill>
            <a:srgbClr val="E3F0FF"/>
          </a:solidFill>
          <a:ln cap="flat" cmpd="sng" w="10150">
            <a:solidFill>
              <a:srgbClr val="1565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0" name="Google Shape;290;p10"/>
          <p:cNvSpPr/>
          <p:nvPr/>
        </p:nvSpPr>
        <p:spPr>
          <a:xfrm>
            <a:off x="5394960" y="2240280"/>
            <a:ext cx="333756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Interpretación</a:t>
            </a:r>
            <a:endParaRPr b="0" i="0" sz="1100" u="none" cap="none" strike="noStrike">
              <a:solidFill>
                <a:schemeClr val="dk1"/>
              </a:solidFill>
              <a:latin typeface="Calibri"/>
              <a:ea typeface="Calibri"/>
              <a:cs typeface="Calibri"/>
              <a:sym typeface="Calibri"/>
            </a:endParaRPr>
          </a:p>
        </p:txBody>
      </p:sp>
      <p:sp>
        <p:nvSpPr>
          <p:cNvPr id="291" name="Google Shape;291;p10"/>
          <p:cNvSpPr/>
          <p:nvPr/>
        </p:nvSpPr>
        <p:spPr>
          <a:xfrm>
            <a:off x="5394960" y="2560320"/>
            <a:ext cx="3337560" cy="224028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R²=0.6383 es un resultado aceptable para una primera versión del modelo</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El scatter muestra que para ventas medias el modelo predice bien, pero pierde precisión en los extremos</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El error de $120K sobre una venta media de $555K representa un ~20%, lo que puede mejorar con otro algoritmo</a:t>
            </a:r>
            <a:endParaRPr b="0" i="0" sz="950" u="none" cap="none" strike="noStrike">
              <a:solidFill>
                <a:schemeClr val="dk1"/>
              </a:solidFill>
              <a:latin typeface="Calibri"/>
              <a:ea typeface="Calibri"/>
              <a:cs typeface="Calibri"/>
              <a:sym typeface="Calibri"/>
            </a:endParaRPr>
          </a:p>
          <a:p>
            <a:pPr indent="-342900" lvl="0" marL="342900" marR="0" rtl="0" algn="l">
              <a:lnSpc>
                <a:spcPct val="100000"/>
              </a:lnSpc>
              <a:spcBef>
                <a:spcPts val="600"/>
              </a:spcBef>
              <a:spcAft>
                <a:spcPts val="0"/>
              </a:spcAft>
              <a:buClr>
                <a:srgbClr val="333333"/>
              </a:buClr>
              <a:buSzPts val="950"/>
              <a:buFont typeface="Calibri"/>
              <a:buChar char="•"/>
            </a:pPr>
            <a:r>
              <a:rPr b="0" i="0" lang="en-US" sz="950" u="none" cap="none" strike="noStrike">
                <a:solidFill>
                  <a:srgbClr val="333333"/>
                </a:solidFill>
                <a:latin typeface="Calibri"/>
                <a:ea typeface="Calibri"/>
                <a:cs typeface="Calibri"/>
                <a:sym typeface="Calibri"/>
              </a:rPr>
              <a:t>KNN es sensible al escalado: sin StandardScaler el performance caería drásticamente</a:t>
            </a:r>
            <a:endParaRPr b="0" i="0" sz="950" u="none" cap="none" strike="noStrike">
              <a:solidFill>
                <a:schemeClr val="dk1"/>
              </a:solidFill>
              <a:latin typeface="Calibri"/>
              <a:ea typeface="Calibri"/>
              <a:cs typeface="Calibri"/>
              <a:sym typeface="Calibri"/>
            </a:endParaRPr>
          </a:p>
        </p:txBody>
      </p:sp>
      <p:sp>
        <p:nvSpPr>
          <p:cNvPr id="292" name="Google Shape;292;p10"/>
          <p:cNvSpPr/>
          <p:nvPr/>
        </p:nvSpPr>
        <p:spPr>
          <a:xfrm>
            <a:off x="320040" y="4846320"/>
            <a:ext cx="8503920" cy="228600"/>
          </a:xfrm>
          <a:prstGeom prst="rect">
            <a:avLst/>
          </a:prstGeom>
          <a:solidFill>
            <a:srgbClr val="FFF3E0"/>
          </a:solidFill>
          <a:ln cap="flat" cmpd="sng" w="10150">
            <a:solidFill>
              <a:srgbClr val="FFB3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3" name="Google Shape;293;p10"/>
          <p:cNvSpPr/>
          <p:nvPr/>
        </p:nvSpPr>
        <p:spPr>
          <a:xfrm>
            <a:off x="411480" y="4855464"/>
            <a:ext cx="8321040"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B5800"/>
              </a:buClr>
              <a:buSzPts val="900"/>
              <a:buFont typeface="Calibri"/>
              <a:buNone/>
            </a:pPr>
            <a:r>
              <a:rPr b="0" i="0" lang="en-US" sz="900" u="none" cap="none" strike="noStrike">
                <a:solidFill>
                  <a:srgbClr val="7B5800"/>
                </a:solidFill>
                <a:latin typeface="Calibri"/>
                <a:ea typeface="Calibri"/>
                <a:cs typeface="Calibri"/>
                <a:sym typeface="Calibri"/>
              </a:rPr>
              <a:t>⚡  Modelo baseline funcional, pero con margen de mejora. Se probará Random Forest para incrementar la precisión.</a:t>
            </a:r>
            <a:endParaRPr b="0" i="0" sz="900" u="none" cap="none" strike="noStrike">
              <a:solidFill>
                <a:schemeClr val="dk1"/>
              </a:solidFill>
              <a:latin typeface="Calibri"/>
              <a:ea typeface="Calibri"/>
              <a:cs typeface="Calibri"/>
              <a:sym typeface="Calibri"/>
            </a:endParaRPr>
          </a:p>
        </p:txBody>
      </p:sp>
      <p:pic>
        <p:nvPicPr>
          <p:cNvPr id="294" name="Google Shape;294;p10"/>
          <p:cNvPicPr preferRelativeResize="0"/>
          <p:nvPr/>
        </p:nvPicPr>
        <p:blipFill rotWithShape="1">
          <a:blip r:embed="rId3">
            <a:alphaModFix/>
          </a:blip>
          <a:srcRect b="0" l="0" r="0" t="0"/>
          <a:stretch/>
        </p:blipFill>
        <p:spPr>
          <a:xfrm>
            <a:off x="656200" y="2267713"/>
            <a:ext cx="3337574" cy="2492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299" name="Shape 299"/>
        <p:cNvGrpSpPr/>
        <p:nvPr/>
      </p:nvGrpSpPr>
      <p:grpSpPr>
        <a:xfrm>
          <a:off x="0" y="0"/>
          <a:ext cx="0" cy="0"/>
          <a:chOff x="0" y="0"/>
          <a:chExt cx="0" cy="0"/>
        </a:xfrm>
      </p:grpSpPr>
      <p:sp>
        <p:nvSpPr>
          <p:cNvPr id="300" name="Google Shape;300;p11"/>
          <p:cNvSpPr/>
          <p:nvPr/>
        </p:nvSpPr>
        <p:spPr>
          <a:xfrm>
            <a:off x="0" y="0"/>
            <a:ext cx="9144000" cy="77724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1" name="Google Shape;301;p11"/>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RANDOM FOREST — PROCESO Y CONFIGURACIÓN</a:t>
            </a:r>
            <a:endParaRPr b="0" i="0" sz="2200" u="none" cap="none" strike="noStrike">
              <a:solidFill>
                <a:schemeClr val="dk1"/>
              </a:solidFill>
              <a:latin typeface="Calibri"/>
              <a:ea typeface="Calibri"/>
              <a:cs typeface="Calibri"/>
              <a:sym typeface="Calibri"/>
            </a:endParaRPr>
          </a:p>
        </p:txBody>
      </p:sp>
      <p:sp>
        <p:nvSpPr>
          <p:cNvPr id="302" name="Google Shape;302;p11"/>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3" name="Google Shape;303;p11"/>
          <p:cNvSpPr/>
          <p:nvPr/>
        </p:nvSpPr>
        <p:spPr>
          <a:xfrm>
            <a:off x="320040" y="960120"/>
            <a:ext cx="850392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¿Cómo funciona Random Forest?</a:t>
            </a:r>
            <a:endParaRPr b="0" i="0" sz="1300" u="none" cap="none" strike="noStrike">
              <a:solidFill>
                <a:schemeClr val="dk1"/>
              </a:solidFill>
              <a:latin typeface="Calibri"/>
              <a:ea typeface="Calibri"/>
              <a:cs typeface="Calibri"/>
              <a:sym typeface="Calibri"/>
            </a:endParaRPr>
          </a:p>
        </p:txBody>
      </p:sp>
      <p:sp>
        <p:nvSpPr>
          <p:cNvPr id="304" name="Google Shape;304;p11"/>
          <p:cNvSpPr/>
          <p:nvPr/>
        </p:nvSpPr>
        <p:spPr>
          <a:xfrm>
            <a:off x="320040" y="1353312"/>
            <a:ext cx="2697480" cy="1371600"/>
          </a:xfrm>
          <a:prstGeom prst="rect">
            <a:avLst/>
          </a:prstGeom>
          <a:solidFill>
            <a:srgbClr val="FFFFFF"/>
          </a:solidFill>
          <a:ln>
            <a:noFill/>
          </a:ln>
          <a:effectLst>
            <a:outerShdw blurRad="762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p11"/>
          <p:cNvSpPr/>
          <p:nvPr/>
        </p:nvSpPr>
        <p:spPr>
          <a:xfrm>
            <a:off x="320040" y="1353312"/>
            <a:ext cx="269748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p11"/>
          <p:cNvSpPr/>
          <p:nvPr/>
        </p:nvSpPr>
        <p:spPr>
          <a:xfrm>
            <a:off x="411480" y="1435608"/>
            <a:ext cx="2514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100 Árboles</a:t>
            </a:r>
            <a:endParaRPr b="0" i="0" sz="1100" u="none" cap="none" strike="noStrike">
              <a:solidFill>
                <a:schemeClr val="dk1"/>
              </a:solidFill>
              <a:latin typeface="Calibri"/>
              <a:ea typeface="Calibri"/>
              <a:cs typeface="Calibri"/>
              <a:sym typeface="Calibri"/>
            </a:endParaRPr>
          </a:p>
        </p:txBody>
      </p:sp>
      <p:sp>
        <p:nvSpPr>
          <p:cNvPr id="307" name="Google Shape;307;p11"/>
          <p:cNvSpPr/>
          <p:nvPr/>
        </p:nvSpPr>
        <p:spPr>
          <a:xfrm>
            <a:off x="411480" y="1792224"/>
            <a:ext cx="2514600" cy="8961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Entrena 100 árboles de decisión en paralelo sobre subconjuntos aleatorios de datos (bagging)</a:t>
            </a:r>
            <a:endParaRPr b="0" i="0" sz="950" u="none" cap="none" strike="noStrike">
              <a:solidFill>
                <a:schemeClr val="dk1"/>
              </a:solidFill>
              <a:latin typeface="Calibri"/>
              <a:ea typeface="Calibri"/>
              <a:cs typeface="Calibri"/>
              <a:sym typeface="Calibri"/>
            </a:endParaRPr>
          </a:p>
        </p:txBody>
      </p:sp>
      <p:sp>
        <p:nvSpPr>
          <p:cNvPr id="308" name="Google Shape;308;p11"/>
          <p:cNvSpPr/>
          <p:nvPr/>
        </p:nvSpPr>
        <p:spPr>
          <a:xfrm>
            <a:off x="3264408" y="1353312"/>
            <a:ext cx="2697480" cy="1371600"/>
          </a:xfrm>
          <a:prstGeom prst="rect">
            <a:avLst/>
          </a:prstGeom>
          <a:solidFill>
            <a:srgbClr val="FFFFFF"/>
          </a:solidFill>
          <a:ln>
            <a:noFill/>
          </a:ln>
          <a:effectLst>
            <a:outerShdw blurRad="762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11"/>
          <p:cNvSpPr/>
          <p:nvPr/>
        </p:nvSpPr>
        <p:spPr>
          <a:xfrm>
            <a:off x="3264408" y="1353312"/>
            <a:ext cx="269748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0" name="Google Shape;310;p11"/>
          <p:cNvSpPr/>
          <p:nvPr/>
        </p:nvSpPr>
        <p:spPr>
          <a:xfrm>
            <a:off x="3355848" y="1435608"/>
            <a:ext cx="2514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Feature Sampling</a:t>
            </a:r>
            <a:endParaRPr b="0" i="0" sz="1100" u="none" cap="none" strike="noStrike">
              <a:solidFill>
                <a:schemeClr val="dk1"/>
              </a:solidFill>
              <a:latin typeface="Calibri"/>
              <a:ea typeface="Calibri"/>
              <a:cs typeface="Calibri"/>
              <a:sym typeface="Calibri"/>
            </a:endParaRPr>
          </a:p>
        </p:txBody>
      </p:sp>
      <p:sp>
        <p:nvSpPr>
          <p:cNvPr id="311" name="Google Shape;311;p11"/>
          <p:cNvSpPr/>
          <p:nvPr/>
        </p:nvSpPr>
        <p:spPr>
          <a:xfrm>
            <a:off x="3355848" y="1792224"/>
            <a:ext cx="2514600" cy="8961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Cada árbol usa un subconjunto aleatorio de features, evitando correlación entre árboles</a:t>
            </a:r>
            <a:endParaRPr b="0" i="0" sz="950" u="none" cap="none" strike="noStrike">
              <a:solidFill>
                <a:schemeClr val="dk1"/>
              </a:solidFill>
              <a:latin typeface="Calibri"/>
              <a:ea typeface="Calibri"/>
              <a:cs typeface="Calibri"/>
              <a:sym typeface="Calibri"/>
            </a:endParaRPr>
          </a:p>
        </p:txBody>
      </p:sp>
      <p:sp>
        <p:nvSpPr>
          <p:cNvPr id="312" name="Google Shape;312;p11"/>
          <p:cNvSpPr/>
          <p:nvPr/>
        </p:nvSpPr>
        <p:spPr>
          <a:xfrm>
            <a:off x="6208776" y="1353312"/>
            <a:ext cx="2697480" cy="1371600"/>
          </a:xfrm>
          <a:prstGeom prst="rect">
            <a:avLst/>
          </a:prstGeom>
          <a:solidFill>
            <a:srgbClr val="FFFFFF"/>
          </a:solidFill>
          <a:ln>
            <a:noFill/>
          </a:ln>
          <a:effectLst>
            <a:outerShdw blurRad="76200" rotWithShape="0" algn="bl" dir="8100000" dist="127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3" name="Google Shape;313;p11"/>
          <p:cNvSpPr/>
          <p:nvPr/>
        </p:nvSpPr>
        <p:spPr>
          <a:xfrm>
            <a:off x="6208776" y="1353312"/>
            <a:ext cx="269748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p11"/>
          <p:cNvSpPr/>
          <p:nvPr/>
        </p:nvSpPr>
        <p:spPr>
          <a:xfrm>
            <a:off x="6300216" y="1435608"/>
            <a:ext cx="2514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  Predicción Final</a:t>
            </a:r>
            <a:endParaRPr b="0" i="0" sz="1100" u="none" cap="none" strike="noStrike">
              <a:solidFill>
                <a:schemeClr val="dk1"/>
              </a:solidFill>
              <a:latin typeface="Calibri"/>
              <a:ea typeface="Calibri"/>
              <a:cs typeface="Calibri"/>
              <a:sym typeface="Calibri"/>
            </a:endParaRPr>
          </a:p>
        </p:txBody>
      </p:sp>
      <p:sp>
        <p:nvSpPr>
          <p:cNvPr id="315" name="Google Shape;315;p11"/>
          <p:cNvSpPr/>
          <p:nvPr/>
        </p:nvSpPr>
        <p:spPr>
          <a:xfrm>
            <a:off x="6300216" y="1792224"/>
            <a:ext cx="2514600" cy="89611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444444"/>
              </a:buClr>
              <a:buSzPts val="950"/>
              <a:buFont typeface="Calibri"/>
              <a:buNone/>
            </a:pPr>
            <a:r>
              <a:rPr b="0" i="0" lang="en-US" sz="950" u="none" cap="none" strike="noStrike">
                <a:solidFill>
                  <a:srgbClr val="444444"/>
                </a:solidFill>
                <a:latin typeface="Calibri"/>
                <a:ea typeface="Calibri"/>
                <a:cs typeface="Calibri"/>
                <a:sym typeface="Calibri"/>
              </a:rPr>
              <a:t>Promedia los resultados de todos los árboles para obtener la predicción final</a:t>
            </a:r>
            <a:endParaRPr b="0" i="0" sz="950" u="none" cap="none" strike="noStrike">
              <a:solidFill>
                <a:schemeClr val="dk1"/>
              </a:solidFill>
              <a:latin typeface="Calibri"/>
              <a:ea typeface="Calibri"/>
              <a:cs typeface="Calibri"/>
              <a:sym typeface="Calibri"/>
            </a:endParaRPr>
          </a:p>
        </p:txBody>
      </p:sp>
      <p:sp>
        <p:nvSpPr>
          <p:cNvPr id="316" name="Google Shape;316;p11"/>
          <p:cNvSpPr/>
          <p:nvPr/>
        </p:nvSpPr>
        <p:spPr>
          <a:xfrm>
            <a:off x="152399" y="2870800"/>
            <a:ext cx="2011800" cy="292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Configuración del Modelo</a:t>
            </a:r>
            <a:endParaRPr b="0" i="0" sz="1200" u="none" cap="none" strike="noStrike">
              <a:solidFill>
                <a:schemeClr val="dk1"/>
              </a:solidFill>
              <a:latin typeface="Calibri"/>
              <a:ea typeface="Calibri"/>
              <a:cs typeface="Calibri"/>
              <a:sym typeface="Calibri"/>
            </a:endParaRPr>
          </a:p>
        </p:txBody>
      </p:sp>
      <p:sp>
        <p:nvSpPr>
          <p:cNvPr id="317" name="Google Shape;317;p11"/>
          <p:cNvSpPr/>
          <p:nvPr/>
        </p:nvSpPr>
        <p:spPr>
          <a:xfrm>
            <a:off x="320040" y="4968245"/>
            <a:ext cx="8503800" cy="228600"/>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8" name="Google Shape;318;p11"/>
          <p:cNvSpPr/>
          <p:nvPr/>
        </p:nvSpPr>
        <p:spPr>
          <a:xfrm>
            <a:off x="411480" y="4968239"/>
            <a:ext cx="8321100" cy="2013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5E20"/>
              </a:buClr>
              <a:buSzPts val="900"/>
              <a:buFont typeface="Calibri"/>
              <a:buNone/>
            </a:pPr>
            <a:r>
              <a:rPr b="0" i="0" lang="en-US" sz="900" u="none" cap="none" strike="noStrike">
                <a:solidFill>
                  <a:srgbClr val="1B5E20"/>
                </a:solidFill>
                <a:latin typeface="Calibri"/>
                <a:ea typeface="Calibri"/>
                <a:cs typeface="Calibri"/>
                <a:sym typeface="Calibri"/>
              </a:rPr>
              <a:t>💡  Marketing representa el 64.4% de la importancia total. Farmacia como rubro (0.074)  y Distancia al Ancla son los siguientes factores clave.</a:t>
            </a:r>
            <a:endParaRPr b="0" i="0" sz="900" u="none" cap="none" strike="noStrike">
              <a:solidFill>
                <a:schemeClr val="dk1"/>
              </a:solidFill>
              <a:latin typeface="Calibri"/>
              <a:ea typeface="Calibri"/>
              <a:cs typeface="Calibri"/>
              <a:sym typeface="Calibri"/>
            </a:endParaRPr>
          </a:p>
        </p:txBody>
      </p:sp>
      <p:pic>
        <p:nvPicPr>
          <p:cNvPr id="319" name="Google Shape;319;p11"/>
          <p:cNvPicPr preferRelativeResize="0"/>
          <p:nvPr/>
        </p:nvPicPr>
        <p:blipFill rotWithShape="1">
          <a:blip r:embed="rId3">
            <a:alphaModFix/>
          </a:blip>
          <a:srcRect b="0" l="0" r="0" t="0"/>
          <a:stretch/>
        </p:blipFill>
        <p:spPr>
          <a:xfrm>
            <a:off x="152400" y="3163301"/>
            <a:ext cx="2521110" cy="1092125"/>
          </a:xfrm>
          <a:prstGeom prst="rect">
            <a:avLst/>
          </a:prstGeom>
          <a:noFill/>
          <a:ln>
            <a:noFill/>
          </a:ln>
        </p:spPr>
      </p:pic>
      <p:sp>
        <p:nvSpPr>
          <p:cNvPr id="320" name="Google Shape;320;p11"/>
          <p:cNvSpPr/>
          <p:nvPr/>
        </p:nvSpPr>
        <p:spPr>
          <a:xfrm>
            <a:off x="3355851" y="2810249"/>
            <a:ext cx="320880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200"/>
              <a:buFont typeface="Calibri"/>
              <a:buNone/>
            </a:pPr>
            <a:r>
              <a:rPr b="1" i="0" lang="en-US" sz="1200" u="none" cap="none" strike="noStrike">
                <a:solidFill>
                  <a:srgbClr val="0D1B4B"/>
                </a:solidFill>
                <a:latin typeface="Calibri"/>
                <a:ea typeface="Calibri"/>
                <a:cs typeface="Calibri"/>
                <a:sym typeface="Calibri"/>
              </a:rPr>
              <a:t>Importancia por Rubro </a:t>
            </a:r>
            <a:endParaRPr b="0" i="0" sz="1200" u="none" cap="none" strike="noStrike">
              <a:solidFill>
                <a:schemeClr val="dk1"/>
              </a:solidFill>
              <a:latin typeface="Calibri"/>
              <a:ea typeface="Calibri"/>
              <a:cs typeface="Calibri"/>
              <a:sym typeface="Calibri"/>
            </a:endParaRPr>
          </a:p>
        </p:txBody>
      </p:sp>
      <p:pic>
        <p:nvPicPr>
          <p:cNvPr id="321" name="Google Shape;321;p11"/>
          <p:cNvPicPr preferRelativeResize="0"/>
          <p:nvPr/>
        </p:nvPicPr>
        <p:blipFill rotWithShape="1">
          <a:blip r:embed="rId4">
            <a:alphaModFix/>
          </a:blip>
          <a:srcRect b="0" l="0" r="0" t="0"/>
          <a:stretch/>
        </p:blipFill>
        <p:spPr>
          <a:xfrm>
            <a:off x="2719175" y="3072376"/>
            <a:ext cx="2861464" cy="1710500"/>
          </a:xfrm>
          <a:prstGeom prst="rect">
            <a:avLst/>
          </a:prstGeom>
          <a:noFill/>
          <a:ln>
            <a:noFill/>
          </a:ln>
        </p:spPr>
      </p:pic>
      <p:grpSp>
        <p:nvGrpSpPr>
          <p:cNvPr id="322" name="Google Shape;322;p11"/>
          <p:cNvGrpSpPr/>
          <p:nvPr/>
        </p:nvGrpSpPr>
        <p:grpSpPr>
          <a:xfrm>
            <a:off x="5985420" y="3165058"/>
            <a:ext cx="2867259" cy="1710500"/>
            <a:chOff x="5952840" y="3136113"/>
            <a:chExt cx="2867259" cy="1710500"/>
          </a:xfrm>
        </p:grpSpPr>
        <p:pic>
          <p:nvPicPr>
            <p:cNvPr id="323" name="Google Shape;323;p11"/>
            <p:cNvPicPr preferRelativeResize="0"/>
            <p:nvPr/>
          </p:nvPicPr>
          <p:blipFill rotWithShape="1">
            <a:blip r:embed="rId5">
              <a:alphaModFix/>
            </a:blip>
            <a:srcRect b="0" l="0" r="0" t="0"/>
            <a:stretch/>
          </p:blipFill>
          <p:spPr>
            <a:xfrm>
              <a:off x="5952840" y="3136113"/>
              <a:ext cx="2867259" cy="1710500"/>
            </a:xfrm>
            <a:prstGeom prst="rect">
              <a:avLst/>
            </a:prstGeom>
            <a:noFill/>
            <a:ln>
              <a:noFill/>
            </a:ln>
          </p:spPr>
        </p:pic>
        <p:pic>
          <p:nvPicPr>
            <p:cNvPr id="324" name="Google Shape;324;p11"/>
            <p:cNvPicPr preferRelativeResize="0"/>
            <p:nvPr/>
          </p:nvPicPr>
          <p:blipFill rotWithShape="1">
            <a:blip r:embed="rId6">
              <a:alphaModFix/>
            </a:blip>
            <a:srcRect b="73679" l="67668" r="1302" t="6578"/>
            <a:stretch/>
          </p:blipFill>
          <p:spPr>
            <a:xfrm>
              <a:off x="7801200" y="3246088"/>
              <a:ext cx="963800" cy="36585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329" name="Shape 329"/>
        <p:cNvGrpSpPr/>
        <p:nvPr/>
      </p:nvGrpSpPr>
      <p:grpSpPr>
        <a:xfrm>
          <a:off x="0" y="0"/>
          <a:ext cx="0" cy="0"/>
          <a:chOff x="0" y="0"/>
          <a:chExt cx="0" cy="0"/>
        </a:xfrm>
      </p:grpSpPr>
      <p:sp>
        <p:nvSpPr>
          <p:cNvPr id="330" name="Google Shape;330;p12"/>
          <p:cNvSpPr/>
          <p:nvPr/>
        </p:nvSpPr>
        <p:spPr>
          <a:xfrm>
            <a:off x="0" y="0"/>
            <a:ext cx="9144000" cy="77724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12"/>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RANDOM FOREST — RESULTADOS</a:t>
            </a:r>
            <a:endParaRPr b="0" i="0" sz="2200" u="none" cap="none" strike="noStrike">
              <a:solidFill>
                <a:schemeClr val="dk1"/>
              </a:solidFill>
              <a:latin typeface="Calibri"/>
              <a:ea typeface="Calibri"/>
              <a:cs typeface="Calibri"/>
              <a:sym typeface="Calibri"/>
            </a:endParaRPr>
          </a:p>
        </p:txBody>
      </p:sp>
      <p:sp>
        <p:nvSpPr>
          <p:cNvPr id="332" name="Google Shape;332;p12"/>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p12"/>
          <p:cNvSpPr/>
          <p:nvPr/>
        </p:nvSpPr>
        <p:spPr>
          <a:xfrm>
            <a:off x="320040"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p12"/>
          <p:cNvSpPr/>
          <p:nvPr/>
        </p:nvSpPr>
        <p:spPr>
          <a:xfrm>
            <a:off x="320040" y="960120"/>
            <a:ext cx="1920240" cy="64008"/>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12"/>
          <p:cNvSpPr/>
          <p:nvPr/>
        </p:nvSpPr>
        <p:spPr>
          <a:xfrm>
            <a:off x="320040"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2400"/>
              <a:buFont typeface="Calibri"/>
              <a:buNone/>
            </a:pPr>
            <a:r>
              <a:rPr b="1" i="0" lang="en-US" sz="2400" u="none" cap="none" strike="noStrike">
                <a:solidFill>
                  <a:srgbClr val="2E7D32"/>
                </a:solidFill>
                <a:latin typeface="Calibri"/>
                <a:ea typeface="Calibri"/>
                <a:cs typeface="Calibri"/>
                <a:sym typeface="Calibri"/>
              </a:rPr>
              <a:t>82.8%</a:t>
            </a:r>
            <a:endParaRPr b="0" i="0" sz="2400" u="none" cap="none" strike="noStrike">
              <a:solidFill>
                <a:schemeClr val="dk1"/>
              </a:solidFill>
              <a:latin typeface="Calibri"/>
              <a:ea typeface="Calibri"/>
              <a:cs typeface="Calibri"/>
              <a:sym typeface="Calibri"/>
            </a:endParaRPr>
          </a:p>
        </p:txBody>
      </p:sp>
      <p:sp>
        <p:nvSpPr>
          <p:cNvPr id="336" name="Google Shape;336;p12"/>
          <p:cNvSpPr/>
          <p:nvPr/>
        </p:nvSpPr>
        <p:spPr>
          <a:xfrm>
            <a:off x="320040"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R²</a:t>
            </a:r>
            <a:endParaRPr b="0" i="0" sz="1000" u="none" cap="none" strike="noStrike">
              <a:solidFill>
                <a:schemeClr val="dk1"/>
              </a:solidFill>
              <a:latin typeface="Calibri"/>
              <a:ea typeface="Calibri"/>
              <a:cs typeface="Calibri"/>
              <a:sym typeface="Calibri"/>
            </a:endParaRPr>
          </a:p>
        </p:txBody>
      </p:sp>
      <p:sp>
        <p:nvSpPr>
          <p:cNvPr id="337" name="Google Shape;337;p12"/>
          <p:cNvSpPr/>
          <p:nvPr/>
        </p:nvSpPr>
        <p:spPr>
          <a:xfrm>
            <a:off x="320040"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Excelente — R² &gt; 80%</a:t>
            </a:r>
            <a:endParaRPr b="0" i="0" sz="800" u="none" cap="none" strike="noStrike">
              <a:solidFill>
                <a:schemeClr val="dk1"/>
              </a:solidFill>
              <a:latin typeface="Calibri"/>
              <a:ea typeface="Calibri"/>
              <a:cs typeface="Calibri"/>
              <a:sym typeface="Calibri"/>
            </a:endParaRPr>
          </a:p>
        </p:txBody>
      </p:sp>
      <p:sp>
        <p:nvSpPr>
          <p:cNvPr id="338" name="Google Shape;338;p12"/>
          <p:cNvSpPr/>
          <p:nvPr/>
        </p:nvSpPr>
        <p:spPr>
          <a:xfrm>
            <a:off x="2496312"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12"/>
          <p:cNvSpPr/>
          <p:nvPr/>
        </p:nvSpPr>
        <p:spPr>
          <a:xfrm>
            <a:off x="2496312" y="960120"/>
            <a:ext cx="1920240" cy="64008"/>
          </a:xfrm>
          <a:prstGeom prst="rect">
            <a:avLst/>
          </a:prstGeom>
          <a:solidFill>
            <a:srgbClr val="1976D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p12"/>
          <p:cNvSpPr/>
          <p:nvPr/>
        </p:nvSpPr>
        <p:spPr>
          <a:xfrm>
            <a:off x="2496312"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976D2"/>
              </a:buClr>
              <a:buSzPts val="2400"/>
              <a:buFont typeface="Calibri"/>
              <a:buNone/>
            </a:pPr>
            <a:r>
              <a:rPr b="1" i="0" lang="en-US" sz="2400" u="none" cap="none" strike="noStrike">
                <a:solidFill>
                  <a:srgbClr val="1976D2"/>
                </a:solidFill>
                <a:latin typeface="Calibri"/>
                <a:ea typeface="Calibri"/>
                <a:cs typeface="Calibri"/>
                <a:sym typeface="Calibri"/>
              </a:rPr>
              <a:t>$79,586</a:t>
            </a:r>
            <a:endParaRPr b="0" i="0" sz="2400" u="none" cap="none" strike="noStrike">
              <a:solidFill>
                <a:schemeClr val="dk1"/>
              </a:solidFill>
              <a:latin typeface="Calibri"/>
              <a:ea typeface="Calibri"/>
              <a:cs typeface="Calibri"/>
              <a:sym typeface="Calibri"/>
            </a:endParaRPr>
          </a:p>
        </p:txBody>
      </p:sp>
      <p:sp>
        <p:nvSpPr>
          <p:cNvPr id="341" name="Google Shape;341;p12"/>
          <p:cNvSpPr/>
          <p:nvPr/>
        </p:nvSpPr>
        <p:spPr>
          <a:xfrm>
            <a:off x="2496312"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MAE</a:t>
            </a:r>
            <a:endParaRPr b="0" i="0" sz="1000" u="none" cap="none" strike="noStrike">
              <a:solidFill>
                <a:schemeClr val="dk1"/>
              </a:solidFill>
              <a:latin typeface="Calibri"/>
              <a:ea typeface="Calibri"/>
              <a:cs typeface="Calibri"/>
              <a:sym typeface="Calibri"/>
            </a:endParaRPr>
          </a:p>
        </p:txBody>
      </p:sp>
      <p:sp>
        <p:nvSpPr>
          <p:cNvPr id="342" name="Google Shape;342;p12"/>
          <p:cNvSpPr/>
          <p:nvPr/>
        </p:nvSpPr>
        <p:spPr>
          <a:xfrm>
            <a:off x="2496312"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medio reducido</a:t>
            </a:r>
            <a:endParaRPr b="0" i="0" sz="800" u="none" cap="none" strike="noStrike">
              <a:solidFill>
                <a:schemeClr val="dk1"/>
              </a:solidFill>
              <a:latin typeface="Calibri"/>
              <a:ea typeface="Calibri"/>
              <a:cs typeface="Calibri"/>
              <a:sym typeface="Calibri"/>
            </a:endParaRPr>
          </a:p>
        </p:txBody>
      </p:sp>
      <p:sp>
        <p:nvSpPr>
          <p:cNvPr id="343" name="Google Shape;343;p12"/>
          <p:cNvSpPr/>
          <p:nvPr/>
        </p:nvSpPr>
        <p:spPr>
          <a:xfrm>
            <a:off x="4672584"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4" name="Google Shape;344;p12"/>
          <p:cNvSpPr/>
          <p:nvPr/>
        </p:nvSpPr>
        <p:spPr>
          <a:xfrm>
            <a:off x="4672584" y="960120"/>
            <a:ext cx="1920240" cy="64008"/>
          </a:xfrm>
          <a:prstGeom prst="rect">
            <a:avLst/>
          </a:prstGeom>
          <a:solidFill>
            <a:srgbClr val="6A1B9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5" name="Google Shape;345;p12"/>
          <p:cNvSpPr/>
          <p:nvPr/>
        </p:nvSpPr>
        <p:spPr>
          <a:xfrm>
            <a:off x="4672584"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A1B9A"/>
              </a:buClr>
              <a:buSzPts val="2400"/>
              <a:buFont typeface="Calibri"/>
              <a:buNone/>
            </a:pPr>
            <a:r>
              <a:rPr b="1" i="0" lang="en-US" sz="2400" u="none" cap="none" strike="noStrike">
                <a:solidFill>
                  <a:srgbClr val="6A1B9A"/>
                </a:solidFill>
                <a:latin typeface="Calibri"/>
                <a:ea typeface="Calibri"/>
                <a:cs typeface="Calibri"/>
                <a:sym typeface="Calibri"/>
              </a:rPr>
              <a:t>$104,209</a:t>
            </a:r>
            <a:endParaRPr b="0" i="0" sz="2400" u="none" cap="none" strike="noStrike">
              <a:solidFill>
                <a:schemeClr val="dk1"/>
              </a:solidFill>
              <a:latin typeface="Calibri"/>
              <a:ea typeface="Calibri"/>
              <a:cs typeface="Calibri"/>
              <a:sym typeface="Calibri"/>
            </a:endParaRPr>
          </a:p>
        </p:txBody>
      </p:sp>
      <p:sp>
        <p:nvSpPr>
          <p:cNvPr id="346" name="Google Shape;346;p12"/>
          <p:cNvSpPr/>
          <p:nvPr/>
        </p:nvSpPr>
        <p:spPr>
          <a:xfrm>
            <a:off x="4672584"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RMSE</a:t>
            </a:r>
            <a:endParaRPr b="0" i="0" sz="1000" u="none" cap="none" strike="noStrike">
              <a:solidFill>
                <a:schemeClr val="dk1"/>
              </a:solidFill>
              <a:latin typeface="Calibri"/>
              <a:ea typeface="Calibri"/>
              <a:cs typeface="Calibri"/>
              <a:sym typeface="Calibri"/>
            </a:endParaRPr>
          </a:p>
        </p:txBody>
      </p:sp>
      <p:sp>
        <p:nvSpPr>
          <p:cNvPr id="347" name="Google Shape;347;p12"/>
          <p:cNvSpPr/>
          <p:nvPr/>
        </p:nvSpPr>
        <p:spPr>
          <a:xfrm>
            <a:off x="4672584"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Mejor que KNN</a:t>
            </a:r>
            <a:endParaRPr b="0" i="0" sz="800" u="none" cap="none" strike="noStrike">
              <a:solidFill>
                <a:schemeClr val="dk1"/>
              </a:solidFill>
              <a:latin typeface="Calibri"/>
              <a:ea typeface="Calibri"/>
              <a:cs typeface="Calibri"/>
              <a:sym typeface="Calibri"/>
            </a:endParaRPr>
          </a:p>
        </p:txBody>
      </p:sp>
      <p:sp>
        <p:nvSpPr>
          <p:cNvPr id="348" name="Google Shape;348;p12"/>
          <p:cNvSpPr/>
          <p:nvPr/>
        </p:nvSpPr>
        <p:spPr>
          <a:xfrm>
            <a:off x="6848856" y="960120"/>
            <a:ext cx="1920240" cy="1005840"/>
          </a:xfrm>
          <a:prstGeom prst="rect">
            <a:avLst/>
          </a:prstGeom>
          <a:solidFill>
            <a:srgbClr val="FFFFFF"/>
          </a:solidFill>
          <a:ln>
            <a:noFill/>
          </a:ln>
          <a:effectLst>
            <a:outerShdw blurRad="101600" rotWithShape="0" algn="bl" dir="8100000" dist="25400">
              <a:srgbClr val="000000">
                <a:alpha val="1215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9" name="Google Shape;349;p12"/>
          <p:cNvSpPr/>
          <p:nvPr/>
        </p:nvSpPr>
        <p:spPr>
          <a:xfrm>
            <a:off x="6848856" y="960120"/>
            <a:ext cx="1920240" cy="64008"/>
          </a:xfrm>
          <a:prstGeom prst="rect">
            <a:avLst/>
          </a:prstGeom>
          <a:solidFill>
            <a:srgbClr val="E651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0" name="Google Shape;350;p12"/>
          <p:cNvSpPr/>
          <p:nvPr/>
        </p:nvSpPr>
        <p:spPr>
          <a:xfrm>
            <a:off x="6848856" y="1033272"/>
            <a:ext cx="19202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65100"/>
              </a:buClr>
              <a:buSzPts val="2400"/>
              <a:buFont typeface="Calibri"/>
              <a:buNone/>
            </a:pPr>
            <a:r>
              <a:rPr b="1" i="0" lang="en-US" sz="2400" u="none" cap="none" strike="noStrike">
                <a:solidFill>
                  <a:srgbClr val="E65100"/>
                </a:solidFill>
                <a:latin typeface="Calibri"/>
                <a:ea typeface="Calibri"/>
                <a:cs typeface="Calibri"/>
                <a:sym typeface="Calibri"/>
              </a:rPr>
              <a:t>15.8%</a:t>
            </a:r>
            <a:endParaRPr b="0" i="0" sz="2400" u="none" cap="none" strike="noStrike">
              <a:solidFill>
                <a:schemeClr val="dk1"/>
              </a:solidFill>
              <a:latin typeface="Calibri"/>
              <a:ea typeface="Calibri"/>
              <a:cs typeface="Calibri"/>
              <a:sym typeface="Calibri"/>
            </a:endParaRPr>
          </a:p>
        </p:txBody>
      </p:sp>
      <p:sp>
        <p:nvSpPr>
          <p:cNvPr id="351" name="Google Shape;351;p12"/>
          <p:cNvSpPr/>
          <p:nvPr/>
        </p:nvSpPr>
        <p:spPr>
          <a:xfrm>
            <a:off x="6848856" y="1481328"/>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000"/>
              <a:buFont typeface="Calibri"/>
              <a:buNone/>
            </a:pPr>
            <a:r>
              <a:rPr b="1" i="0" lang="en-US" sz="1000" u="none" cap="none" strike="noStrike">
                <a:solidFill>
                  <a:srgbClr val="0D1B4B"/>
                </a:solidFill>
                <a:latin typeface="Calibri"/>
                <a:ea typeface="Calibri"/>
                <a:cs typeface="Calibri"/>
                <a:sym typeface="Calibri"/>
              </a:rPr>
              <a:t>MAPE</a:t>
            </a:r>
            <a:endParaRPr b="0" i="0" sz="1000" u="none" cap="none" strike="noStrike">
              <a:solidFill>
                <a:schemeClr val="dk1"/>
              </a:solidFill>
              <a:latin typeface="Calibri"/>
              <a:ea typeface="Calibri"/>
              <a:cs typeface="Calibri"/>
              <a:sym typeface="Calibri"/>
            </a:endParaRPr>
          </a:p>
        </p:txBody>
      </p:sp>
      <p:sp>
        <p:nvSpPr>
          <p:cNvPr id="352" name="Google Shape;352;p12"/>
          <p:cNvSpPr/>
          <p:nvPr/>
        </p:nvSpPr>
        <p:spPr>
          <a:xfrm>
            <a:off x="6848856" y="1682496"/>
            <a:ext cx="192024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Error porcentual medio</a:t>
            </a:r>
            <a:endParaRPr b="0" i="0" sz="800" u="none" cap="none" strike="noStrike">
              <a:solidFill>
                <a:schemeClr val="dk1"/>
              </a:solidFill>
              <a:latin typeface="Calibri"/>
              <a:ea typeface="Calibri"/>
              <a:cs typeface="Calibri"/>
              <a:sym typeface="Calibri"/>
            </a:endParaRPr>
          </a:p>
        </p:txBody>
      </p:sp>
      <p:sp>
        <p:nvSpPr>
          <p:cNvPr id="353" name="Google Shape;353;p12"/>
          <p:cNvSpPr/>
          <p:nvPr/>
        </p:nvSpPr>
        <p:spPr>
          <a:xfrm>
            <a:off x="320040" y="2057400"/>
            <a:ext cx="484632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1100"/>
              <a:buFont typeface="Calibri"/>
              <a:buNone/>
            </a:pPr>
            <a:r>
              <a:rPr b="1" i="0" lang="en-US" sz="1100" u="none" cap="none" strike="noStrike">
                <a:solidFill>
                  <a:srgbClr val="2E7D32"/>
                </a:solidFill>
                <a:latin typeface="Calibri"/>
                <a:ea typeface="Calibri"/>
                <a:cs typeface="Calibri"/>
                <a:sym typeface="Calibri"/>
              </a:rPr>
              <a:t>Real vs Predicho — Random Forest</a:t>
            </a:r>
            <a:endParaRPr b="0" i="0" sz="1100" u="none" cap="none" strike="noStrike">
              <a:solidFill>
                <a:schemeClr val="dk1"/>
              </a:solidFill>
              <a:latin typeface="Calibri"/>
              <a:ea typeface="Calibri"/>
              <a:cs typeface="Calibri"/>
              <a:sym typeface="Calibri"/>
            </a:endParaRPr>
          </a:p>
        </p:txBody>
      </p:sp>
      <p:sp>
        <p:nvSpPr>
          <p:cNvPr id="354" name="Google Shape;354;p12"/>
          <p:cNvSpPr/>
          <p:nvPr/>
        </p:nvSpPr>
        <p:spPr>
          <a:xfrm>
            <a:off x="5303520" y="2057400"/>
            <a:ext cx="352044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Validación Cruzada 5-Fold</a:t>
            </a:r>
            <a:endParaRPr b="0" i="0" sz="1100" u="none" cap="none" strike="noStrike">
              <a:solidFill>
                <a:schemeClr val="dk1"/>
              </a:solidFill>
              <a:latin typeface="Calibri"/>
              <a:ea typeface="Calibri"/>
              <a:cs typeface="Calibri"/>
              <a:sym typeface="Calibri"/>
            </a:endParaRPr>
          </a:p>
        </p:txBody>
      </p:sp>
      <p:sp>
        <p:nvSpPr>
          <p:cNvPr id="355" name="Google Shape;355;p12"/>
          <p:cNvSpPr/>
          <p:nvPr/>
        </p:nvSpPr>
        <p:spPr>
          <a:xfrm>
            <a:off x="5212080" y="4224528"/>
            <a:ext cx="3657600" cy="566928"/>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6" name="Google Shape;356;p12"/>
          <p:cNvSpPr/>
          <p:nvPr/>
        </p:nvSpPr>
        <p:spPr>
          <a:xfrm>
            <a:off x="5285232" y="4251960"/>
            <a:ext cx="3511296"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E7D32"/>
              </a:buClr>
              <a:buSzPts val="950"/>
              <a:buFont typeface="Calibri"/>
              <a:buNone/>
            </a:pPr>
            <a:r>
              <a:rPr b="1" i="0" lang="en-US" sz="950" u="none" cap="none" strike="noStrike">
                <a:solidFill>
                  <a:srgbClr val="2E7D32"/>
                </a:solidFill>
                <a:latin typeface="Calibri"/>
                <a:ea typeface="Calibri"/>
                <a:cs typeface="Calibri"/>
                <a:sym typeface="Calibri"/>
              </a:rPr>
              <a:t>R² promedio CV: 0.7930 ± 0.0194  </a:t>
            </a:r>
            <a:r>
              <a:rPr b="0" i="0" lang="en-US" sz="950" u="none" cap="none" strike="noStrike">
                <a:solidFill>
                  <a:srgbClr val="333333"/>
                </a:solidFill>
                <a:latin typeface="Calibri"/>
                <a:ea typeface="Calibri"/>
                <a:cs typeface="Calibri"/>
                <a:sym typeface="Calibri"/>
              </a:rPr>
              <a:t>Sin overfitting: CV ≈ Test score (Δ=0.036)</a:t>
            </a:r>
            <a:endParaRPr b="0" i="0" sz="950" u="none" cap="none" strike="noStrike">
              <a:solidFill>
                <a:schemeClr val="dk1"/>
              </a:solidFill>
              <a:latin typeface="Calibri"/>
              <a:ea typeface="Calibri"/>
              <a:cs typeface="Calibri"/>
              <a:sym typeface="Calibri"/>
            </a:endParaRPr>
          </a:p>
        </p:txBody>
      </p:sp>
      <p:sp>
        <p:nvSpPr>
          <p:cNvPr id="357" name="Google Shape;357;p12"/>
          <p:cNvSpPr/>
          <p:nvPr/>
        </p:nvSpPr>
        <p:spPr>
          <a:xfrm>
            <a:off x="320040" y="4828032"/>
            <a:ext cx="8503920" cy="246888"/>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58" name="Google Shape;358;p12"/>
          <p:cNvSpPr/>
          <p:nvPr/>
        </p:nvSpPr>
        <p:spPr>
          <a:xfrm>
            <a:off x="411480" y="4837176"/>
            <a:ext cx="8321040" cy="21945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5E20"/>
              </a:buClr>
              <a:buSzPts val="900"/>
              <a:buFont typeface="Calibri"/>
              <a:buNone/>
            </a:pPr>
            <a:r>
              <a:rPr b="0" i="0" lang="en-US" sz="900" u="none" cap="none" strike="noStrike">
                <a:solidFill>
                  <a:srgbClr val="1B5E20"/>
                </a:solidFill>
                <a:latin typeface="Calibri"/>
                <a:ea typeface="Calibri"/>
                <a:cs typeface="Calibri"/>
                <a:sym typeface="Calibri"/>
              </a:rPr>
              <a:t>✅  Modelo estable, sin sobreajuste. Los puntos en el scatter están bien pegados a la línea perfecta, demostrando alta confiabilidad.</a:t>
            </a:r>
            <a:endParaRPr b="0" i="0" sz="900" u="none" cap="none" strike="noStrike">
              <a:solidFill>
                <a:schemeClr val="dk1"/>
              </a:solidFill>
              <a:latin typeface="Calibri"/>
              <a:ea typeface="Calibri"/>
              <a:cs typeface="Calibri"/>
              <a:sym typeface="Calibri"/>
            </a:endParaRPr>
          </a:p>
        </p:txBody>
      </p:sp>
      <p:pic>
        <p:nvPicPr>
          <p:cNvPr id="359" name="Google Shape;359;p12"/>
          <p:cNvPicPr preferRelativeResize="0"/>
          <p:nvPr/>
        </p:nvPicPr>
        <p:blipFill rotWithShape="1">
          <a:blip r:embed="rId3">
            <a:alphaModFix/>
          </a:blip>
          <a:srcRect b="0" l="0" r="0" t="52622"/>
          <a:stretch/>
        </p:blipFill>
        <p:spPr>
          <a:xfrm>
            <a:off x="323938" y="2505450"/>
            <a:ext cx="4838519" cy="1856626"/>
          </a:xfrm>
          <a:prstGeom prst="rect">
            <a:avLst/>
          </a:prstGeom>
          <a:noFill/>
          <a:ln>
            <a:noFill/>
          </a:ln>
        </p:spPr>
      </p:pic>
      <p:pic>
        <p:nvPicPr>
          <p:cNvPr id="360" name="Google Shape;360;p12"/>
          <p:cNvPicPr preferRelativeResize="0"/>
          <p:nvPr/>
        </p:nvPicPr>
        <p:blipFill rotWithShape="1">
          <a:blip r:embed="rId4">
            <a:alphaModFix/>
          </a:blip>
          <a:srcRect b="0" l="0" r="0" t="0"/>
          <a:stretch/>
        </p:blipFill>
        <p:spPr>
          <a:xfrm>
            <a:off x="5303525" y="2331727"/>
            <a:ext cx="3657599" cy="18121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BFF"/>
        </a:solidFill>
      </p:bgPr>
    </p:bg>
    <p:spTree>
      <p:nvGrpSpPr>
        <p:cNvPr id="365" name="Shape 365"/>
        <p:cNvGrpSpPr/>
        <p:nvPr/>
      </p:nvGrpSpPr>
      <p:grpSpPr>
        <a:xfrm>
          <a:off x="0" y="0"/>
          <a:ext cx="0" cy="0"/>
          <a:chOff x="0" y="0"/>
          <a:chExt cx="0" cy="0"/>
        </a:xfrm>
      </p:grpSpPr>
      <p:sp>
        <p:nvSpPr>
          <p:cNvPr id="366" name="Google Shape;366;p13"/>
          <p:cNvSpPr/>
          <p:nvPr/>
        </p:nvSpPr>
        <p:spPr>
          <a:xfrm>
            <a:off x="0" y="0"/>
            <a:ext cx="9144000" cy="777240"/>
          </a:xfrm>
          <a:prstGeom prst="rect">
            <a:avLst/>
          </a:prstGeom>
          <a:solidFill>
            <a:srgbClr val="0D1B4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p13"/>
          <p:cNvSpPr/>
          <p:nvPr/>
        </p:nvSpPr>
        <p:spPr>
          <a:xfrm>
            <a:off x="365760" y="0"/>
            <a:ext cx="822960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COMPARACIÓN: KNN vs RANDOM FOREST</a:t>
            </a:r>
            <a:endParaRPr b="0" i="0" sz="2200" u="none" cap="none" strike="noStrike">
              <a:solidFill>
                <a:schemeClr val="dk1"/>
              </a:solidFill>
              <a:latin typeface="Calibri"/>
              <a:ea typeface="Calibri"/>
              <a:cs typeface="Calibri"/>
              <a:sym typeface="Calibri"/>
            </a:endParaRPr>
          </a:p>
        </p:txBody>
      </p:sp>
      <p:sp>
        <p:nvSpPr>
          <p:cNvPr id="368" name="Google Shape;368;p13"/>
          <p:cNvSpPr/>
          <p:nvPr/>
        </p:nvSpPr>
        <p:spPr>
          <a:xfrm>
            <a:off x="0" y="777240"/>
            <a:ext cx="9144000" cy="54864"/>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9" name="Google Shape;369;p13"/>
          <p:cNvSpPr/>
          <p:nvPr/>
        </p:nvSpPr>
        <p:spPr>
          <a:xfrm>
            <a:off x="5486400" y="868680"/>
            <a:ext cx="3337560" cy="2743200"/>
          </a:xfrm>
          <a:prstGeom prst="rect">
            <a:avLst/>
          </a:prstGeom>
          <a:solidFill>
            <a:srgbClr val="FFFFFF"/>
          </a:solidFill>
          <a:ln>
            <a:noFill/>
          </a:ln>
          <a:effectLst>
            <a:outerShdw blurRad="101600" rotWithShape="0" algn="bl" dir="8100000" dist="254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p13"/>
          <p:cNvSpPr/>
          <p:nvPr/>
        </p:nvSpPr>
        <p:spPr>
          <a:xfrm>
            <a:off x="5486400" y="915924"/>
            <a:ext cx="3337560" cy="54864"/>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1" name="Google Shape;371;p13"/>
          <p:cNvSpPr/>
          <p:nvPr/>
        </p:nvSpPr>
        <p:spPr>
          <a:xfrm>
            <a:off x="5577840" y="1042416"/>
            <a:ext cx="315468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Mejoras de RF sobre KNN</a:t>
            </a:r>
            <a:endParaRPr b="0" i="0" sz="1100" u="none" cap="none" strike="noStrike">
              <a:solidFill>
                <a:schemeClr val="dk1"/>
              </a:solidFill>
              <a:latin typeface="Calibri"/>
              <a:ea typeface="Calibri"/>
              <a:cs typeface="Calibri"/>
              <a:sym typeface="Calibri"/>
            </a:endParaRPr>
          </a:p>
        </p:txBody>
      </p:sp>
      <p:sp>
        <p:nvSpPr>
          <p:cNvPr id="372" name="Google Shape;372;p13"/>
          <p:cNvSpPr/>
          <p:nvPr/>
        </p:nvSpPr>
        <p:spPr>
          <a:xfrm>
            <a:off x="5577840" y="1377696"/>
            <a:ext cx="3154680" cy="594360"/>
          </a:xfrm>
          <a:prstGeom prst="rect">
            <a:avLst/>
          </a:prstGeom>
          <a:solidFill>
            <a:srgbClr val="E3F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3" name="Google Shape;373;p13"/>
          <p:cNvSpPr/>
          <p:nvPr/>
        </p:nvSpPr>
        <p:spPr>
          <a:xfrm>
            <a:off x="5623560" y="1453896"/>
            <a:ext cx="5486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R²</a:t>
            </a:r>
            <a:endParaRPr b="0" i="0" sz="1300" u="none" cap="none" strike="noStrike">
              <a:solidFill>
                <a:schemeClr val="dk1"/>
              </a:solidFill>
              <a:latin typeface="Calibri"/>
              <a:ea typeface="Calibri"/>
              <a:cs typeface="Calibri"/>
              <a:sym typeface="Calibri"/>
            </a:endParaRPr>
          </a:p>
        </p:txBody>
      </p:sp>
      <p:sp>
        <p:nvSpPr>
          <p:cNvPr id="374" name="Google Shape;374;p13"/>
          <p:cNvSpPr/>
          <p:nvPr/>
        </p:nvSpPr>
        <p:spPr>
          <a:xfrm>
            <a:off x="6172200" y="1453896"/>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88"/>
              </a:buClr>
              <a:buSzPts val="1000"/>
              <a:buFont typeface="Calibri"/>
              <a:buNone/>
            </a:pPr>
            <a:r>
              <a:rPr b="0" i="0" lang="en-US" sz="1000" u="none" cap="none" strike="noStrike">
                <a:solidFill>
                  <a:srgbClr val="888888"/>
                </a:solidFill>
                <a:latin typeface="Calibri"/>
                <a:ea typeface="Calibri"/>
                <a:cs typeface="Calibri"/>
                <a:sym typeface="Calibri"/>
              </a:rPr>
              <a:t>63.8%</a:t>
            </a:r>
            <a:endParaRPr b="0" i="0" sz="1000" u="none" cap="none" strike="noStrike">
              <a:solidFill>
                <a:schemeClr val="dk1"/>
              </a:solidFill>
              <a:latin typeface="Calibri"/>
              <a:ea typeface="Calibri"/>
              <a:cs typeface="Calibri"/>
              <a:sym typeface="Calibri"/>
            </a:endParaRPr>
          </a:p>
        </p:txBody>
      </p:sp>
      <p:sp>
        <p:nvSpPr>
          <p:cNvPr id="375" name="Google Shape;375;p13"/>
          <p:cNvSpPr/>
          <p:nvPr/>
        </p:nvSpPr>
        <p:spPr>
          <a:xfrm>
            <a:off x="6172200" y="1700784"/>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1000"/>
              <a:buFont typeface="Calibri"/>
              <a:buNone/>
            </a:pPr>
            <a:r>
              <a:rPr b="1" i="0" lang="en-US" sz="1000" u="none" cap="none" strike="noStrike">
                <a:solidFill>
                  <a:srgbClr val="2E7D32"/>
                </a:solidFill>
                <a:latin typeface="Calibri"/>
                <a:ea typeface="Calibri"/>
                <a:cs typeface="Calibri"/>
                <a:sym typeface="Calibri"/>
              </a:rPr>
              <a:t>→ 82,9%</a:t>
            </a:r>
            <a:endParaRPr b="0" i="0" sz="1000" u="none" cap="none" strike="noStrike">
              <a:solidFill>
                <a:schemeClr val="dk1"/>
              </a:solidFill>
              <a:latin typeface="Calibri"/>
              <a:ea typeface="Calibri"/>
              <a:cs typeface="Calibri"/>
              <a:sym typeface="Calibri"/>
            </a:endParaRPr>
          </a:p>
        </p:txBody>
      </p:sp>
      <p:sp>
        <p:nvSpPr>
          <p:cNvPr id="376" name="Google Shape;376;p13"/>
          <p:cNvSpPr/>
          <p:nvPr/>
        </p:nvSpPr>
        <p:spPr>
          <a:xfrm>
            <a:off x="7269480" y="1527048"/>
            <a:ext cx="868680" cy="36576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7" name="Google Shape;377;p13"/>
          <p:cNvSpPr/>
          <p:nvPr/>
        </p:nvSpPr>
        <p:spPr>
          <a:xfrm>
            <a:off x="7269480" y="1517904"/>
            <a:ext cx="868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+19,1pp</a:t>
            </a:r>
            <a:endParaRPr b="0" i="0" sz="1100" u="none" cap="none" strike="noStrike">
              <a:solidFill>
                <a:schemeClr val="dk1"/>
              </a:solidFill>
              <a:latin typeface="Calibri"/>
              <a:ea typeface="Calibri"/>
              <a:cs typeface="Calibri"/>
              <a:sym typeface="Calibri"/>
            </a:endParaRPr>
          </a:p>
        </p:txBody>
      </p:sp>
      <p:sp>
        <p:nvSpPr>
          <p:cNvPr id="378" name="Google Shape;378;p13"/>
          <p:cNvSpPr/>
          <p:nvPr/>
        </p:nvSpPr>
        <p:spPr>
          <a:xfrm>
            <a:off x="5577840" y="2112264"/>
            <a:ext cx="3154680" cy="594360"/>
          </a:xfrm>
          <a:prstGeom prst="rect">
            <a:avLst/>
          </a:prstGeom>
          <a:solidFill>
            <a:srgbClr val="E3F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9" name="Google Shape;379;p13"/>
          <p:cNvSpPr/>
          <p:nvPr/>
        </p:nvSpPr>
        <p:spPr>
          <a:xfrm>
            <a:off x="5623560" y="2157984"/>
            <a:ext cx="5486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MAE</a:t>
            </a:r>
            <a:endParaRPr b="0" i="0" sz="1300" u="none" cap="none" strike="noStrike">
              <a:solidFill>
                <a:schemeClr val="dk1"/>
              </a:solidFill>
              <a:latin typeface="Calibri"/>
              <a:ea typeface="Calibri"/>
              <a:cs typeface="Calibri"/>
              <a:sym typeface="Calibri"/>
            </a:endParaRPr>
          </a:p>
        </p:txBody>
      </p:sp>
      <p:sp>
        <p:nvSpPr>
          <p:cNvPr id="380" name="Google Shape;380;p13"/>
          <p:cNvSpPr/>
          <p:nvPr/>
        </p:nvSpPr>
        <p:spPr>
          <a:xfrm>
            <a:off x="6172200" y="2157984"/>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88"/>
              </a:buClr>
              <a:buSzPts val="1000"/>
              <a:buFont typeface="Calibri"/>
              <a:buNone/>
            </a:pPr>
            <a:r>
              <a:rPr b="0" i="0" lang="en-US" sz="1000" u="none" cap="none" strike="noStrike">
                <a:solidFill>
                  <a:srgbClr val="888888"/>
                </a:solidFill>
                <a:latin typeface="Calibri"/>
                <a:ea typeface="Calibri"/>
                <a:cs typeface="Calibri"/>
                <a:sym typeface="Calibri"/>
              </a:rPr>
              <a:t>$120,365</a:t>
            </a:r>
            <a:endParaRPr b="0" i="0" sz="1000" u="none" cap="none" strike="noStrike">
              <a:solidFill>
                <a:schemeClr val="dk1"/>
              </a:solidFill>
              <a:latin typeface="Calibri"/>
              <a:ea typeface="Calibri"/>
              <a:cs typeface="Calibri"/>
              <a:sym typeface="Calibri"/>
            </a:endParaRPr>
          </a:p>
        </p:txBody>
      </p:sp>
      <p:sp>
        <p:nvSpPr>
          <p:cNvPr id="381" name="Google Shape;381;p13"/>
          <p:cNvSpPr/>
          <p:nvPr/>
        </p:nvSpPr>
        <p:spPr>
          <a:xfrm>
            <a:off x="6172200" y="2404872"/>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1000"/>
              <a:buFont typeface="Calibri"/>
              <a:buNone/>
            </a:pPr>
            <a:r>
              <a:rPr b="1" i="0" lang="en-US" sz="1000" u="none" cap="none" strike="noStrike">
                <a:solidFill>
                  <a:srgbClr val="2E7D32"/>
                </a:solidFill>
                <a:latin typeface="Calibri"/>
                <a:ea typeface="Calibri"/>
                <a:cs typeface="Calibri"/>
                <a:sym typeface="Calibri"/>
              </a:rPr>
              <a:t>→ $78,586</a:t>
            </a:r>
            <a:endParaRPr b="0" i="0" sz="1000" u="none" cap="none" strike="noStrike">
              <a:solidFill>
                <a:schemeClr val="dk1"/>
              </a:solidFill>
              <a:latin typeface="Calibri"/>
              <a:ea typeface="Calibri"/>
              <a:cs typeface="Calibri"/>
              <a:sym typeface="Calibri"/>
            </a:endParaRPr>
          </a:p>
        </p:txBody>
      </p:sp>
      <p:sp>
        <p:nvSpPr>
          <p:cNvPr id="382" name="Google Shape;382;p13"/>
          <p:cNvSpPr/>
          <p:nvPr/>
        </p:nvSpPr>
        <p:spPr>
          <a:xfrm>
            <a:off x="7269480" y="2221992"/>
            <a:ext cx="868680" cy="36576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3" name="Google Shape;383;p13"/>
          <p:cNvSpPr/>
          <p:nvPr/>
        </p:nvSpPr>
        <p:spPr>
          <a:xfrm>
            <a:off x="7269480" y="2221992"/>
            <a:ext cx="868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-33.9%</a:t>
            </a:r>
            <a:endParaRPr b="0" i="0" sz="1100" u="none" cap="none" strike="noStrike">
              <a:solidFill>
                <a:schemeClr val="dk1"/>
              </a:solidFill>
              <a:latin typeface="Calibri"/>
              <a:ea typeface="Calibri"/>
              <a:cs typeface="Calibri"/>
              <a:sym typeface="Calibri"/>
            </a:endParaRPr>
          </a:p>
        </p:txBody>
      </p:sp>
      <p:sp>
        <p:nvSpPr>
          <p:cNvPr id="384" name="Google Shape;384;p13"/>
          <p:cNvSpPr/>
          <p:nvPr/>
        </p:nvSpPr>
        <p:spPr>
          <a:xfrm>
            <a:off x="5577840" y="2807208"/>
            <a:ext cx="3154680" cy="594360"/>
          </a:xfrm>
          <a:prstGeom prst="rect">
            <a:avLst/>
          </a:prstGeom>
          <a:solidFill>
            <a:srgbClr val="E3F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5" name="Google Shape;385;p13"/>
          <p:cNvSpPr/>
          <p:nvPr/>
        </p:nvSpPr>
        <p:spPr>
          <a:xfrm>
            <a:off x="5623560" y="2852928"/>
            <a:ext cx="5486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300"/>
              <a:buFont typeface="Calibri"/>
              <a:buNone/>
            </a:pPr>
            <a:r>
              <a:rPr b="1" i="0" lang="en-US" sz="1300" u="none" cap="none" strike="noStrike">
                <a:solidFill>
                  <a:srgbClr val="0D1B4B"/>
                </a:solidFill>
                <a:latin typeface="Calibri"/>
                <a:ea typeface="Calibri"/>
                <a:cs typeface="Calibri"/>
                <a:sym typeface="Calibri"/>
              </a:rPr>
              <a:t>RMSE</a:t>
            </a:r>
            <a:endParaRPr b="0" i="0" sz="1300" u="none" cap="none" strike="noStrike">
              <a:solidFill>
                <a:schemeClr val="dk1"/>
              </a:solidFill>
              <a:latin typeface="Calibri"/>
              <a:ea typeface="Calibri"/>
              <a:cs typeface="Calibri"/>
              <a:sym typeface="Calibri"/>
            </a:endParaRPr>
          </a:p>
        </p:txBody>
      </p:sp>
      <p:sp>
        <p:nvSpPr>
          <p:cNvPr id="386" name="Google Shape;386;p13"/>
          <p:cNvSpPr/>
          <p:nvPr/>
        </p:nvSpPr>
        <p:spPr>
          <a:xfrm>
            <a:off x="6172200" y="2852928"/>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888888"/>
              </a:buClr>
              <a:buSzPts val="1000"/>
              <a:buFont typeface="Calibri"/>
              <a:buNone/>
            </a:pPr>
            <a:r>
              <a:rPr b="0" i="0" lang="en-US" sz="1000" u="none" cap="none" strike="noStrike">
                <a:solidFill>
                  <a:srgbClr val="888888"/>
                </a:solidFill>
                <a:latin typeface="Calibri"/>
                <a:ea typeface="Calibri"/>
                <a:cs typeface="Calibri"/>
                <a:sym typeface="Calibri"/>
              </a:rPr>
              <a:t>$151,178</a:t>
            </a:r>
            <a:endParaRPr b="0" i="0" sz="1000" u="none" cap="none" strike="noStrike">
              <a:solidFill>
                <a:schemeClr val="dk1"/>
              </a:solidFill>
              <a:latin typeface="Calibri"/>
              <a:ea typeface="Calibri"/>
              <a:cs typeface="Calibri"/>
              <a:sym typeface="Calibri"/>
            </a:endParaRPr>
          </a:p>
        </p:txBody>
      </p:sp>
      <p:sp>
        <p:nvSpPr>
          <p:cNvPr id="387" name="Google Shape;387;p13"/>
          <p:cNvSpPr/>
          <p:nvPr/>
        </p:nvSpPr>
        <p:spPr>
          <a:xfrm>
            <a:off x="6172200" y="3099816"/>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E7D32"/>
              </a:buClr>
              <a:buSzPts val="1000"/>
              <a:buFont typeface="Calibri"/>
              <a:buNone/>
            </a:pPr>
            <a:r>
              <a:rPr b="1" i="0" lang="en-US" sz="1000" u="none" cap="none" strike="noStrike">
                <a:solidFill>
                  <a:srgbClr val="2E7D32"/>
                </a:solidFill>
                <a:latin typeface="Calibri"/>
                <a:ea typeface="Calibri"/>
                <a:cs typeface="Calibri"/>
                <a:sym typeface="Calibri"/>
              </a:rPr>
              <a:t>→ $104,209</a:t>
            </a:r>
            <a:endParaRPr b="0" i="0" sz="1400" u="none" cap="none" strike="noStrike">
              <a:solidFill>
                <a:srgbClr val="000000"/>
              </a:solidFill>
              <a:latin typeface="Arial"/>
              <a:ea typeface="Arial"/>
              <a:cs typeface="Arial"/>
              <a:sym typeface="Arial"/>
            </a:endParaRPr>
          </a:p>
        </p:txBody>
      </p:sp>
      <p:sp>
        <p:nvSpPr>
          <p:cNvPr id="388" name="Google Shape;388;p13"/>
          <p:cNvSpPr/>
          <p:nvPr/>
        </p:nvSpPr>
        <p:spPr>
          <a:xfrm>
            <a:off x="7269480" y="2916936"/>
            <a:ext cx="868680" cy="365760"/>
          </a:xfrm>
          <a:prstGeom prst="rect">
            <a:avLst/>
          </a:prstGeom>
          <a:solidFill>
            <a:srgbClr val="2E7D3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p13"/>
          <p:cNvSpPr/>
          <p:nvPr/>
        </p:nvSpPr>
        <p:spPr>
          <a:xfrm>
            <a:off x="7269480" y="2916936"/>
            <a:ext cx="86868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-31.1%</a:t>
            </a:r>
            <a:endParaRPr b="0" i="0" sz="1100" u="none" cap="none" strike="noStrike">
              <a:solidFill>
                <a:schemeClr val="dk1"/>
              </a:solidFill>
              <a:latin typeface="Calibri"/>
              <a:ea typeface="Calibri"/>
              <a:cs typeface="Calibri"/>
              <a:sym typeface="Calibri"/>
            </a:endParaRPr>
          </a:p>
        </p:txBody>
      </p:sp>
      <p:sp>
        <p:nvSpPr>
          <p:cNvPr id="390" name="Google Shape;390;p13"/>
          <p:cNvSpPr/>
          <p:nvPr/>
        </p:nvSpPr>
        <p:spPr>
          <a:xfrm>
            <a:off x="0" y="2925009"/>
            <a:ext cx="5486400" cy="255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Tabla Comparativa Completa</a:t>
            </a:r>
            <a:endParaRPr b="0" i="0" sz="1100" u="none" cap="none" strike="noStrike">
              <a:solidFill>
                <a:schemeClr val="dk1"/>
              </a:solidFill>
              <a:latin typeface="Calibri"/>
              <a:ea typeface="Calibri"/>
              <a:cs typeface="Calibri"/>
              <a:sym typeface="Calibri"/>
            </a:endParaRPr>
          </a:p>
        </p:txBody>
      </p:sp>
      <p:graphicFrame>
        <p:nvGraphicFramePr>
          <p:cNvPr id="391" name="Google Shape;391;p13"/>
          <p:cNvGraphicFramePr/>
          <p:nvPr/>
        </p:nvGraphicFramePr>
        <p:xfrm>
          <a:off x="198120" y="3190208"/>
          <a:ext cx="3000000" cy="3000000"/>
        </p:xfrm>
        <a:graphic>
          <a:graphicData uri="http://schemas.openxmlformats.org/drawingml/2006/table">
            <a:tbl>
              <a:tblPr>
                <a:noFill/>
                <a:tableStyleId>{CB14FBB0-4828-4D77-9EB4-C81A93320AC9}</a:tableStyleId>
              </a:tblPr>
              <a:tblGrid>
                <a:gridCol w="1234450"/>
                <a:gridCol w="1508750"/>
                <a:gridCol w="1874525"/>
              </a:tblGrid>
              <a:tr h="152400">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Métrica</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0D1B4B"/>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KNN (K=11)</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1976D2"/>
                    </a:solidFill>
                  </a:tcPr>
                </a:tc>
                <a:tc>
                  <a:txBody>
                    <a:bodyPr/>
                    <a:lstStyle/>
                    <a:p>
                      <a:pPr indent="0" lvl="0" marL="0" marR="0" rtl="0" algn="l">
                        <a:lnSpc>
                          <a:spcPct val="100000"/>
                        </a:lnSpc>
                        <a:spcBef>
                          <a:spcPts val="0"/>
                        </a:spcBef>
                        <a:spcAft>
                          <a:spcPts val="0"/>
                        </a:spcAft>
                        <a:buClr>
                          <a:srgbClr val="FFFFFF"/>
                        </a:buClr>
                        <a:buSzPts val="1200"/>
                        <a:buFont typeface="Calibri"/>
                        <a:buNone/>
                      </a:pPr>
                      <a:r>
                        <a:rPr b="1" lang="en-US" sz="1200" u="none" cap="none" strike="noStrike">
                          <a:solidFill>
                            <a:srgbClr val="FFFFFF"/>
                          </a:solidFill>
                        </a:rPr>
                        <a:t>Random Forest</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solidFill>
                      <a:srgbClr val="2E7D32"/>
                    </a:solidFill>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R² (Precisión)</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0.6</a:t>
                      </a:r>
                      <a:r>
                        <a:rPr lang="en-US" sz="1200" u="none" cap="none" strike="noStrike"/>
                        <a:t>3</a:t>
                      </a:r>
                      <a:r>
                        <a:rPr lang="en-US" sz="1200" u="none" cap="none" strike="noStrike">
                          <a:solidFill>
                            <a:srgbClr val="000000"/>
                          </a:solidFill>
                        </a:rPr>
                        <a:t>8</a:t>
                      </a:r>
                      <a:r>
                        <a:rPr lang="en-US" sz="1200" u="none" cap="none" strike="noStrike"/>
                        <a:t>3</a:t>
                      </a:r>
                      <a:r>
                        <a:rPr lang="en-US" sz="1200" u="none" cap="none" strike="noStrike">
                          <a:solidFill>
                            <a:srgbClr val="000000"/>
                          </a:solidFill>
                        </a:rPr>
                        <a:t> (6</a:t>
                      </a:r>
                      <a:r>
                        <a:rPr lang="en-US" sz="1200" u="none" cap="none" strike="noStrike"/>
                        <a:t>3</a:t>
                      </a:r>
                      <a:r>
                        <a:rPr lang="en-US" sz="1200" u="none" cap="none" strike="noStrike">
                          <a:solidFill>
                            <a:srgbClr val="000000"/>
                          </a:solidFill>
                        </a:rPr>
                        <a:t>.4%)</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0.8</a:t>
                      </a:r>
                      <a:r>
                        <a:rPr lang="en-US" sz="1200" u="none" cap="none" strike="noStrike"/>
                        <a:t>288</a:t>
                      </a:r>
                      <a:r>
                        <a:rPr lang="en-US" sz="1200" u="none" cap="none" strike="noStrike">
                          <a:solidFill>
                            <a:srgbClr val="000000"/>
                          </a:solidFill>
                        </a:rPr>
                        <a:t> (8</a:t>
                      </a:r>
                      <a:r>
                        <a:rPr lang="en-US" sz="1200" u="none" cap="none" strike="noStrike"/>
                        <a:t>2</a:t>
                      </a:r>
                      <a:r>
                        <a:rPr lang="en-US" sz="1200" u="none" cap="none" strike="noStrike">
                          <a:solidFill>
                            <a:srgbClr val="000000"/>
                          </a:solidFill>
                        </a:rPr>
                        <a:t>.</a:t>
                      </a:r>
                      <a:r>
                        <a:rPr lang="en-US" sz="1200" u="none" cap="none" strike="noStrike"/>
                        <a:t>9</a:t>
                      </a:r>
                      <a:r>
                        <a:rPr lang="en-US" sz="1200" u="none" cap="none" strike="noStrike">
                          <a:solidFill>
                            <a:srgbClr val="000000"/>
                          </a:solidFill>
                        </a:rPr>
                        <a:t>%)</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MAE</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a:t>
                      </a:r>
                      <a:r>
                        <a:rPr lang="en-US" sz="1200" u="none" cap="none" strike="noStrike"/>
                        <a:t>20</a:t>
                      </a:r>
                      <a:r>
                        <a:rPr lang="en-US" sz="1200" u="none" cap="none" strike="noStrike">
                          <a:solidFill>
                            <a:srgbClr val="000000"/>
                          </a:solidFill>
                        </a:rPr>
                        <a:t>,</a:t>
                      </a:r>
                      <a:r>
                        <a:rPr lang="en-US" sz="1200" u="none" cap="none" strike="noStrike"/>
                        <a:t>365</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$7</a:t>
                      </a:r>
                      <a:r>
                        <a:rPr lang="en-US" sz="1200" u="none" cap="none" strike="noStrike"/>
                        <a:t>8</a:t>
                      </a:r>
                      <a:r>
                        <a:rPr lang="en-US" sz="1200" u="none" cap="none" strike="noStrike">
                          <a:solidFill>
                            <a:srgbClr val="000000"/>
                          </a:solidFill>
                        </a:rPr>
                        <a:t>,</a:t>
                      </a:r>
                      <a:r>
                        <a:rPr lang="en-US" sz="1200" u="none" cap="none" strike="noStrike"/>
                        <a:t>586</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RMSE</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a:t>
                      </a:r>
                      <a:r>
                        <a:rPr lang="en-US" sz="1200" u="none" cap="none" strike="noStrike"/>
                        <a:t>51.178</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$10</a:t>
                      </a:r>
                      <a:r>
                        <a:rPr lang="en-US" sz="1200" u="none" cap="none" strike="noStrike"/>
                        <a:t>4</a:t>
                      </a:r>
                      <a:r>
                        <a:rPr lang="en-US" sz="1200" u="none" cap="none" strike="noStrike">
                          <a:solidFill>
                            <a:srgbClr val="000000"/>
                          </a:solidFill>
                        </a:rPr>
                        <a:t>,</a:t>
                      </a:r>
                      <a:r>
                        <a:rPr lang="en-US" sz="1200" u="none" cap="none" strike="noStrike"/>
                        <a:t>189</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Error Medio</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a:t>
                      </a:r>
                      <a:r>
                        <a:rPr lang="en-US" sz="1200" u="none" cap="none" strike="noStrike"/>
                        <a:t>4</a:t>
                      </a:r>
                      <a:r>
                        <a:rPr lang="en-US" sz="1200" u="none" cap="none" strike="noStrike">
                          <a:solidFill>
                            <a:srgbClr val="000000"/>
                          </a:solidFill>
                        </a:rPr>
                        <a:t>,</a:t>
                      </a:r>
                      <a:r>
                        <a:rPr lang="en-US" sz="1200" u="none" cap="none" strike="noStrike"/>
                        <a:t>493</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a:t>
                      </a:r>
                      <a:r>
                        <a:rPr lang="en-US" sz="1200" u="none" cap="none" strike="noStrike"/>
                        <a:t>$5</a:t>
                      </a:r>
                      <a:r>
                        <a:rPr lang="en-US" sz="1200" u="none" cap="none" strike="noStrike">
                          <a:solidFill>
                            <a:srgbClr val="000000"/>
                          </a:solidFill>
                        </a:rPr>
                        <a:t>,</a:t>
                      </a:r>
                      <a:r>
                        <a:rPr lang="en-US" sz="1200" u="none" cap="none" strike="noStrike"/>
                        <a:t>323</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r h="152400">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Desv. Error</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a:t>
                      </a:r>
                      <a:r>
                        <a:rPr lang="en-US" sz="1200" u="none" cap="none" strike="noStrike"/>
                        <a:t>50</a:t>
                      </a:r>
                      <a:r>
                        <a:rPr lang="en-US" sz="1200" u="none" cap="none" strike="noStrike">
                          <a:solidFill>
                            <a:srgbClr val="000000"/>
                          </a:solidFill>
                        </a:rPr>
                        <a:t>,</a:t>
                      </a:r>
                      <a:r>
                        <a:rPr lang="en-US" sz="1200" u="none" cap="none" strike="noStrike"/>
                        <a:t>650</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00"/>
                        <a:buFont typeface="Calibri"/>
                        <a:buNone/>
                      </a:pPr>
                      <a:r>
                        <a:rPr lang="en-US" sz="1200" u="none" cap="none" strike="noStrike">
                          <a:solidFill>
                            <a:srgbClr val="000000"/>
                          </a:solidFill>
                        </a:rPr>
                        <a:t>$102,537</a:t>
                      </a:r>
                      <a:endParaRPr sz="1200" u="none" cap="none" strike="noStrike"/>
                    </a:p>
                  </a:txBody>
                  <a:tcPr marT="45725" marB="45725" marR="91450" marL="91450">
                    <a:lnL cap="flat" cmpd="sng" w="9525">
                      <a:solidFill>
                        <a:srgbClr val="DDDDDD"/>
                      </a:solidFill>
                      <a:prstDash val="solid"/>
                      <a:round/>
                      <a:headEnd len="sm" w="sm" type="none"/>
                      <a:tailEnd len="sm" w="sm" type="none"/>
                    </a:lnL>
                    <a:lnR cap="flat" cmpd="sng" w="9525">
                      <a:solidFill>
                        <a:srgbClr val="DDDDDD"/>
                      </a:solidFill>
                      <a:prstDash val="solid"/>
                      <a:round/>
                      <a:headEnd len="sm" w="sm" type="none"/>
                      <a:tailEnd len="sm" w="sm" type="none"/>
                    </a:lnR>
                    <a:lnT cap="flat" cmpd="sng" w="9525">
                      <a:solidFill>
                        <a:srgbClr val="DDDDDD"/>
                      </a:solidFill>
                      <a:prstDash val="solid"/>
                      <a:round/>
                      <a:headEnd len="sm" w="sm" type="none"/>
                      <a:tailEnd len="sm" w="sm" type="none"/>
                    </a:lnT>
                    <a:lnB cap="flat" cmpd="sng" w="9525">
                      <a:solidFill>
                        <a:srgbClr val="DDDDDD"/>
                      </a:solidFill>
                      <a:prstDash val="solid"/>
                      <a:round/>
                      <a:headEnd len="sm" w="sm" type="none"/>
                      <a:tailEnd len="sm" w="sm" type="none"/>
                    </a:lnB>
                  </a:tcPr>
                </a:tc>
              </a:tr>
            </a:tbl>
          </a:graphicData>
        </a:graphic>
      </p:graphicFrame>
      <p:sp>
        <p:nvSpPr>
          <p:cNvPr id="392" name="Google Shape;392;p13"/>
          <p:cNvSpPr/>
          <p:nvPr/>
        </p:nvSpPr>
        <p:spPr>
          <a:xfrm>
            <a:off x="5212080" y="4224528"/>
            <a:ext cx="3657600" cy="566928"/>
          </a:xfrm>
          <a:prstGeom prst="rect">
            <a:avLst/>
          </a:prstGeom>
          <a:solidFill>
            <a:srgbClr val="E8F5E9"/>
          </a:solidFill>
          <a:ln cap="flat" cmpd="sng" w="10150">
            <a:solidFill>
              <a:srgbClr val="2E7D3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548135"/>
                </a:solidFill>
                <a:latin typeface="Calibri"/>
                <a:ea typeface="Calibri"/>
                <a:cs typeface="Calibri"/>
                <a:sym typeface="Calibri"/>
              </a:rPr>
              <a:t>■ Random Forest tiene errores más consistentes (menor desviación)</a:t>
            </a:r>
            <a:endParaRPr b="1" i="0" sz="1400" u="none" cap="none" strike="noStrike">
              <a:solidFill>
                <a:srgbClr val="548135"/>
              </a:solidFill>
              <a:latin typeface="Calibri"/>
              <a:ea typeface="Calibri"/>
              <a:cs typeface="Calibri"/>
              <a:sym typeface="Calibri"/>
            </a:endParaRPr>
          </a:p>
        </p:txBody>
      </p:sp>
      <p:pic>
        <p:nvPicPr>
          <p:cNvPr id="393" name="Google Shape;393;p13"/>
          <p:cNvPicPr preferRelativeResize="0"/>
          <p:nvPr/>
        </p:nvPicPr>
        <p:blipFill rotWithShape="1">
          <a:blip r:embed="rId3">
            <a:alphaModFix/>
          </a:blip>
          <a:srcRect b="0" l="0" r="0" t="0"/>
          <a:stretch/>
        </p:blipFill>
        <p:spPr>
          <a:xfrm>
            <a:off x="59300" y="1006126"/>
            <a:ext cx="5078476" cy="1645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B"/>
        </a:solidFill>
      </p:bgPr>
    </p:bg>
    <p:spTree>
      <p:nvGrpSpPr>
        <p:cNvPr id="398" name="Shape 398"/>
        <p:cNvGrpSpPr/>
        <p:nvPr/>
      </p:nvGrpSpPr>
      <p:grpSpPr>
        <a:xfrm>
          <a:off x="0" y="0"/>
          <a:ext cx="0" cy="0"/>
          <a:chOff x="0" y="0"/>
          <a:chExt cx="0" cy="0"/>
        </a:xfrm>
      </p:grpSpPr>
      <p:sp>
        <p:nvSpPr>
          <p:cNvPr id="399" name="Google Shape;399;p15"/>
          <p:cNvSpPr/>
          <p:nvPr/>
        </p:nvSpPr>
        <p:spPr>
          <a:xfrm>
            <a:off x="-457200" y="3200400"/>
            <a:ext cx="3200400" cy="3200400"/>
          </a:xfrm>
          <a:prstGeom prst="ellipse">
            <a:avLst/>
          </a:prstGeom>
          <a:solidFill>
            <a:srgbClr val="1A2E6E">
              <a:alpha val="6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0" name="Google Shape;400;p15"/>
          <p:cNvSpPr/>
          <p:nvPr/>
        </p:nvSpPr>
        <p:spPr>
          <a:xfrm>
            <a:off x="7772400" y="-457200"/>
            <a:ext cx="2286000" cy="2286000"/>
          </a:xfrm>
          <a:prstGeom prst="ellipse">
            <a:avLst/>
          </a:prstGeom>
          <a:solidFill>
            <a:srgbClr val="1A2E6E">
              <a:alpha val="7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1" name="Google Shape;401;p15"/>
          <p:cNvSpPr/>
          <p:nvPr/>
        </p:nvSpPr>
        <p:spPr>
          <a:xfrm>
            <a:off x="365760" y="228600"/>
            <a:ext cx="109728" cy="64008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2" name="Google Shape;402;p15"/>
          <p:cNvSpPr/>
          <p:nvPr/>
        </p:nvSpPr>
        <p:spPr>
          <a:xfrm>
            <a:off x="594360" y="274320"/>
            <a:ext cx="73152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400"/>
              <a:buFont typeface="Calibri"/>
              <a:buNone/>
            </a:pPr>
            <a:r>
              <a:rPr b="1" i="0" lang="en-US" sz="2400" u="none" cap="none" strike="noStrike">
                <a:solidFill>
                  <a:srgbClr val="FFFFFF"/>
                </a:solidFill>
                <a:latin typeface="Calibri"/>
                <a:ea typeface="Calibri"/>
                <a:cs typeface="Calibri"/>
                <a:sym typeface="Calibri"/>
              </a:rPr>
              <a:t>CONCLUSIONES FINALES</a:t>
            </a:r>
            <a:endParaRPr b="0" i="0" sz="2400" u="none" cap="none" strike="noStrike">
              <a:solidFill>
                <a:schemeClr val="dk1"/>
              </a:solidFill>
              <a:latin typeface="Calibri"/>
              <a:ea typeface="Calibri"/>
              <a:cs typeface="Calibri"/>
              <a:sym typeface="Calibri"/>
            </a:endParaRPr>
          </a:p>
        </p:txBody>
      </p:sp>
      <p:sp>
        <p:nvSpPr>
          <p:cNvPr id="403" name="Google Shape;403;p15"/>
          <p:cNvSpPr/>
          <p:nvPr/>
        </p:nvSpPr>
        <p:spPr>
          <a:xfrm>
            <a:off x="365760" y="1051560"/>
            <a:ext cx="411480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300"/>
              </a:buClr>
              <a:buSzPts val="1300"/>
              <a:buFont typeface="Calibri"/>
              <a:buNone/>
            </a:pPr>
            <a:r>
              <a:rPr b="1" i="0" lang="en-US" sz="1300" u="none" cap="none" strike="noStrike">
                <a:solidFill>
                  <a:srgbClr val="FFB300"/>
                </a:solidFill>
                <a:latin typeface="Calibri"/>
                <a:ea typeface="Calibri"/>
                <a:cs typeface="Calibri"/>
                <a:sym typeface="Calibri"/>
              </a:rPr>
              <a:t>🏆  Resultados Clave</a:t>
            </a:r>
            <a:endParaRPr b="0" i="0" sz="1300" u="none" cap="none" strike="noStrike">
              <a:solidFill>
                <a:schemeClr val="dk1"/>
              </a:solidFill>
              <a:latin typeface="Calibri"/>
              <a:ea typeface="Calibri"/>
              <a:cs typeface="Calibri"/>
              <a:sym typeface="Calibri"/>
            </a:endParaRPr>
          </a:p>
        </p:txBody>
      </p:sp>
      <p:sp>
        <p:nvSpPr>
          <p:cNvPr id="404" name="Google Shape;404;p15"/>
          <p:cNvSpPr/>
          <p:nvPr/>
        </p:nvSpPr>
        <p:spPr>
          <a:xfrm>
            <a:off x="365760" y="1444752"/>
            <a:ext cx="8479660" cy="585216"/>
          </a:xfrm>
          <a:prstGeom prst="rect">
            <a:avLst/>
          </a:prstGeom>
          <a:solidFill>
            <a:srgbClr val="1A2E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5" name="Google Shape;405;p15"/>
          <p:cNvSpPr/>
          <p:nvPr/>
        </p:nvSpPr>
        <p:spPr>
          <a:xfrm>
            <a:off x="365760" y="1444752"/>
            <a:ext cx="54864" cy="566928"/>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6" name="Google Shape;406;p15"/>
          <p:cNvSpPr/>
          <p:nvPr/>
        </p:nvSpPr>
        <p:spPr>
          <a:xfrm>
            <a:off x="502920" y="1499616"/>
            <a:ext cx="82753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0E4FF"/>
              </a:buClr>
              <a:buSzPts val="950"/>
              <a:buFont typeface="Calibri"/>
              <a:buNone/>
            </a:pPr>
            <a:r>
              <a:rPr b="0" i="0" lang="en-US" sz="950" u="none" cap="none" strike="noStrike">
                <a:solidFill>
                  <a:srgbClr val="D0E4FF"/>
                </a:solidFill>
                <a:latin typeface="Calibri"/>
                <a:ea typeface="Calibri"/>
                <a:cs typeface="Calibri"/>
                <a:sym typeface="Calibri"/>
              </a:rPr>
              <a:t>✅  Random Forest con R²=82.</a:t>
            </a:r>
            <a:r>
              <a:rPr lang="en-US" sz="950">
                <a:solidFill>
                  <a:srgbClr val="D0E4FF"/>
                </a:solidFill>
                <a:latin typeface="Calibri"/>
                <a:ea typeface="Calibri"/>
                <a:cs typeface="Calibri"/>
                <a:sym typeface="Calibri"/>
              </a:rPr>
              <a:t>9</a:t>
            </a:r>
            <a:r>
              <a:rPr b="0" i="0" lang="en-US" sz="950" u="none" cap="none" strike="noStrike">
                <a:solidFill>
                  <a:srgbClr val="D0E4FF"/>
                </a:solidFill>
                <a:latin typeface="Calibri"/>
                <a:ea typeface="Calibri"/>
                <a:cs typeface="Calibri"/>
                <a:sym typeface="Calibri"/>
              </a:rPr>
              <a:t>% supera ampliamente a KNN (6</a:t>
            </a:r>
            <a:r>
              <a:rPr lang="en-US" sz="950">
                <a:solidFill>
                  <a:srgbClr val="D0E4FF"/>
                </a:solidFill>
                <a:latin typeface="Calibri"/>
                <a:ea typeface="Calibri"/>
                <a:cs typeface="Calibri"/>
                <a:sym typeface="Calibri"/>
              </a:rPr>
              <a:t>3</a:t>
            </a:r>
            <a:r>
              <a:rPr b="0" i="0" lang="en-US" sz="950" u="none" cap="none" strike="noStrike">
                <a:solidFill>
                  <a:srgbClr val="D0E4FF"/>
                </a:solidFill>
                <a:latin typeface="Calibri"/>
                <a:ea typeface="Calibri"/>
                <a:cs typeface="Calibri"/>
                <a:sym typeface="Calibri"/>
              </a:rPr>
              <a:t>.</a:t>
            </a:r>
            <a:r>
              <a:rPr lang="en-US" sz="950">
                <a:solidFill>
                  <a:srgbClr val="D0E4FF"/>
                </a:solidFill>
                <a:latin typeface="Calibri"/>
                <a:ea typeface="Calibri"/>
                <a:cs typeface="Calibri"/>
                <a:sym typeface="Calibri"/>
              </a:rPr>
              <a:t>4</a:t>
            </a:r>
            <a:r>
              <a:rPr b="0" i="0" lang="en-US" sz="950" u="none" cap="none" strike="noStrike">
                <a:solidFill>
                  <a:srgbClr val="D0E4FF"/>
                </a:solidFill>
                <a:latin typeface="Calibri"/>
                <a:ea typeface="Calibri"/>
                <a:cs typeface="Calibri"/>
                <a:sym typeface="Calibri"/>
              </a:rPr>
              <a:t>%)</a:t>
            </a:r>
            <a:endParaRPr b="0" i="0" sz="950" u="none" cap="none" strike="noStrike">
              <a:solidFill>
                <a:schemeClr val="dk1"/>
              </a:solidFill>
              <a:latin typeface="Calibri"/>
              <a:ea typeface="Calibri"/>
              <a:cs typeface="Calibri"/>
              <a:sym typeface="Calibri"/>
            </a:endParaRPr>
          </a:p>
        </p:txBody>
      </p:sp>
      <p:sp>
        <p:nvSpPr>
          <p:cNvPr id="407" name="Google Shape;407;p15"/>
          <p:cNvSpPr/>
          <p:nvPr/>
        </p:nvSpPr>
        <p:spPr>
          <a:xfrm>
            <a:off x="365760" y="2103120"/>
            <a:ext cx="8479660" cy="530352"/>
          </a:xfrm>
          <a:prstGeom prst="rect">
            <a:avLst/>
          </a:prstGeom>
          <a:solidFill>
            <a:srgbClr val="1A2E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8" name="Google Shape;408;p15"/>
          <p:cNvSpPr/>
          <p:nvPr/>
        </p:nvSpPr>
        <p:spPr>
          <a:xfrm>
            <a:off x="365760" y="2103120"/>
            <a:ext cx="54864" cy="566928"/>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9" name="Google Shape;409;p15"/>
          <p:cNvSpPr/>
          <p:nvPr/>
        </p:nvSpPr>
        <p:spPr>
          <a:xfrm>
            <a:off x="502919" y="2157984"/>
            <a:ext cx="7101529"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0E4FF"/>
              </a:buClr>
              <a:buSzPts val="950"/>
              <a:buFont typeface="Calibri"/>
              <a:buNone/>
            </a:pPr>
            <a:r>
              <a:rPr b="0" i="0" lang="en-US" sz="950" u="none" cap="none" strike="noStrike">
                <a:solidFill>
                  <a:srgbClr val="D0E4FF"/>
                </a:solidFill>
                <a:latin typeface="Calibri"/>
                <a:ea typeface="Calibri"/>
                <a:cs typeface="Calibri"/>
                <a:sym typeface="Calibri"/>
              </a:rPr>
              <a:t>📊  Inversión en Marketing es el driver #1 de ventas</a:t>
            </a:r>
            <a:endParaRPr b="0" i="0" sz="950" u="none" cap="none" strike="noStrike">
              <a:solidFill>
                <a:schemeClr val="dk1"/>
              </a:solidFill>
              <a:latin typeface="Calibri"/>
              <a:ea typeface="Calibri"/>
              <a:cs typeface="Calibri"/>
              <a:sym typeface="Calibri"/>
            </a:endParaRPr>
          </a:p>
        </p:txBody>
      </p:sp>
      <p:sp>
        <p:nvSpPr>
          <p:cNvPr id="410" name="Google Shape;410;p15"/>
          <p:cNvSpPr/>
          <p:nvPr/>
        </p:nvSpPr>
        <p:spPr>
          <a:xfrm>
            <a:off x="402535" y="2747769"/>
            <a:ext cx="8518200" cy="594300"/>
          </a:xfrm>
          <a:prstGeom prst="rect">
            <a:avLst/>
          </a:prstGeom>
          <a:solidFill>
            <a:srgbClr val="1A2E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1" name="Google Shape;411;p15"/>
          <p:cNvSpPr/>
          <p:nvPr/>
        </p:nvSpPr>
        <p:spPr>
          <a:xfrm>
            <a:off x="365760" y="2761494"/>
            <a:ext cx="54900" cy="5670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2" name="Google Shape;412;p15"/>
          <p:cNvSpPr/>
          <p:nvPr/>
        </p:nvSpPr>
        <p:spPr>
          <a:xfrm>
            <a:off x="475494" y="2788920"/>
            <a:ext cx="6224400" cy="475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0E4FF"/>
              </a:buClr>
              <a:buSzPts val="950"/>
              <a:buFont typeface="Calibri"/>
              <a:buNone/>
            </a:pPr>
            <a:r>
              <a:rPr b="0" i="0" lang="en-US" sz="950" u="none" cap="none" strike="noStrike">
                <a:solidFill>
                  <a:srgbClr val="D0E4FF"/>
                </a:solidFill>
                <a:latin typeface="Calibri"/>
                <a:ea typeface="Calibri"/>
                <a:cs typeface="Calibri"/>
                <a:sym typeface="Calibri"/>
              </a:rPr>
              <a:t>📍  Locales en esquina venden 14.4% más; el tipo de ubicación impacta hasta +74% en ventas</a:t>
            </a:r>
            <a:endParaRPr b="0" i="0" sz="950" u="none" cap="none" strike="noStrike">
              <a:solidFill>
                <a:schemeClr val="dk1"/>
              </a:solidFill>
              <a:latin typeface="Calibri"/>
              <a:ea typeface="Calibri"/>
              <a:cs typeface="Calibri"/>
              <a:sym typeface="Calibri"/>
            </a:endParaRPr>
          </a:p>
        </p:txBody>
      </p:sp>
      <p:sp>
        <p:nvSpPr>
          <p:cNvPr id="413" name="Google Shape;413;p15"/>
          <p:cNvSpPr/>
          <p:nvPr/>
        </p:nvSpPr>
        <p:spPr>
          <a:xfrm>
            <a:off x="365810" y="3442724"/>
            <a:ext cx="8591700" cy="594300"/>
          </a:xfrm>
          <a:prstGeom prst="rect">
            <a:avLst/>
          </a:prstGeom>
          <a:solidFill>
            <a:srgbClr val="1A2E6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4" name="Google Shape;414;p15"/>
          <p:cNvSpPr/>
          <p:nvPr/>
        </p:nvSpPr>
        <p:spPr>
          <a:xfrm>
            <a:off x="365760" y="3426687"/>
            <a:ext cx="54900" cy="5670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5" name="Google Shape;415;p15"/>
          <p:cNvSpPr/>
          <p:nvPr/>
        </p:nvSpPr>
        <p:spPr>
          <a:xfrm>
            <a:off x="463257" y="3438138"/>
            <a:ext cx="75774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0E4FF"/>
              </a:buClr>
              <a:buSzPts val="950"/>
              <a:buFont typeface="Calibri"/>
              <a:buNone/>
            </a:pPr>
            <a:r>
              <a:rPr b="0" i="0" lang="en-US" sz="950" u="none" cap="none" strike="noStrike">
                <a:solidFill>
                  <a:srgbClr val="D0E4FF"/>
                </a:solidFill>
                <a:latin typeface="Calibri"/>
                <a:ea typeface="Calibri"/>
                <a:cs typeface="Calibri"/>
                <a:sym typeface="Calibri"/>
              </a:rPr>
              <a:t>🔄  El modelo es estable y sin overfitting: </a:t>
            </a:r>
            <a:r>
              <a:rPr lang="en-US" sz="950">
                <a:solidFill>
                  <a:srgbClr val="D0E4FF"/>
                </a:solidFill>
                <a:latin typeface="Calibri"/>
                <a:ea typeface="Calibri"/>
                <a:cs typeface="Calibri"/>
                <a:sym typeface="Calibri"/>
              </a:rPr>
              <a:t>R² promedio CV: 0.7930 ± 0.0194  Sin overfitting: CV ≈ Test score (Δ=0.036</a:t>
            </a:r>
            <a:endParaRPr b="0" i="0" sz="950" u="none" cap="none" strike="noStrike">
              <a:solidFill>
                <a:schemeClr val="dk1"/>
              </a:solidFill>
              <a:latin typeface="Calibri"/>
              <a:ea typeface="Calibri"/>
              <a:cs typeface="Calibri"/>
              <a:sym typeface="Calibri"/>
            </a:endParaRPr>
          </a:p>
        </p:txBody>
      </p:sp>
      <p:sp>
        <p:nvSpPr>
          <p:cNvPr id="416" name="Google Shape;416;p15"/>
          <p:cNvSpPr/>
          <p:nvPr/>
        </p:nvSpPr>
        <p:spPr>
          <a:xfrm>
            <a:off x="4800600" y="3995928"/>
            <a:ext cx="475488" cy="47548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p:txBody>
      </p:sp>
      <p:sp>
        <p:nvSpPr>
          <p:cNvPr id="417" name="Google Shape;417;p15"/>
          <p:cNvSpPr/>
          <p:nvPr/>
        </p:nvSpPr>
        <p:spPr>
          <a:xfrm>
            <a:off x="365760" y="4809744"/>
            <a:ext cx="8412480" cy="27432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p15"/>
          <p:cNvSpPr/>
          <p:nvPr/>
        </p:nvSpPr>
        <p:spPr>
          <a:xfrm>
            <a:off x="365760" y="4809744"/>
            <a:ext cx="841248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Hackaton 2026 — Machine Learning para el Retail del Futuro</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B"/>
        </a:solidFill>
      </p:bgPr>
    </p:bg>
    <p:spTree>
      <p:nvGrpSpPr>
        <p:cNvPr id="423" name="Shape 423"/>
        <p:cNvGrpSpPr/>
        <p:nvPr/>
      </p:nvGrpSpPr>
      <p:grpSpPr>
        <a:xfrm>
          <a:off x="0" y="0"/>
          <a:ext cx="0" cy="0"/>
          <a:chOff x="0" y="0"/>
          <a:chExt cx="0" cy="0"/>
        </a:xfrm>
      </p:grpSpPr>
      <p:sp>
        <p:nvSpPr>
          <p:cNvPr id="424" name="Google Shape;424;g3ca65b628b7_1_67"/>
          <p:cNvSpPr/>
          <p:nvPr/>
        </p:nvSpPr>
        <p:spPr>
          <a:xfrm>
            <a:off x="-457200" y="3200400"/>
            <a:ext cx="3200400" cy="3200400"/>
          </a:xfrm>
          <a:prstGeom prst="ellipse">
            <a:avLst/>
          </a:prstGeom>
          <a:solidFill>
            <a:srgbClr val="1A2E6E">
              <a:alpha val="6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5" name="Google Shape;425;g3ca65b628b7_1_67"/>
          <p:cNvSpPr/>
          <p:nvPr/>
        </p:nvSpPr>
        <p:spPr>
          <a:xfrm>
            <a:off x="7772400" y="-457200"/>
            <a:ext cx="2286000" cy="2286000"/>
          </a:xfrm>
          <a:prstGeom prst="ellipse">
            <a:avLst/>
          </a:prstGeom>
          <a:solidFill>
            <a:srgbClr val="1A2E6E">
              <a:alpha val="7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6" name="Google Shape;426;g3ca65b628b7_1_67"/>
          <p:cNvSpPr/>
          <p:nvPr/>
        </p:nvSpPr>
        <p:spPr>
          <a:xfrm>
            <a:off x="310185" y="154635"/>
            <a:ext cx="4114800" cy="320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B300"/>
              </a:buClr>
              <a:buSzPts val="1300"/>
              <a:buFont typeface="Calibri"/>
              <a:buNone/>
            </a:pPr>
            <a:r>
              <a:rPr b="1" i="0" lang="en-US" sz="1300" u="none" cap="none" strike="noStrike">
                <a:solidFill>
                  <a:srgbClr val="FFB300"/>
                </a:solidFill>
                <a:latin typeface="Calibri"/>
                <a:ea typeface="Calibri"/>
                <a:cs typeface="Calibri"/>
                <a:sym typeface="Calibri"/>
              </a:rPr>
              <a:t>Link Colab</a:t>
            </a:r>
            <a:endParaRPr b="0" i="0" sz="1300" u="none" cap="none" strike="noStrike">
              <a:solidFill>
                <a:schemeClr val="dk1"/>
              </a:solidFill>
              <a:latin typeface="Calibri"/>
              <a:ea typeface="Calibri"/>
              <a:cs typeface="Calibri"/>
              <a:sym typeface="Calibri"/>
            </a:endParaRPr>
          </a:p>
        </p:txBody>
      </p:sp>
      <p:sp>
        <p:nvSpPr>
          <p:cNvPr id="427" name="Google Shape;427;g3ca65b628b7_1_67"/>
          <p:cNvSpPr/>
          <p:nvPr/>
        </p:nvSpPr>
        <p:spPr>
          <a:xfrm>
            <a:off x="365760" y="474727"/>
            <a:ext cx="8479800" cy="585300"/>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B300"/>
                </a:solidFill>
                <a:latin typeface="Calibri"/>
                <a:ea typeface="Calibri"/>
                <a:cs typeface="Calibri"/>
                <a:sym typeface="Calibri"/>
              </a:rPr>
              <a:t>Ver Modelo en Google Colab</a:t>
            </a:r>
            <a:endParaRPr b="0" i="0" sz="1800" u="none" cap="none" strike="noStrike">
              <a:solidFill>
                <a:srgbClr val="FFFF00"/>
              </a:solidFill>
              <a:latin typeface="Calibri"/>
              <a:ea typeface="Calibri"/>
              <a:cs typeface="Calibri"/>
              <a:sym typeface="Calibri"/>
            </a:endParaRPr>
          </a:p>
        </p:txBody>
      </p:sp>
      <p:sp>
        <p:nvSpPr>
          <p:cNvPr id="428" name="Google Shape;428;g3ca65b628b7_1_67"/>
          <p:cNvSpPr/>
          <p:nvPr/>
        </p:nvSpPr>
        <p:spPr>
          <a:xfrm>
            <a:off x="310180" y="483875"/>
            <a:ext cx="54900" cy="5670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g3ca65b628b7_1_67"/>
          <p:cNvSpPr/>
          <p:nvPr/>
        </p:nvSpPr>
        <p:spPr>
          <a:xfrm>
            <a:off x="4800600" y="2350008"/>
            <a:ext cx="4755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430" name="Google Shape;430;g3ca65b628b7_1_67"/>
          <p:cNvSpPr/>
          <p:nvPr/>
        </p:nvSpPr>
        <p:spPr>
          <a:xfrm>
            <a:off x="4800600" y="3172968"/>
            <a:ext cx="4755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p:txBody>
      </p:sp>
      <p:sp>
        <p:nvSpPr>
          <p:cNvPr id="431" name="Google Shape;431;g3ca65b628b7_1_67"/>
          <p:cNvSpPr/>
          <p:nvPr/>
        </p:nvSpPr>
        <p:spPr>
          <a:xfrm>
            <a:off x="4800600" y="3995928"/>
            <a:ext cx="475500" cy="47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p:txBody>
      </p:sp>
      <p:sp>
        <p:nvSpPr>
          <p:cNvPr id="432" name="Google Shape;432;g3ca65b628b7_1_67"/>
          <p:cNvSpPr/>
          <p:nvPr/>
        </p:nvSpPr>
        <p:spPr>
          <a:xfrm>
            <a:off x="365760" y="4809744"/>
            <a:ext cx="8412600" cy="2742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3" name="Google Shape;433;g3ca65b628b7_1_67"/>
          <p:cNvSpPr/>
          <p:nvPr/>
        </p:nvSpPr>
        <p:spPr>
          <a:xfrm>
            <a:off x="365760" y="4809744"/>
            <a:ext cx="84126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D1B4B"/>
              </a:buClr>
              <a:buSzPts val="1100"/>
              <a:buFont typeface="Calibri"/>
              <a:buNone/>
            </a:pPr>
            <a:r>
              <a:rPr b="1" i="0" lang="en-US" sz="1100" u="none" cap="none" strike="noStrike">
                <a:solidFill>
                  <a:srgbClr val="0D1B4B"/>
                </a:solidFill>
                <a:latin typeface="Calibri"/>
                <a:ea typeface="Calibri"/>
                <a:cs typeface="Calibri"/>
                <a:sym typeface="Calibri"/>
              </a:rPr>
              <a:t>Hackaton 2026 — Machine Learning para el Retail </a:t>
            </a:r>
            <a:endParaRPr b="0" i="0" sz="1100" u="none" cap="none" strike="noStrike">
              <a:solidFill>
                <a:schemeClr val="dk1"/>
              </a:solidFill>
              <a:latin typeface="Calibri"/>
              <a:ea typeface="Calibri"/>
              <a:cs typeface="Calibri"/>
              <a:sym typeface="Calibri"/>
            </a:endParaRPr>
          </a:p>
        </p:txBody>
      </p:sp>
      <p:sp>
        <p:nvSpPr>
          <p:cNvPr id="434" name="Google Shape;434;g3ca65b628b7_1_67"/>
          <p:cNvSpPr/>
          <p:nvPr/>
        </p:nvSpPr>
        <p:spPr>
          <a:xfrm>
            <a:off x="332100" y="1270812"/>
            <a:ext cx="8479800" cy="585300"/>
          </a:xfrm>
          <a:prstGeom prst="rect">
            <a:avLst/>
          </a:prstGeom>
          <a:solidFill>
            <a:srgbClr val="1F4E7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FB300"/>
                </a:solidFill>
                <a:latin typeface="Calibri"/>
                <a:ea typeface="Calibri"/>
                <a:cs typeface="Calibri"/>
                <a:sym typeface="Calibri"/>
              </a:rPr>
              <a:t>Bibliografica ( </a:t>
            </a:r>
            <a:r>
              <a:rPr b="0" i="0" lang="en-US" sz="1800" u="sng" cap="none" strike="noStrike">
                <a:solidFill>
                  <a:srgbClr val="FFFF00"/>
                </a:solidFill>
                <a:latin typeface="Calibri"/>
                <a:ea typeface="Calibri"/>
                <a:cs typeface="Calibri"/>
                <a:sym typeface="Calibri"/>
                <a:hlinkClick r:id="rId3">
                  <a:extLst>
                    <a:ext uri="{A12FA001-AC4F-418D-AE19-62706E023703}">
                      <ahyp:hlinkClr val="tx"/>
                    </a:ext>
                  </a:extLst>
                </a:hlinkClick>
              </a:rPr>
              <a:t>PYMES</a:t>
            </a:r>
            <a:r>
              <a:rPr b="1" i="0" lang="en-US" sz="1300" u="none" cap="none" strike="noStrike">
                <a:solidFill>
                  <a:srgbClr val="FFB300"/>
                </a:solidFill>
                <a:latin typeface="Calibri"/>
                <a:ea typeface="Calibri"/>
                <a:cs typeface="Calibri"/>
                <a:sym typeface="Calibri"/>
              </a:rPr>
              <a:t> Argentina</a:t>
            </a:r>
            <a:r>
              <a:rPr b="0" i="0" lang="en-US" sz="1800" u="none" cap="none" strike="noStrike">
                <a:solidFill>
                  <a:srgbClr val="FFFF00"/>
                </a:solidFill>
                <a:latin typeface="Calibri"/>
                <a:ea typeface="Calibri"/>
                <a:cs typeface="Calibri"/>
                <a:sym typeface="Calibri"/>
              </a:rPr>
              <a:t>) </a:t>
            </a:r>
            <a:endParaRPr b="0" i="0" sz="1800" u="none" cap="none" strike="noStrike">
              <a:solidFill>
                <a:srgbClr val="FFFF00"/>
              </a:solidFill>
              <a:latin typeface="Calibri"/>
              <a:ea typeface="Calibri"/>
              <a:cs typeface="Calibri"/>
              <a:sym typeface="Calibri"/>
            </a:endParaRPr>
          </a:p>
        </p:txBody>
      </p:sp>
      <p:sp>
        <p:nvSpPr>
          <p:cNvPr id="435" name="Google Shape;435;g3ca65b628b7_1_67"/>
          <p:cNvSpPr/>
          <p:nvPr/>
        </p:nvSpPr>
        <p:spPr>
          <a:xfrm>
            <a:off x="310180" y="1261800"/>
            <a:ext cx="54900" cy="567000"/>
          </a:xfrm>
          <a:prstGeom prst="rect">
            <a:avLst/>
          </a:prstGeom>
          <a:solidFill>
            <a:srgbClr val="FFB3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2026-02-17T20:03:46Z</dcterms:created>
  <dc:creator>PptxGenJS</dc:creator>
</cp:coreProperties>
</file>